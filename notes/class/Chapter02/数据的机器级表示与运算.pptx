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816" r:id="rId2"/>
  </p:sldMasterIdLst>
  <p:notesMasterIdLst>
    <p:notesMasterId r:id="rId83"/>
  </p:notesMasterIdLst>
  <p:sldIdLst>
    <p:sldId id="257" r:id="rId3"/>
    <p:sldId id="1252" r:id="rId4"/>
    <p:sldId id="258" r:id="rId5"/>
    <p:sldId id="259" r:id="rId6"/>
    <p:sldId id="1439" r:id="rId7"/>
    <p:sldId id="1299" r:id="rId8"/>
    <p:sldId id="1302" r:id="rId9"/>
    <p:sldId id="1303" r:id="rId10"/>
    <p:sldId id="1242" r:id="rId11"/>
    <p:sldId id="1304" r:id="rId12"/>
    <p:sldId id="261" r:id="rId13"/>
    <p:sldId id="1306" r:id="rId14"/>
    <p:sldId id="1225" r:id="rId15"/>
    <p:sldId id="1251" r:id="rId16"/>
    <p:sldId id="1226" r:id="rId17"/>
    <p:sldId id="1030" r:id="rId18"/>
    <p:sldId id="1305" r:id="rId19"/>
    <p:sldId id="1308" r:id="rId20"/>
    <p:sldId id="1227" r:id="rId21"/>
    <p:sldId id="1228" r:id="rId22"/>
    <p:sldId id="1229" r:id="rId23"/>
    <p:sldId id="1230" r:id="rId24"/>
    <p:sldId id="1309" r:id="rId25"/>
    <p:sldId id="1440" r:id="rId26"/>
    <p:sldId id="265" r:id="rId27"/>
    <p:sldId id="1235" r:id="rId28"/>
    <p:sldId id="1313" r:id="rId29"/>
    <p:sldId id="1149" r:id="rId30"/>
    <p:sldId id="1311" r:id="rId31"/>
    <p:sldId id="1314" r:id="rId32"/>
    <p:sldId id="1315" r:id="rId33"/>
    <p:sldId id="1358" r:id="rId34"/>
    <p:sldId id="1361" r:id="rId35"/>
    <p:sldId id="1316" r:id="rId36"/>
    <p:sldId id="1317" r:id="rId37"/>
    <p:sldId id="1319" r:id="rId38"/>
    <p:sldId id="1360" r:id="rId39"/>
    <p:sldId id="1320" r:id="rId40"/>
    <p:sldId id="1321" r:id="rId41"/>
    <p:sldId id="1322" r:id="rId42"/>
    <p:sldId id="1359" r:id="rId43"/>
    <p:sldId id="1323" r:id="rId44"/>
    <p:sldId id="1324" r:id="rId45"/>
    <p:sldId id="1236" r:id="rId46"/>
    <p:sldId id="1325" r:id="rId47"/>
    <p:sldId id="1326" r:id="rId48"/>
    <p:sldId id="1327" r:id="rId49"/>
    <p:sldId id="1328" r:id="rId50"/>
    <p:sldId id="1151" r:id="rId51"/>
    <p:sldId id="1329" r:id="rId52"/>
    <p:sldId id="1330" r:id="rId53"/>
    <p:sldId id="1331" r:id="rId54"/>
    <p:sldId id="1153" r:id="rId55"/>
    <p:sldId id="1332" r:id="rId56"/>
    <p:sldId id="1333" r:id="rId57"/>
    <p:sldId id="1334" r:id="rId58"/>
    <p:sldId id="1335" r:id="rId59"/>
    <p:sldId id="1336" r:id="rId60"/>
    <p:sldId id="1338" r:id="rId61"/>
    <p:sldId id="1337" r:id="rId62"/>
    <p:sldId id="1339" r:id="rId63"/>
    <p:sldId id="1341" r:id="rId64"/>
    <p:sldId id="1340" r:id="rId65"/>
    <p:sldId id="1343" r:id="rId66"/>
    <p:sldId id="1344" r:id="rId67"/>
    <p:sldId id="1345" r:id="rId68"/>
    <p:sldId id="1346" r:id="rId69"/>
    <p:sldId id="1347" r:id="rId70"/>
    <p:sldId id="1349" r:id="rId71"/>
    <p:sldId id="1348" r:id="rId72"/>
    <p:sldId id="1350" r:id="rId73"/>
    <p:sldId id="1351" r:id="rId74"/>
    <p:sldId id="1352" r:id="rId75"/>
    <p:sldId id="1353" r:id="rId76"/>
    <p:sldId id="1354" r:id="rId77"/>
    <p:sldId id="1355" r:id="rId78"/>
    <p:sldId id="1362" r:id="rId79"/>
    <p:sldId id="1356" r:id="rId80"/>
    <p:sldId id="1363" r:id="rId81"/>
    <p:sldId id="1438" r:id="rId8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2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AEF18-D73F-4F0E-92CB-1EE4B3FA449B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77C01-4B17-4F4C-886B-CD56899295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30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>
            <a:extLst>
              <a:ext uri="{FF2B5EF4-FFF2-40B4-BE49-F238E27FC236}">
                <a16:creationId xmlns:a16="http://schemas.microsoft.com/office/drawing/2014/main" id="{3DA171E3-AF18-4838-A82C-9C79B8CAE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0" y="692150"/>
            <a:ext cx="2603500" cy="3416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630" tIns="43315" rIns="86630" bIns="43315" anchor="ctr"/>
          <a:lstStyle>
            <a:lvl1pPr defTabSz="8667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667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67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67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67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6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6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6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6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667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57F0F85-4DC5-4F9A-9280-0746C1D5A56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6630" tIns="43315" rIns="86630" bIns="43315" anchor="ctr"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251776-BAF9-4477-95FF-418AB3F215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1096F5-3172-4064-BD71-98C10EB596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F56F7B-99B5-4745-AE3D-E9A373D65C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00875-EA85-4E16-B6E5-D1F2CBB7DB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17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E648E6-D4A3-482E-933A-284E3F208F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83601A-4A51-4CF7-AD19-77FA74AA6D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72CF65-25AC-4346-8906-50A53253F4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4861D-7ADE-445C-835B-6A1814E735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64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AA88C0-5B5E-427F-9F93-007CFAA143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7CDC11-CD76-43C6-A325-592283B070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A9B8C-CA06-40C4-9CA4-7B82D4D6BC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63A19C-0C1E-4F2D-8E29-9BF0AB011D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771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4E9EE-ED8D-4A7B-91F2-2BFAC34431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E3894-C40A-43D6-8AAF-39F09DCED7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6395C-917C-4CCD-A457-2BE7D1F157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056EE-21C9-4897-AFD2-F2CEDC5688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11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54250F-7AE4-4457-AB1C-ED9CB183C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7D403D7-9C2B-4F86-97C1-05A58C0D3A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00A60DD-0C73-41D7-8B5E-3AF1EF66E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E359C-9614-44AE-A803-C5E34EB891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514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69D8B4-417D-43C2-88C0-EBA848040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0B2A78-9EDF-4023-86EC-592D7AE309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D0381F-6D1A-4143-883F-155356E5C8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F9CD1-4544-4267-88AF-B1BF8699CF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81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A1E617-D9FA-4E95-B7DD-AAB244688E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2732ED4-A75E-496D-97E3-F8699B5BA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F5A0CCC-B2A5-427C-B323-5769900CC9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763E1-EC97-493A-8E5F-D59AD8D9A1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96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2E5D3-4888-49E9-8F65-16F23F7C75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CA1BD-9354-40C1-A603-30BFA5A68E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AC555-A50A-46E4-A6DA-8D9E3526D0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01B53-BBF0-4344-A194-CABD2A43A0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799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DB843-0A60-47EE-BE8C-85C9E3094E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88683D-DB7C-4EFE-8771-1F542D9D1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F3B0E-88C2-4668-B51B-452B9D2D3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58501C-25FC-4E90-A66A-163576A5C2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1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09B336-1DD9-47ED-985A-0C8A97030F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BA4659-3F4A-4330-8310-F9DDE3C0D1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9FA8A4-74C2-4285-B447-A379AE99F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80EDF-80FE-4578-B68D-8EF8617D75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8301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BABD91-2FF3-47AB-8A42-45E993455C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A03CF8-EF0C-435D-BF61-AB34F3AEC9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0E2B87-5125-4ACA-AD1E-A8D6A4D001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984BA-EF50-48AE-AC50-057FFE22EA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990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95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86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063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40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932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060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692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44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44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58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7BE8-AB84-4EC4-8206-97BB88F576D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41CB-2944-4CBE-AD22-F2B56066E1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48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5E8484-46C6-45EE-B672-687655ED0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3977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3A02FC-05C7-43E7-BE4F-AB6517791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30B5D56-06B4-417A-A332-FEE681A776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4E30907-C699-428D-8B79-3FEF51DBEA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86134D4-1301-4016-A66E-3575FB74F3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 smtClean="0"/>
            </a:lvl1pPr>
          </a:lstStyle>
          <a:p>
            <a:pPr>
              <a:defRPr/>
            </a:pPr>
            <a:fld id="{F510C6D4-7A7F-4970-885C-3E00A6B79E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1FD00C82-8ADD-40CB-99FD-22D638D2AB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75011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CC3300"/>
          </a:solidFill>
          <a:latin typeface="+mj-lt"/>
          <a:ea typeface="黑体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CC3300"/>
          </a:solidFill>
          <a:latin typeface="Arial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CC3300"/>
          </a:solidFill>
          <a:latin typeface="Arial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CC3300"/>
          </a:solidFill>
          <a:latin typeface="Arial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CC3300"/>
          </a:solidFill>
          <a:latin typeface="Arial" charset="0"/>
          <a:ea typeface="黑体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000" b="1">
          <a:solidFill>
            <a:srgbClr val="CC3300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000" b="1">
          <a:solidFill>
            <a:srgbClr val="CC3300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000" b="1">
          <a:solidFill>
            <a:srgbClr val="CC3300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000" b="1">
          <a:solidFill>
            <a:srgbClr val="CC3300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1800" b="1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500" b="1">
          <a:solidFill>
            <a:srgbClr val="0000CC"/>
          </a:solidFill>
          <a:latin typeface="+mn-lt"/>
          <a:ea typeface="+mn-ea"/>
        </a:defRPr>
      </a:lvl2pPr>
      <a:lvl3pPr marL="857250" indent="-1714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1800" b="1">
          <a:solidFill>
            <a:srgbClr val="006600"/>
          </a:solidFill>
          <a:latin typeface="+mn-lt"/>
          <a:ea typeface="+mn-ea"/>
        </a:defRPr>
      </a:lvl3pPr>
      <a:lvl4pPr marL="1200150" indent="-1714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200" b="1">
          <a:solidFill>
            <a:srgbClr val="CC3300"/>
          </a:solidFill>
          <a:latin typeface="+mn-lt"/>
          <a:ea typeface="+mn-ea"/>
        </a:defRPr>
      </a:lvl4pPr>
      <a:lvl5pPr marL="1543050" indent="-1714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125" b="1">
          <a:solidFill>
            <a:srgbClr val="996600"/>
          </a:solidFill>
          <a:latin typeface="+mn-lt"/>
          <a:ea typeface="+mn-ea"/>
        </a:defRPr>
      </a:lvl5pPr>
      <a:lvl6pPr marL="1885950" indent="-17145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125" b="1">
          <a:solidFill>
            <a:srgbClr val="996600"/>
          </a:solidFill>
          <a:latin typeface="+mn-lt"/>
          <a:ea typeface="+mn-ea"/>
        </a:defRPr>
      </a:lvl6pPr>
      <a:lvl7pPr marL="2228850" indent="-17145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125" b="1">
          <a:solidFill>
            <a:srgbClr val="996600"/>
          </a:solidFill>
          <a:latin typeface="+mn-lt"/>
          <a:ea typeface="+mn-ea"/>
        </a:defRPr>
      </a:lvl7pPr>
      <a:lvl8pPr marL="2571750" indent="-17145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125" b="1">
          <a:solidFill>
            <a:srgbClr val="996600"/>
          </a:solidFill>
          <a:latin typeface="+mn-lt"/>
          <a:ea typeface="+mn-ea"/>
        </a:defRPr>
      </a:lvl8pPr>
      <a:lvl9pPr marL="2914650" indent="-17145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125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9370951-A761-4F1A-A2E5-0550909EE52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72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mware.com/content/vmware/vmware-published-sites/cn/products/workstation-pro/workstation-pro-evaluation.html.html.html" TargetMode="External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weixin_43935923/article/details/109115585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5B61BE-AD27-4159-8BC5-E9A822B08186}"/>
              </a:ext>
            </a:extLst>
          </p:cNvPr>
          <p:cNvSpPr txBox="1"/>
          <p:nvPr/>
        </p:nvSpPr>
        <p:spPr>
          <a:xfrm>
            <a:off x="2560813" y="1974112"/>
            <a:ext cx="4201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 算 机 系 统 导 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88A2CC-1326-48CB-B923-2B791714CA7A}"/>
              </a:ext>
            </a:extLst>
          </p:cNvPr>
          <p:cNvSpPr txBox="1"/>
          <p:nvPr/>
        </p:nvSpPr>
        <p:spPr>
          <a:xfrm>
            <a:off x="3924545" y="3049790"/>
            <a:ext cx="31089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3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——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验证性实验</a:t>
            </a:r>
          </a:p>
        </p:txBody>
      </p:sp>
    </p:spTree>
    <p:extLst>
      <p:ext uri="{BB962C8B-B14F-4D97-AF65-F5344CB8AC3E}">
        <p14:creationId xmlns:p14="http://schemas.microsoft.com/office/powerpoint/2010/main" val="251501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FD9F38-2328-495B-80A1-65462E0C3784}"/>
              </a:ext>
            </a:extLst>
          </p:cNvPr>
          <p:cNvSpPr txBox="1"/>
          <p:nvPr/>
        </p:nvSpPr>
        <p:spPr>
          <a:xfrm>
            <a:off x="1292135" y="1539156"/>
            <a:ext cx="7174229" cy="3667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教学内容：为了方便做实验，适当调整章节内容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程序转换概述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 IA-32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指令系统概述     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泛读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的学习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.3 IA-32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常用指令类型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第二章                              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渗透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                              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精读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的学习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912552C-3C3C-4D01-8289-9E7BEA589D51}"/>
              </a:ext>
            </a:extLst>
          </p:cNvPr>
          <p:cNvCxnSpPr/>
          <p:nvPr/>
        </p:nvCxnSpPr>
        <p:spPr>
          <a:xfrm flipH="1">
            <a:off x="2464501" y="3733398"/>
            <a:ext cx="841663" cy="2640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8300F3F-1A06-4D15-BCDA-876A9F1AAB1E}"/>
              </a:ext>
            </a:extLst>
          </p:cNvPr>
          <p:cNvCxnSpPr>
            <a:cxnSpLocks/>
          </p:cNvCxnSpPr>
          <p:nvPr/>
        </p:nvCxnSpPr>
        <p:spPr>
          <a:xfrm flipH="1">
            <a:off x="2464500" y="3733398"/>
            <a:ext cx="841663" cy="7247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右大括号 3">
            <a:extLst>
              <a:ext uri="{FF2B5EF4-FFF2-40B4-BE49-F238E27FC236}">
                <a16:creationId xmlns:a16="http://schemas.microsoft.com/office/drawing/2014/main" id="{43106305-FDB4-4AC2-AEB5-35C2EE102ED4}"/>
              </a:ext>
            </a:extLst>
          </p:cNvPr>
          <p:cNvSpPr/>
          <p:nvPr/>
        </p:nvSpPr>
        <p:spPr>
          <a:xfrm>
            <a:off x="4212771" y="2620736"/>
            <a:ext cx="130629" cy="102870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53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EBF86A-1E5E-4ABC-81CA-F3A86910CAFE}"/>
              </a:ext>
            </a:extLst>
          </p:cNvPr>
          <p:cNvSpPr txBox="1"/>
          <p:nvPr/>
        </p:nvSpPr>
        <p:spPr>
          <a:xfrm>
            <a:off x="1026043" y="1549110"/>
            <a:ext cx="7326022" cy="336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实验目的：透彻理解书本内容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提高调试程序能力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实验理念： 知行合一、知识落地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书上的内容“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”起来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实验思路来源：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小学生识汉字的方式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多读多看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148829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在读课文中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汉字、再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汉字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148829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在做实验中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机器数、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机器代码，理解程序的执行机理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适合对象：普通学生</a:t>
            </a:r>
          </a:p>
        </p:txBody>
      </p:sp>
    </p:spTree>
    <p:extLst>
      <p:ext uri="{BB962C8B-B14F-4D97-AF65-F5344CB8AC3E}">
        <p14:creationId xmlns:p14="http://schemas.microsoft.com/office/powerpoint/2010/main" val="413244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1771612" y="1639437"/>
            <a:ext cx="6013849" cy="329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5763" indent="-385763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实验系统的安装和配置</a:t>
            </a:r>
          </a:p>
          <a:p>
            <a:pPr marL="385763" indent="-385763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  <a:p>
            <a:pPr marL="385763" indent="-385763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</a:p>
          <a:p>
            <a:pPr marL="385763" indent="-385763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数据的基本运算</a:t>
            </a:r>
          </a:p>
          <a:p>
            <a:pPr marL="385763" indent="-385763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程序的机器级表示</a:t>
            </a:r>
          </a:p>
        </p:txBody>
      </p:sp>
    </p:spTree>
    <p:extLst>
      <p:ext uri="{BB962C8B-B14F-4D97-AF65-F5344CB8AC3E}">
        <p14:creationId xmlns:p14="http://schemas.microsoft.com/office/powerpoint/2010/main" val="71688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1771612" y="1639437"/>
            <a:ext cx="6013849" cy="329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实验系统的安装和配置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GCC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OBJDUMP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GDB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工具的使用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数据的机器级表示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数据的基本运算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程序的机器级表示</a:t>
            </a:r>
          </a:p>
        </p:txBody>
      </p:sp>
    </p:spTree>
    <p:extLst>
      <p:ext uri="{BB962C8B-B14F-4D97-AF65-F5344CB8AC3E}">
        <p14:creationId xmlns:p14="http://schemas.microsoft.com/office/powerpoint/2010/main" val="250394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937119" y="1215093"/>
            <a:ext cx="7579864" cy="533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需要安装的软件（假设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IA-32/x86-64+Winodws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90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虚拟机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900"/>
              </a:spcAft>
              <a:defRPr/>
            </a:pPr>
            <a:r>
              <a:rPr lang="zh-CN" altLang="en-US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虚拟机提供一种计算环境，允许在一台计算机上同时运行多个不同的操作系统。例如，在 </a:t>
            </a:r>
            <a:r>
              <a:rPr lang="en-US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MacOS </a:t>
            </a:r>
            <a:r>
              <a:rPr lang="zh-CN" altLang="en-US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 </a:t>
            </a:r>
            <a:r>
              <a:rPr lang="zh-CN" altLang="en-US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系统上，通过虚拟机可运行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r>
              <a:rPr lang="zh-CN" altLang="en-US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900"/>
              </a:spcAft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VirtualBox</a:t>
            </a:r>
          </a:p>
          <a:p>
            <a:pPr marL="449263">
              <a:spcAft>
                <a:spcPts val="900"/>
              </a:spcAft>
              <a:defRPr/>
            </a:pPr>
            <a:r>
              <a:rPr lang="zh-CN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官方网站链接</a:t>
            </a:r>
            <a:r>
              <a:rPr lang="en-US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https://www.virtualbox.org/wiki/Downloads</a:t>
            </a:r>
            <a:endParaRPr lang="en-US" altLang="zh-CN" sz="2400" dirty="0">
              <a:solidFill>
                <a:srgbClr val="1515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900"/>
              </a:spcAft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</a:p>
          <a:p>
            <a:pPr indent="449263">
              <a:spcAft>
                <a:spcPts val="900"/>
              </a:spcAft>
              <a:defRPr/>
            </a:pPr>
            <a:r>
              <a:rPr lang="zh-CN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官方网站链接</a:t>
            </a:r>
            <a:r>
              <a:rPr lang="en-US" altLang="zh-CN" sz="2400" dirty="0">
                <a:solidFill>
                  <a:srgbClr val="15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indent="449263">
              <a:spcAft>
                <a:spcPts val="900"/>
              </a:spcAft>
              <a:defRPr/>
            </a:pPr>
            <a:r>
              <a:rPr lang="zh-CN" alt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下载 </a:t>
            </a:r>
            <a:r>
              <a:rPr lang="en-US" altLang="zh-CN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VMware Workstation Pro | CN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20000"/>
              </a:lnSpc>
              <a:defRPr/>
            </a:pPr>
            <a:endParaRPr lang="zh-CN" altLang="zh-CN" sz="1500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A554FB2-2A1A-42EC-9642-2108FC238112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AF797EF7-8AC4-464B-9FEA-C2CD26BBD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172" y="263404"/>
            <a:ext cx="386737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实验系统的安装和配置</a:t>
            </a:r>
          </a:p>
        </p:txBody>
      </p:sp>
    </p:spTree>
    <p:extLst>
      <p:ext uri="{BB962C8B-B14F-4D97-AF65-F5344CB8AC3E}">
        <p14:creationId xmlns:p14="http://schemas.microsoft.com/office/powerpoint/2010/main" val="414482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937119" y="1215093"/>
            <a:ext cx="7269761" cy="4205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需要安装的软件（假设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IA-32/x86-64+Winodws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90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Linux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900"/>
              </a:spcAft>
              <a:defRPr/>
            </a:pPr>
            <a:r>
              <a:rPr lang="en-US" altLang="zh-CN" sz="24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Debian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  </a:t>
            </a:r>
            <a:r>
              <a:rPr lang="en-US" altLang="zh-CN" sz="2000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32</a:t>
            </a:r>
            <a:r>
              <a:rPr lang="zh-CN" altLang="zh-CN" sz="2000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位</a:t>
            </a:r>
            <a:r>
              <a:rPr lang="zh-CN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系统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</a:t>
            </a:r>
            <a:r>
              <a:rPr lang="zh-CN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编译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为</a:t>
            </a:r>
            <a:r>
              <a:rPr lang="en-US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IA-32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机器指令时命令简洁些。适合于服务器的操作系统，稳定、系统基础核心小，占用硬盘空间小，占用内存小</a:t>
            </a:r>
            <a:endParaRPr lang="en-US" altLang="zh-CN" sz="2000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>
              <a:spcAft>
                <a:spcPts val="900"/>
              </a:spcAft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Ubuntu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  </a:t>
            </a:r>
            <a:r>
              <a:rPr lang="en-US" altLang="zh-CN" sz="2000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64</a:t>
            </a:r>
            <a:r>
              <a:rPr lang="zh-CN" altLang="zh-CN" sz="2000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位</a:t>
            </a:r>
            <a:r>
              <a:rPr lang="zh-CN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系统，为了编译成</a:t>
            </a:r>
            <a:r>
              <a:rPr lang="en-US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IA-32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机器指令</a:t>
            </a:r>
            <a:r>
              <a:rPr lang="zh-CN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需要安装支持</a:t>
            </a:r>
            <a:r>
              <a:rPr lang="en-US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IA32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的</a:t>
            </a:r>
            <a:r>
              <a:rPr lang="zh-CN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命令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，还要在</a:t>
            </a:r>
            <a:r>
              <a:rPr lang="en-US" altLang="zh-CN" sz="2000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gcc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命令中加</a:t>
            </a:r>
            <a:r>
              <a:rPr lang="en-US" altLang="zh-CN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-m32</a:t>
            </a:r>
            <a:r>
              <a:rPr lang="zh-CN" altLang="en-US" sz="2000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选项。</a:t>
            </a:r>
            <a:endParaRPr lang="zh-CN" altLang="zh-CN" sz="2000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lvl="0" algn="just">
              <a:lnSpc>
                <a:spcPct val="120000"/>
              </a:lnSpc>
              <a:defRPr/>
            </a:pPr>
            <a:endParaRPr lang="zh-CN" altLang="zh-CN" sz="1500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A554FB2-2A1A-42EC-9642-2108FC238112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AF797EF7-8AC4-464B-9FEA-C2CD26BBD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172" y="263404"/>
            <a:ext cx="386737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实验系统的安装和配置</a:t>
            </a:r>
          </a:p>
        </p:txBody>
      </p:sp>
    </p:spTree>
    <p:extLst>
      <p:ext uri="{BB962C8B-B14F-4D97-AF65-F5344CB8AC3E}">
        <p14:creationId xmlns:p14="http://schemas.microsoft.com/office/powerpoint/2010/main" val="4171169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120E6-B812-4FE3-9BEE-847AB57C487D}"/>
              </a:ext>
            </a:extLst>
          </p:cNvPr>
          <p:cNvSpPr/>
          <p:nvPr/>
        </p:nvSpPr>
        <p:spPr>
          <a:xfrm>
            <a:off x="1302355" y="1314205"/>
            <a:ext cx="59091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初次使用</a:t>
            </a:r>
            <a:r>
              <a:rPr lang="en-US" altLang="zh-CN" sz="24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VMware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Debian</a:t>
            </a:r>
            <a:r>
              <a:rPr lang="zh-CN" altLang="en-US" sz="24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时遇到的问题</a:t>
            </a:r>
            <a:endParaRPr lang="zh-CN" altLang="en-US" sz="135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E4F5FA-F9D5-458D-A8E7-0FE856B65509}"/>
              </a:ext>
            </a:extLst>
          </p:cNvPr>
          <p:cNvSpPr/>
          <p:nvPr/>
        </p:nvSpPr>
        <p:spPr>
          <a:xfrm>
            <a:off x="1302355" y="2012060"/>
            <a:ext cx="7232045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处理权限不够：使用根用户（系统管理员）权限、添加管理员用户 </a:t>
            </a:r>
            <a:r>
              <a:rPr lang="en-US" altLang="zh-CN" u="sng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https://blog.csdn.net/weixin_43935923/article/details/109115585</a:t>
            </a:r>
            <a:r>
              <a:rPr lang="en-US" altLang="zh-CN" u="sng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在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Debian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与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Windows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之间复制粘贴信息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Xshell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、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Vmwaretools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工具</a:t>
            </a:r>
            <a:endParaRPr lang="zh-CN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gcc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apt-get install build-essential  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（必须安装）</a:t>
            </a:r>
            <a:endParaRPr lang="zh-CN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gdb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apt-get install 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gdb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               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（必须安装）</a:t>
            </a:r>
            <a:endParaRPr lang="zh-CN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vim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apt-get install vim                    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（不是必须）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执行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apt-get install 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命令时要读光盘（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DVD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版）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修改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sources.list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文件，在光盘源前加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#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（注释）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编辑器：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Vim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、文本编辑器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endParaRPr lang="zh-CN" altLang="en-US" sz="135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13C5CD9-704C-448E-B99A-00D4EA96F18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04DB10F7-A9A6-4405-B0D6-4210697A5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172" y="263404"/>
            <a:ext cx="386737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实验系统的安装和配置</a:t>
            </a:r>
          </a:p>
        </p:txBody>
      </p:sp>
    </p:spTree>
    <p:extLst>
      <p:ext uri="{BB962C8B-B14F-4D97-AF65-F5344CB8AC3E}">
        <p14:creationId xmlns:p14="http://schemas.microsoft.com/office/powerpoint/2010/main" val="103498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120E6-B812-4FE3-9BEE-847AB57C487D}"/>
              </a:ext>
            </a:extLst>
          </p:cNvPr>
          <p:cNvSpPr/>
          <p:nvPr/>
        </p:nvSpPr>
        <p:spPr>
          <a:xfrm>
            <a:off x="1302355" y="1314205"/>
            <a:ext cx="45223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初次使用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Ubuntu</a:t>
            </a:r>
            <a:r>
              <a:rPr lang="zh-CN" altLang="en-US" sz="24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时遇到的问题</a:t>
            </a:r>
            <a:endParaRPr lang="zh-CN" altLang="en-US" sz="135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E4F5FA-F9D5-458D-A8E7-0FE856B65509}"/>
              </a:ext>
            </a:extLst>
          </p:cNvPr>
          <p:cNvSpPr/>
          <p:nvPr/>
        </p:nvSpPr>
        <p:spPr>
          <a:xfrm>
            <a:off x="1302355" y="2012060"/>
            <a:ext cx="7729885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gcc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su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                                  #</a:t>
            </a:r>
            <a:r>
              <a:rPr lang="zh-CN" altLang="zh-CN" dirty="0"/>
              <a:t>切换到</a:t>
            </a:r>
            <a:r>
              <a:rPr lang="en-US" altLang="zh-CN" dirty="0"/>
              <a:t>root</a:t>
            </a:r>
            <a:r>
              <a:rPr lang="zh-CN" altLang="zh-CN" dirty="0"/>
              <a:t>系统管理员用户，此时需输入密码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apt-get install 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gcc-multilib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     #</a:t>
            </a:r>
            <a:r>
              <a:rPr lang="zh-CN" altLang="zh-CN" dirty="0"/>
              <a:t>以安装</a:t>
            </a:r>
            <a:r>
              <a:rPr lang="en-US" altLang="zh-CN" dirty="0"/>
              <a:t>GCC</a:t>
            </a:r>
            <a:r>
              <a:rPr lang="zh-CN" altLang="zh-CN" dirty="0"/>
              <a:t>工具软件包</a:t>
            </a:r>
            <a:r>
              <a:rPr lang="en-US" altLang="zh-CN" dirty="0"/>
              <a:t>,</a:t>
            </a:r>
            <a:r>
              <a:rPr lang="zh-CN" altLang="en-US" dirty="0"/>
              <a:t>必须安装</a:t>
            </a:r>
            <a:endParaRPr lang="en-US" altLang="zh-CN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在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Ubuntu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与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Windows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之间复制粘贴信息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Vmwaretools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</a:t>
            </a:r>
            <a:endParaRPr lang="zh-CN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安装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vim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apt-get install vim   #</a:t>
            </a:r>
            <a:r>
              <a:rPr lang="zh-CN" altLang="en-US" dirty="0"/>
              <a:t>不是必须</a:t>
            </a:r>
            <a:endParaRPr lang="en-US" altLang="zh-CN" dirty="0"/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编辑器：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Vim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、文本编辑器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遇到 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Terminal</a:t>
            </a:r>
            <a:r>
              <a:rPr lang="zh-CN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（终端）打不开的问题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：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   英语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-&gt;</a:t>
            </a:r>
            <a:r>
              <a:rPr lang="zh-CN" altLang="en-US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汉语</a:t>
            </a:r>
            <a:endParaRPr lang="en-US" altLang="zh-CN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Setting-&gt;</a:t>
            </a:r>
            <a:r>
              <a:rPr lang="en-US" altLang="zh-CN" dirty="0"/>
              <a:t> </a:t>
            </a: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Region &amp; Language-&gt; Language-&gt;  Select Language</a:t>
            </a: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-&gt;Chinese -&gt; Restart-&gt;Log Out</a:t>
            </a:r>
          </a:p>
          <a:p>
            <a:endParaRPr lang="zh-CN" altLang="en-US" sz="135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13C5CD9-704C-448E-B99A-00D4EA96F18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04DB10F7-A9A6-4405-B0D6-4210697A5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172" y="263404"/>
            <a:ext cx="386737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实验系统的安装和配置</a:t>
            </a:r>
          </a:p>
        </p:txBody>
      </p:sp>
    </p:spTree>
    <p:extLst>
      <p:ext uri="{BB962C8B-B14F-4D97-AF65-F5344CB8AC3E}">
        <p14:creationId xmlns:p14="http://schemas.microsoft.com/office/powerpoint/2010/main" val="4114431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1771612" y="1639437"/>
            <a:ext cx="6013849" cy="329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实验系统的安装和配置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GCC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OBJDUMP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GDB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工具的使用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整数和浮点数的机器级表示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数据的加、减、乘、除基本运算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程序的机器级表示</a:t>
            </a:r>
          </a:p>
        </p:txBody>
      </p:sp>
    </p:spTree>
    <p:extLst>
      <p:ext uri="{BB962C8B-B14F-4D97-AF65-F5344CB8AC3E}">
        <p14:creationId xmlns:p14="http://schemas.microsoft.com/office/powerpoint/2010/main" val="330754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52D79AE-37A2-49AE-9EDC-1E0C59FFFA75}"/>
              </a:ext>
            </a:extLst>
          </p:cNvPr>
          <p:cNvSpPr/>
          <p:nvPr/>
        </p:nvSpPr>
        <p:spPr>
          <a:xfrm>
            <a:off x="1313756" y="1091637"/>
            <a:ext cx="3429000" cy="10902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#include "</a:t>
            </a:r>
            <a:r>
              <a:rPr lang="en-US" altLang="zh-CN" sz="15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stdio.h</a:t>
            </a: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</a:t>
            </a:r>
            <a:endParaRPr lang="zh-CN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void main( )   {</a:t>
            </a:r>
            <a:endParaRPr lang="zh-CN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en-US" altLang="zh-CN" sz="15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printf</a:t>
            </a: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("hello, world\n");</a:t>
            </a:r>
            <a:endParaRPr lang="zh-CN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AF02964-C973-4016-9BD6-094313C7B31E}"/>
              </a:ext>
            </a:extLst>
          </p:cNvPr>
          <p:cNvGrpSpPr>
            <a:grpSpLocks/>
          </p:cNvGrpSpPr>
          <p:nvPr/>
        </p:nvGrpSpPr>
        <p:grpSpPr bwMode="auto">
          <a:xfrm>
            <a:off x="1398159" y="1837730"/>
            <a:ext cx="5877874" cy="2012324"/>
            <a:chOff x="2544" y="6466"/>
            <a:chExt cx="12251" cy="3120"/>
          </a:xfrm>
        </p:grpSpPr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DCA75E5D-3899-4D50-9F32-13E2ECDFC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1" y="7456"/>
              <a:ext cx="1054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预处理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(cpp)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638F996E-FE40-4642-9289-2E06BEBF3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9" y="7456"/>
              <a:ext cx="1056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编译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(cc1)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51569D0A-CA71-4E09-9622-25B20C171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0" y="7456"/>
              <a:ext cx="1054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汇编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(as)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46F951B-14DF-4545-AAB0-41E96C6D0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3" y="7456"/>
              <a:ext cx="1054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链接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(ld)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CD3AA17-F9DF-414F-BFA3-B3BC8165D9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15" y="6466"/>
              <a:ext cx="2181" cy="996"/>
              <a:chOff x="3234" y="2749"/>
              <a:chExt cx="1003" cy="458"/>
            </a:xfrm>
          </p:grpSpPr>
          <p:cxnSp>
            <p:nvCxnSpPr>
              <p:cNvPr id="38" name="Line 13">
                <a:extLst>
                  <a:ext uri="{FF2B5EF4-FFF2-40B4-BE49-F238E27FC236}">
                    <a16:creationId xmlns:a16="http://schemas.microsoft.com/office/drawing/2014/main" id="{38C9E768-E222-4CCD-A7C4-17BEB19BE8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75" y="2980"/>
                <a:ext cx="262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39" name="Text Box 14">
                <a:extLst>
                  <a:ext uri="{FF2B5EF4-FFF2-40B4-BE49-F238E27FC236}">
                    <a16:creationId xmlns:a16="http://schemas.microsoft.com/office/drawing/2014/main" id="{992882DB-3F4B-41A8-8DE7-261A716ED5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4" y="2749"/>
                <a:ext cx="80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just"/>
                <a:r>
                  <a:rPr lang="en-US" sz="1500" b="1" kern="100" dirty="0" err="1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printf.o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3" name="Group 16">
              <a:extLst>
                <a:ext uri="{FF2B5EF4-FFF2-40B4-BE49-F238E27FC236}">
                  <a16:creationId xmlns:a16="http://schemas.microsoft.com/office/drawing/2014/main" id="{13182E02-51F8-4118-914E-832CB39C2D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7442"/>
              <a:ext cx="2201" cy="1570"/>
              <a:chOff x="24" y="3194"/>
              <a:chExt cx="1012" cy="809"/>
            </a:xfrm>
          </p:grpSpPr>
          <p:grpSp>
            <p:nvGrpSpPr>
              <p:cNvPr id="34" name="Group 17">
                <a:extLst>
                  <a:ext uri="{FF2B5EF4-FFF2-40B4-BE49-F238E27FC236}">
                    <a16:creationId xmlns:a16="http://schemas.microsoft.com/office/drawing/2014/main" id="{69D34E89-69C5-49E2-8B80-FD34C8347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" y="3194"/>
                <a:ext cx="780" cy="274"/>
                <a:chOff x="61" y="3365"/>
                <a:chExt cx="780" cy="274"/>
              </a:xfrm>
            </p:grpSpPr>
            <p:cxnSp>
              <p:nvCxnSpPr>
                <p:cNvPr id="36" name="Line 18">
                  <a:extLst>
                    <a:ext uri="{FF2B5EF4-FFF2-40B4-BE49-F238E27FC236}">
                      <a16:creationId xmlns:a16="http://schemas.microsoft.com/office/drawing/2014/main" id="{B7B2EA30-C443-42DB-98B1-9CC37B6A80C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4" y="3639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7" name="Text Box 19">
                  <a:extLst>
                    <a:ext uri="{FF2B5EF4-FFF2-40B4-BE49-F238E27FC236}">
                      <a16:creationId xmlns:a16="http://schemas.microsoft.com/office/drawing/2014/main" id="{3D29E91A-BDEE-4326-B985-AAE5CFDF87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" y="3365"/>
                  <a:ext cx="780" cy="2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hello.c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35" name="Text Box 20">
                <a:extLst>
                  <a:ext uri="{FF2B5EF4-FFF2-40B4-BE49-F238E27FC236}">
                    <a16:creationId xmlns:a16="http://schemas.microsoft.com/office/drawing/2014/main" id="{43886D3E-2BDB-4E95-8A64-50C3490233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" y="3599"/>
                <a:ext cx="1012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源程序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文本</a:t>
                </a:r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4" name="Group 21">
              <a:extLst>
                <a:ext uri="{FF2B5EF4-FFF2-40B4-BE49-F238E27FC236}">
                  <a16:creationId xmlns:a16="http://schemas.microsoft.com/office/drawing/2014/main" id="{E03F041D-0E0E-49D5-8609-D40E16029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" y="7488"/>
              <a:ext cx="1988" cy="1578"/>
              <a:chOff x="1252" y="3215"/>
              <a:chExt cx="915" cy="780"/>
            </a:xfrm>
          </p:grpSpPr>
          <p:grpSp>
            <p:nvGrpSpPr>
              <p:cNvPr id="30" name="Group 22">
                <a:extLst>
                  <a:ext uri="{FF2B5EF4-FFF2-40B4-BE49-F238E27FC236}">
                    <a16:creationId xmlns:a16="http://schemas.microsoft.com/office/drawing/2014/main" id="{F65EA973-EEE9-4004-B433-7E781B0AE8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17" y="3215"/>
                <a:ext cx="695" cy="240"/>
                <a:chOff x="144" y="3401"/>
                <a:chExt cx="695" cy="240"/>
              </a:xfrm>
            </p:grpSpPr>
            <p:cxnSp>
              <p:nvCxnSpPr>
                <p:cNvPr id="32" name="Line 23">
                  <a:extLst>
                    <a:ext uri="{FF2B5EF4-FFF2-40B4-BE49-F238E27FC236}">
                      <a16:creationId xmlns:a16="http://schemas.microsoft.com/office/drawing/2014/main" id="{B171A73E-2A05-4AC1-A7B8-78FFE75B59E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5" y="3641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3" name="Text Box 24">
                  <a:extLst>
                    <a:ext uri="{FF2B5EF4-FFF2-40B4-BE49-F238E27FC236}">
                      <a16:creationId xmlns:a16="http://schemas.microsoft.com/office/drawing/2014/main" id="{14EF2BA0-DC07-432B-9BB3-E7E56196CC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" y="3401"/>
                  <a:ext cx="695" cy="2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hello.i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31" name="Text Box 25">
                <a:extLst>
                  <a:ext uri="{FF2B5EF4-FFF2-40B4-BE49-F238E27FC236}">
                    <a16:creationId xmlns:a16="http://schemas.microsoft.com/office/drawing/2014/main" id="{287B0915-F03C-46D3-AF00-68834D3E2D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2" y="3591"/>
                <a:ext cx="915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源程序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文本</a:t>
                </a:r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5" name="Group 26">
              <a:extLst>
                <a:ext uri="{FF2B5EF4-FFF2-40B4-BE49-F238E27FC236}">
                  <a16:creationId xmlns:a16="http://schemas.microsoft.com/office/drawing/2014/main" id="{8A756D77-0F5A-4E91-9F6A-EC97B31B5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0" y="7441"/>
              <a:ext cx="1906" cy="1987"/>
              <a:chOff x="2361" y="3171"/>
              <a:chExt cx="877" cy="990"/>
            </a:xfrm>
          </p:grpSpPr>
          <p:grpSp>
            <p:nvGrpSpPr>
              <p:cNvPr id="26" name="Group 27">
                <a:extLst>
                  <a:ext uri="{FF2B5EF4-FFF2-40B4-BE49-F238E27FC236}">
                    <a16:creationId xmlns:a16="http://schemas.microsoft.com/office/drawing/2014/main" id="{1EADA7D2-71A7-49A5-B544-B34F0F4211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9" y="3171"/>
                <a:ext cx="761" cy="266"/>
                <a:chOff x="139" y="3348"/>
                <a:chExt cx="761" cy="266"/>
              </a:xfrm>
            </p:grpSpPr>
            <p:cxnSp>
              <p:nvCxnSpPr>
                <p:cNvPr id="28" name="Line 28">
                  <a:extLst>
                    <a:ext uri="{FF2B5EF4-FFF2-40B4-BE49-F238E27FC236}">
                      <a16:creationId xmlns:a16="http://schemas.microsoft.com/office/drawing/2014/main" id="{5C4D69F3-DD9D-4F17-BAF4-F4542E35CAC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139" y="3613"/>
                  <a:ext cx="675" cy="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9" name="Text Box 29">
                  <a:extLst>
                    <a:ext uri="{FF2B5EF4-FFF2-40B4-BE49-F238E27FC236}">
                      <a16:creationId xmlns:a16="http://schemas.microsoft.com/office/drawing/2014/main" id="{54DA4B85-ADE0-44EF-A57E-5E6A35C8A7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" y="3348"/>
                  <a:ext cx="750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hello.s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7" name="Text Box 30">
                <a:extLst>
                  <a:ext uri="{FF2B5EF4-FFF2-40B4-BE49-F238E27FC236}">
                    <a16:creationId xmlns:a16="http://schemas.microsoft.com/office/drawing/2014/main" id="{0FA4B905-2815-4F6E-83FB-B56CEBED9B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3584"/>
                <a:ext cx="877" cy="5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汇编语言程序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文本</a:t>
                </a:r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6" name="Group 31">
              <a:extLst>
                <a:ext uri="{FF2B5EF4-FFF2-40B4-BE49-F238E27FC236}">
                  <a16:creationId xmlns:a16="http://schemas.microsoft.com/office/drawing/2014/main" id="{80E531B8-EC41-454F-9EB2-C29647EBA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11" y="7454"/>
              <a:ext cx="1834" cy="2132"/>
              <a:chOff x="3549" y="3198"/>
              <a:chExt cx="844" cy="1208"/>
            </a:xfrm>
          </p:grpSpPr>
          <p:grpSp>
            <p:nvGrpSpPr>
              <p:cNvPr id="22" name="Group 32">
                <a:extLst>
                  <a:ext uri="{FF2B5EF4-FFF2-40B4-BE49-F238E27FC236}">
                    <a16:creationId xmlns:a16="http://schemas.microsoft.com/office/drawing/2014/main" id="{88FF23FC-B960-499A-931B-8CB2F2A5C6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4" y="3198"/>
                <a:ext cx="779" cy="294"/>
                <a:chOff x="228" y="3401"/>
                <a:chExt cx="745" cy="294"/>
              </a:xfrm>
            </p:grpSpPr>
            <p:cxnSp>
              <p:nvCxnSpPr>
                <p:cNvPr id="24" name="Line 33">
                  <a:extLst>
                    <a:ext uri="{FF2B5EF4-FFF2-40B4-BE49-F238E27FC236}">
                      <a16:creationId xmlns:a16="http://schemas.microsoft.com/office/drawing/2014/main" id="{4C2D7001-2463-467B-BEF6-AE37DF610A1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53" y="3695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5" name="Text Box 34">
                  <a:extLst>
                    <a:ext uri="{FF2B5EF4-FFF2-40B4-BE49-F238E27FC236}">
                      <a16:creationId xmlns:a16="http://schemas.microsoft.com/office/drawing/2014/main" id="{594B7A18-9FA0-41E4-970C-8C88C11387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" y="3401"/>
                  <a:ext cx="745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hello.o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3" name="Text Box 35">
                <a:extLst>
                  <a:ext uri="{FF2B5EF4-FFF2-40B4-BE49-F238E27FC236}">
                    <a16:creationId xmlns:a16="http://schemas.microsoft.com/office/drawing/2014/main" id="{F7D209C2-4937-44F1-B647-B105732ADA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9" y="3656"/>
                <a:ext cx="843" cy="7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可重定位目标文件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二进制</a:t>
                </a:r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7" name="Group 36">
              <a:extLst>
                <a:ext uri="{FF2B5EF4-FFF2-40B4-BE49-F238E27FC236}">
                  <a16:creationId xmlns:a16="http://schemas.microsoft.com/office/drawing/2014/main" id="{479D8D0F-3AE3-4EDD-AF72-D8CC1ABE9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74" y="7432"/>
              <a:ext cx="2121" cy="1841"/>
              <a:chOff x="4683" y="3188"/>
              <a:chExt cx="976" cy="964"/>
            </a:xfrm>
          </p:grpSpPr>
          <p:grpSp>
            <p:nvGrpSpPr>
              <p:cNvPr id="18" name="Group 37">
                <a:extLst>
                  <a:ext uri="{FF2B5EF4-FFF2-40B4-BE49-F238E27FC236}">
                    <a16:creationId xmlns:a16="http://schemas.microsoft.com/office/drawing/2014/main" id="{2E493432-F868-42D5-8300-BC4F7B234E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5" y="3188"/>
                <a:ext cx="610" cy="284"/>
                <a:chOff x="266" y="3401"/>
                <a:chExt cx="610" cy="284"/>
              </a:xfrm>
            </p:grpSpPr>
            <p:cxnSp>
              <p:nvCxnSpPr>
                <p:cNvPr id="20" name="Line 38">
                  <a:extLst>
                    <a:ext uri="{FF2B5EF4-FFF2-40B4-BE49-F238E27FC236}">
                      <a16:creationId xmlns:a16="http://schemas.microsoft.com/office/drawing/2014/main" id="{AF25BD8F-F662-4FC9-81B3-2DEAF2C1726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81" y="3685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1" name="Text Box 39">
                  <a:extLst>
                    <a:ext uri="{FF2B5EF4-FFF2-40B4-BE49-F238E27FC236}">
                      <a16:creationId xmlns:a16="http://schemas.microsoft.com/office/drawing/2014/main" id="{BBCC6EC5-D0B8-46DD-AE20-F200B545EE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6" y="3401"/>
                  <a:ext cx="57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</a:t>
                  </a:r>
                  <a:endParaRPr lang="zh-CN" altLang="en-US" sz="1500" kern="10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9" name="Text Box 40">
                <a:extLst>
                  <a:ext uri="{FF2B5EF4-FFF2-40B4-BE49-F238E27FC236}">
                    <a16:creationId xmlns:a16="http://schemas.microsoft.com/office/drawing/2014/main" id="{F472F179-AC43-4271-90E5-F1476F4C9B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3" y="3575"/>
                <a:ext cx="976" cy="5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可执行目标文件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二进制</a:t>
                </a:r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6D4BF6E7-212A-47DF-BBA3-0958B02D221B}"/>
              </a:ext>
            </a:extLst>
          </p:cNvPr>
          <p:cNvSpPr/>
          <p:nvPr/>
        </p:nvSpPr>
        <p:spPr>
          <a:xfrm>
            <a:off x="1493117" y="3875792"/>
            <a:ext cx="6156322" cy="2838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 </a:t>
            </a:r>
            <a:r>
              <a:rPr lang="zh-CN" altLang="en-US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zh-CN" altLang="en-US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编译器套件</a:t>
            </a:r>
            <a:endParaRPr lang="en-US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71438" algn="just">
              <a:lnSpc>
                <a:spcPct val="120000"/>
              </a:lnSpc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en-US" altLang="zh-CN" sz="15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hello.c</a:t>
            </a:r>
            <a:endParaRPr lang="zh-CN" altLang="zh-CN" sz="1500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92075">
              <a:lnSpc>
                <a:spcPct val="120000"/>
              </a:lnSpc>
            </a:pPr>
            <a:endParaRPr lang="en-US" altLang="zh-CN" sz="15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OBJDUMP</a:t>
            </a:r>
            <a:r>
              <a:rPr lang="zh-CN" altLang="en-US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 反汇编工具</a:t>
            </a:r>
            <a:endParaRPr lang="en-US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92075">
              <a:lnSpc>
                <a:spcPct val="120000"/>
              </a:lnSpc>
            </a:pPr>
            <a:r>
              <a:rPr lang="en-US" altLang="zh-CN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hello</a:t>
            </a:r>
            <a:r>
              <a:rPr lang="zh-CN" altLang="en-US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500" b="1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hello.o</a:t>
            </a:r>
            <a:r>
              <a:rPr lang="en-US" altLang="zh-CN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</a:p>
          <a:p>
            <a:pPr indent="92075">
              <a:lnSpc>
                <a:spcPct val="120000"/>
              </a:lnSpc>
            </a:pPr>
            <a:r>
              <a:rPr lang="zh-CN" altLang="en-US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二进制文件</a:t>
            </a:r>
            <a:r>
              <a:rPr lang="en-US" altLang="zh-CN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             </a:t>
            </a:r>
            <a:r>
              <a:rPr lang="zh-CN" altLang="en-US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文本文件</a:t>
            </a:r>
            <a:r>
              <a:rPr lang="en-US" altLang="zh-CN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       </a:t>
            </a:r>
          </a:p>
          <a:p>
            <a:pPr indent="92075">
              <a:lnSpc>
                <a:spcPct val="120000"/>
              </a:lnSpc>
            </a:pPr>
            <a:r>
              <a:rPr lang="en-US" altLang="zh-CN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              </a:t>
            </a:r>
            <a:r>
              <a:rPr lang="zh-CN" altLang="en-US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反汇编</a:t>
            </a:r>
            <a:endParaRPr lang="en-US" altLang="zh-CN" sz="15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92075">
              <a:lnSpc>
                <a:spcPct val="120000"/>
              </a:lnSpc>
            </a:pPr>
            <a:r>
              <a:rPr lang="en-US" altLang="zh-CN" sz="1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GDB</a:t>
            </a:r>
            <a:r>
              <a:rPr lang="zh-CN" altLang="en-US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：调试程序运行的工具</a:t>
            </a:r>
            <a:endParaRPr lang="en-US" altLang="zh-CN" sz="1500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en-US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单步调试执行</a:t>
            </a:r>
            <a:r>
              <a:rPr lang="en-US" altLang="zh-CN" sz="15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 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CDECA75-9220-46B3-B74F-EECCF4D68019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2">
            <a:extLst>
              <a:ext uri="{FF2B5EF4-FFF2-40B4-BE49-F238E27FC236}">
                <a16:creationId xmlns:a16="http://schemas.microsoft.com/office/drawing/2014/main" id="{04DC7A75-D865-4843-A6F4-12A07BCE4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2683496-D875-4530-99CA-759237023315}"/>
              </a:ext>
            </a:extLst>
          </p:cNvPr>
          <p:cNvCxnSpPr/>
          <p:nvPr/>
        </p:nvCxnSpPr>
        <p:spPr>
          <a:xfrm>
            <a:off x="2590800" y="4333297"/>
            <a:ext cx="10431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43E65B5-5592-48C3-A6AA-C50F8A2015BA}"/>
              </a:ext>
            </a:extLst>
          </p:cNvPr>
          <p:cNvCxnSpPr/>
          <p:nvPr/>
        </p:nvCxnSpPr>
        <p:spPr>
          <a:xfrm>
            <a:off x="3157059" y="5430577"/>
            <a:ext cx="10431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99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52D79AE-37A2-49AE-9EDC-1E0C59FFFA75}"/>
              </a:ext>
            </a:extLst>
          </p:cNvPr>
          <p:cNvSpPr/>
          <p:nvPr/>
        </p:nvSpPr>
        <p:spPr>
          <a:xfrm>
            <a:off x="1248025" y="990511"/>
            <a:ext cx="3429000" cy="12899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#include "</a:t>
            </a:r>
            <a:r>
              <a:rPr lang="en-US" altLang="zh-CN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stdio.h</a:t>
            </a:r>
            <a:r>
              <a:rPr lang="en-US" altLang="zh-CN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</a:t>
            </a:r>
            <a:endParaRPr lang="zh-CN" altLang="zh-CN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void main( )   {</a:t>
            </a:r>
            <a:endParaRPr lang="zh-CN" altLang="zh-CN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en-US" altLang="zh-CN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printf</a:t>
            </a:r>
            <a:r>
              <a:rPr lang="en-US" altLang="zh-CN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("hello, world\n");</a:t>
            </a:r>
            <a:endParaRPr lang="zh-CN" altLang="zh-CN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b="1" kern="1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AF02964-C973-4016-9BD6-094313C7B31E}"/>
              </a:ext>
            </a:extLst>
          </p:cNvPr>
          <p:cNvGrpSpPr>
            <a:grpSpLocks/>
          </p:cNvGrpSpPr>
          <p:nvPr/>
        </p:nvGrpSpPr>
        <p:grpSpPr bwMode="auto">
          <a:xfrm>
            <a:off x="1398159" y="1855274"/>
            <a:ext cx="5877874" cy="2012324"/>
            <a:chOff x="2544" y="6466"/>
            <a:chExt cx="12251" cy="3120"/>
          </a:xfrm>
        </p:grpSpPr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DCA75E5D-3899-4D50-9F32-13E2ECDFC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1" y="7456"/>
              <a:ext cx="1054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预处理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(cpp)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638F996E-FE40-4642-9289-2E06BEBF3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9" y="7456"/>
              <a:ext cx="1056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编译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(cc1)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51569D0A-CA71-4E09-9622-25B20C171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0" y="7456"/>
              <a:ext cx="1054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汇编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(as)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46F951B-14DF-4545-AAB0-41E96C6D0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3" y="7456"/>
              <a:ext cx="1054" cy="823"/>
            </a:xfrm>
            <a:prstGeom prst="rect">
              <a:avLst/>
            </a:prstGeom>
            <a:solidFill>
              <a:srgbClr val="0000FF">
                <a:alpha val="29019"/>
              </a:srgb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21946" rIns="0" bIns="21946" anchor="t" anchorCtr="0" upright="1">
              <a:noAutofit/>
            </a:bodyPr>
            <a:lstStyle/>
            <a:p>
              <a:pPr algn="ctr"/>
              <a:r>
                <a:rPr lang="zh-CN" alt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链接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ctr"/>
              <a:r>
                <a:rPr lang="en-US" sz="1500" b="1" kern="1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(ld)</a:t>
              </a:r>
              <a:endParaRPr lang="zh-CN" altLang="en-US" sz="1500" kern="10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CD3AA17-F9DF-414F-BFA3-B3BC8165D9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15" y="6466"/>
              <a:ext cx="2181" cy="996"/>
              <a:chOff x="3234" y="2749"/>
              <a:chExt cx="1003" cy="458"/>
            </a:xfrm>
          </p:grpSpPr>
          <p:cxnSp>
            <p:nvCxnSpPr>
              <p:cNvPr id="38" name="Line 13">
                <a:extLst>
                  <a:ext uri="{FF2B5EF4-FFF2-40B4-BE49-F238E27FC236}">
                    <a16:creationId xmlns:a16="http://schemas.microsoft.com/office/drawing/2014/main" id="{38C9E768-E222-4CCD-A7C4-17BEB19BE8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75" y="2980"/>
                <a:ext cx="262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39" name="Text Box 14">
                <a:extLst>
                  <a:ext uri="{FF2B5EF4-FFF2-40B4-BE49-F238E27FC236}">
                    <a16:creationId xmlns:a16="http://schemas.microsoft.com/office/drawing/2014/main" id="{992882DB-3F4B-41A8-8DE7-261A716ED5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4" y="2749"/>
                <a:ext cx="80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just"/>
                <a:r>
                  <a:rPr lang="en-US" sz="1500" b="1" kern="100" dirty="0" err="1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printf.o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3" name="Group 16">
              <a:extLst>
                <a:ext uri="{FF2B5EF4-FFF2-40B4-BE49-F238E27FC236}">
                  <a16:creationId xmlns:a16="http://schemas.microsoft.com/office/drawing/2014/main" id="{13182E02-51F8-4118-914E-832CB39C2D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7442"/>
              <a:ext cx="2201" cy="1570"/>
              <a:chOff x="24" y="3194"/>
              <a:chExt cx="1012" cy="809"/>
            </a:xfrm>
          </p:grpSpPr>
          <p:grpSp>
            <p:nvGrpSpPr>
              <p:cNvPr id="34" name="Group 17">
                <a:extLst>
                  <a:ext uri="{FF2B5EF4-FFF2-40B4-BE49-F238E27FC236}">
                    <a16:creationId xmlns:a16="http://schemas.microsoft.com/office/drawing/2014/main" id="{69D34E89-69C5-49E2-8B80-FD34C8347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" y="3194"/>
                <a:ext cx="780" cy="274"/>
                <a:chOff x="61" y="3365"/>
                <a:chExt cx="780" cy="274"/>
              </a:xfrm>
            </p:grpSpPr>
            <p:cxnSp>
              <p:nvCxnSpPr>
                <p:cNvPr id="36" name="Line 18">
                  <a:extLst>
                    <a:ext uri="{FF2B5EF4-FFF2-40B4-BE49-F238E27FC236}">
                      <a16:creationId xmlns:a16="http://schemas.microsoft.com/office/drawing/2014/main" id="{B7B2EA30-C443-42DB-98B1-9CC37B6A80C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4" y="3639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7" name="Text Box 19">
                  <a:extLst>
                    <a:ext uri="{FF2B5EF4-FFF2-40B4-BE49-F238E27FC236}">
                      <a16:creationId xmlns:a16="http://schemas.microsoft.com/office/drawing/2014/main" id="{3D29E91A-BDEE-4326-B985-AAE5CFDF87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" y="3365"/>
                  <a:ext cx="780" cy="2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hello.c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35" name="Text Box 20">
                <a:extLst>
                  <a:ext uri="{FF2B5EF4-FFF2-40B4-BE49-F238E27FC236}">
                    <a16:creationId xmlns:a16="http://schemas.microsoft.com/office/drawing/2014/main" id="{43886D3E-2BDB-4E95-8A64-50C3490233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" y="3599"/>
                <a:ext cx="1012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源程序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文本</a:t>
                </a:r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4" name="Group 21">
              <a:extLst>
                <a:ext uri="{FF2B5EF4-FFF2-40B4-BE49-F238E27FC236}">
                  <a16:creationId xmlns:a16="http://schemas.microsoft.com/office/drawing/2014/main" id="{E03F041D-0E0E-49D5-8609-D40E16029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" y="7488"/>
              <a:ext cx="1988" cy="1578"/>
              <a:chOff x="1252" y="3215"/>
              <a:chExt cx="915" cy="780"/>
            </a:xfrm>
          </p:grpSpPr>
          <p:grpSp>
            <p:nvGrpSpPr>
              <p:cNvPr id="30" name="Group 22">
                <a:extLst>
                  <a:ext uri="{FF2B5EF4-FFF2-40B4-BE49-F238E27FC236}">
                    <a16:creationId xmlns:a16="http://schemas.microsoft.com/office/drawing/2014/main" id="{F65EA973-EEE9-4004-B433-7E781B0AE8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17" y="3215"/>
                <a:ext cx="695" cy="240"/>
                <a:chOff x="144" y="3401"/>
                <a:chExt cx="695" cy="240"/>
              </a:xfrm>
            </p:grpSpPr>
            <p:cxnSp>
              <p:nvCxnSpPr>
                <p:cNvPr id="32" name="Line 23">
                  <a:extLst>
                    <a:ext uri="{FF2B5EF4-FFF2-40B4-BE49-F238E27FC236}">
                      <a16:creationId xmlns:a16="http://schemas.microsoft.com/office/drawing/2014/main" id="{B171A73E-2A05-4AC1-A7B8-78FFE75B59E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5" y="3641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3" name="Text Box 24">
                  <a:extLst>
                    <a:ext uri="{FF2B5EF4-FFF2-40B4-BE49-F238E27FC236}">
                      <a16:creationId xmlns:a16="http://schemas.microsoft.com/office/drawing/2014/main" id="{14EF2BA0-DC07-432B-9BB3-E7E56196CC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" y="3401"/>
                  <a:ext cx="695" cy="2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hello.i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31" name="Text Box 25">
                <a:extLst>
                  <a:ext uri="{FF2B5EF4-FFF2-40B4-BE49-F238E27FC236}">
                    <a16:creationId xmlns:a16="http://schemas.microsoft.com/office/drawing/2014/main" id="{287B0915-F03C-46D3-AF00-68834D3E2D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2" y="3591"/>
                <a:ext cx="915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源程序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文本</a:t>
                </a:r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5" name="Group 26">
              <a:extLst>
                <a:ext uri="{FF2B5EF4-FFF2-40B4-BE49-F238E27FC236}">
                  <a16:creationId xmlns:a16="http://schemas.microsoft.com/office/drawing/2014/main" id="{8A756D77-0F5A-4E91-9F6A-EC97B31B5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0" y="7441"/>
              <a:ext cx="1906" cy="1987"/>
              <a:chOff x="2361" y="3171"/>
              <a:chExt cx="877" cy="990"/>
            </a:xfrm>
          </p:grpSpPr>
          <p:grpSp>
            <p:nvGrpSpPr>
              <p:cNvPr id="26" name="Group 27">
                <a:extLst>
                  <a:ext uri="{FF2B5EF4-FFF2-40B4-BE49-F238E27FC236}">
                    <a16:creationId xmlns:a16="http://schemas.microsoft.com/office/drawing/2014/main" id="{1EADA7D2-71A7-49A5-B544-B34F0F4211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9" y="3171"/>
                <a:ext cx="761" cy="266"/>
                <a:chOff x="139" y="3348"/>
                <a:chExt cx="761" cy="266"/>
              </a:xfrm>
            </p:grpSpPr>
            <p:cxnSp>
              <p:nvCxnSpPr>
                <p:cNvPr id="28" name="Line 28">
                  <a:extLst>
                    <a:ext uri="{FF2B5EF4-FFF2-40B4-BE49-F238E27FC236}">
                      <a16:creationId xmlns:a16="http://schemas.microsoft.com/office/drawing/2014/main" id="{5C4D69F3-DD9D-4F17-BAF4-F4542E35CAC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139" y="3613"/>
                  <a:ext cx="675" cy="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9" name="Text Box 29">
                  <a:extLst>
                    <a:ext uri="{FF2B5EF4-FFF2-40B4-BE49-F238E27FC236}">
                      <a16:creationId xmlns:a16="http://schemas.microsoft.com/office/drawing/2014/main" id="{54DA4B85-ADE0-44EF-A57E-5E6A35C8A7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" y="3348"/>
                  <a:ext cx="750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hello.s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7" name="Text Box 30">
                <a:extLst>
                  <a:ext uri="{FF2B5EF4-FFF2-40B4-BE49-F238E27FC236}">
                    <a16:creationId xmlns:a16="http://schemas.microsoft.com/office/drawing/2014/main" id="{0FA4B905-2815-4F6E-83FB-B56CEBED9B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3584"/>
                <a:ext cx="877" cy="5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汇编语言程序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文本</a:t>
                </a:r>
                <a:r>
                  <a:rPr lang="en-US" sz="1500" b="1" kern="1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6" name="Group 31">
              <a:extLst>
                <a:ext uri="{FF2B5EF4-FFF2-40B4-BE49-F238E27FC236}">
                  <a16:creationId xmlns:a16="http://schemas.microsoft.com/office/drawing/2014/main" id="{80E531B8-EC41-454F-9EB2-C29647EBA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11" y="7454"/>
              <a:ext cx="1834" cy="2132"/>
              <a:chOff x="3549" y="3198"/>
              <a:chExt cx="844" cy="1208"/>
            </a:xfrm>
          </p:grpSpPr>
          <p:grpSp>
            <p:nvGrpSpPr>
              <p:cNvPr id="22" name="Group 32">
                <a:extLst>
                  <a:ext uri="{FF2B5EF4-FFF2-40B4-BE49-F238E27FC236}">
                    <a16:creationId xmlns:a16="http://schemas.microsoft.com/office/drawing/2014/main" id="{88FF23FC-B960-499A-931B-8CB2F2A5C6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4" y="3198"/>
                <a:ext cx="779" cy="294"/>
                <a:chOff x="228" y="3401"/>
                <a:chExt cx="745" cy="294"/>
              </a:xfrm>
            </p:grpSpPr>
            <p:cxnSp>
              <p:nvCxnSpPr>
                <p:cNvPr id="24" name="Line 33">
                  <a:extLst>
                    <a:ext uri="{FF2B5EF4-FFF2-40B4-BE49-F238E27FC236}">
                      <a16:creationId xmlns:a16="http://schemas.microsoft.com/office/drawing/2014/main" id="{4C2D7001-2463-467B-BEF6-AE37DF610A1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53" y="3695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5" name="Text Box 34">
                  <a:extLst>
                    <a:ext uri="{FF2B5EF4-FFF2-40B4-BE49-F238E27FC236}">
                      <a16:creationId xmlns:a16="http://schemas.microsoft.com/office/drawing/2014/main" id="{594B7A18-9FA0-41E4-970C-8C88C11387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" y="3401"/>
                  <a:ext cx="745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 dirty="0" err="1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hello.o</a:t>
                  </a:r>
                  <a:endParaRPr lang="zh-CN" altLang="en-US" sz="1500" kern="100" dirty="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3" name="Text Box 35">
                <a:extLst>
                  <a:ext uri="{FF2B5EF4-FFF2-40B4-BE49-F238E27FC236}">
                    <a16:creationId xmlns:a16="http://schemas.microsoft.com/office/drawing/2014/main" id="{F7D209C2-4937-44F1-B647-B105732ADA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9" y="3656"/>
                <a:ext cx="843" cy="7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可重定位目标文件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二进制</a:t>
                </a:r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7" name="Group 36">
              <a:extLst>
                <a:ext uri="{FF2B5EF4-FFF2-40B4-BE49-F238E27FC236}">
                  <a16:creationId xmlns:a16="http://schemas.microsoft.com/office/drawing/2014/main" id="{479D8D0F-3AE3-4EDD-AF72-D8CC1ABE9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74" y="7432"/>
              <a:ext cx="2121" cy="1841"/>
              <a:chOff x="4683" y="3188"/>
              <a:chExt cx="976" cy="964"/>
            </a:xfrm>
          </p:grpSpPr>
          <p:grpSp>
            <p:nvGrpSpPr>
              <p:cNvPr id="18" name="Group 37">
                <a:extLst>
                  <a:ext uri="{FF2B5EF4-FFF2-40B4-BE49-F238E27FC236}">
                    <a16:creationId xmlns:a16="http://schemas.microsoft.com/office/drawing/2014/main" id="{2E493432-F868-42D5-8300-BC4F7B234E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5" y="3188"/>
                <a:ext cx="610" cy="284"/>
                <a:chOff x="266" y="3401"/>
                <a:chExt cx="610" cy="284"/>
              </a:xfrm>
            </p:grpSpPr>
            <p:cxnSp>
              <p:nvCxnSpPr>
                <p:cNvPr id="20" name="Line 38">
                  <a:extLst>
                    <a:ext uri="{FF2B5EF4-FFF2-40B4-BE49-F238E27FC236}">
                      <a16:creationId xmlns:a16="http://schemas.microsoft.com/office/drawing/2014/main" id="{AF25BD8F-F662-4FC9-81B3-2DEAF2C1726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81" y="3685"/>
                  <a:ext cx="59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1" name="Text Box 39">
                  <a:extLst>
                    <a:ext uri="{FF2B5EF4-FFF2-40B4-BE49-F238E27FC236}">
                      <a16:creationId xmlns:a16="http://schemas.microsoft.com/office/drawing/2014/main" id="{BBCC6EC5-D0B8-46DD-AE20-F200B545EE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6" y="3401"/>
                  <a:ext cx="57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BBE0E3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43892" tIns="21946" rIns="43892" bIns="21946" anchor="t" anchorCtr="0" upright="1">
                  <a:noAutofit/>
                </a:bodyPr>
                <a:lstStyle/>
                <a:p>
                  <a:pPr algn="just"/>
                  <a:r>
                    <a:rPr lang="en-US" sz="1500" b="1" kern="100">
                      <a:solidFill>
                        <a:srgbClr val="000000"/>
                      </a:solidFill>
                      <a:latin typeface="微软雅黑" pitchFamily="34" charset="-122"/>
                      <a:ea typeface="微软雅黑" pitchFamily="34" charset="-122"/>
                      <a:cs typeface="Times New Roman" pitchFamily="18" charset="0"/>
                    </a:rPr>
                    <a:t>hello</a:t>
                  </a:r>
                  <a:endParaRPr lang="zh-CN" altLang="en-US" sz="1500" kern="10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9" name="Text Box 40">
                <a:extLst>
                  <a:ext uri="{FF2B5EF4-FFF2-40B4-BE49-F238E27FC236}">
                    <a16:creationId xmlns:a16="http://schemas.microsoft.com/office/drawing/2014/main" id="{F472F179-AC43-4271-90E5-F1476F4C9B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3" y="3575"/>
                <a:ext cx="976" cy="5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43892" tIns="21946" rIns="43892" bIns="21946" anchor="t" anchorCtr="0" upright="1">
                <a:noAutofit/>
              </a:bodyPr>
              <a:lstStyle/>
              <a:p>
                <a:pPr algn="ctr"/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可执行目标文件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  <a:p>
                <a:pPr algn="ctr"/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(</a:t>
                </a:r>
                <a:r>
                  <a:rPr lang="zh-CN" alt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二进制</a:t>
                </a:r>
                <a:r>
                  <a:rPr lang="en-US" sz="1500" b="1" kern="100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)</a:t>
                </a:r>
                <a:endParaRPr lang="zh-CN" altLang="en-US" sz="1500" kern="1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6D4BF6E7-212A-47DF-BBA3-0958B02D221B}"/>
              </a:ext>
            </a:extLst>
          </p:cNvPr>
          <p:cNvSpPr/>
          <p:nvPr/>
        </p:nvSpPr>
        <p:spPr>
          <a:xfrm>
            <a:off x="983064" y="3867598"/>
            <a:ext cx="8160936" cy="2507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438" algn="just">
              <a:lnSpc>
                <a:spcPct val="120000"/>
              </a:lnSpc>
            </a:pP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</a:t>
            </a:r>
            <a:r>
              <a:rPr lang="en-US" altLang="zh-CN" sz="20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–E  </a:t>
            </a: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.c</a:t>
            </a:r>
            <a:r>
              <a:rPr lang="en-US" altLang="zh-CN" sz="20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–o  </a:t>
            </a: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.i</a:t>
            </a:r>
            <a:endParaRPr lang="zh-CN" altLang="zh-CN" sz="2000" kern="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871538" algn="just">
              <a:lnSpc>
                <a:spcPct val="120000"/>
              </a:lnSpc>
            </a:pP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</a:t>
            </a:r>
            <a:r>
              <a:rPr lang="en-US" altLang="zh-CN" sz="20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–S  </a:t>
            </a: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.i</a:t>
            </a:r>
            <a:r>
              <a:rPr lang="en-US" altLang="zh-CN" sz="20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–o  </a:t>
            </a: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.s</a:t>
            </a:r>
            <a:endParaRPr lang="zh-CN" altLang="zh-CN" sz="2000" kern="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2085975" algn="just">
              <a:lnSpc>
                <a:spcPct val="120000"/>
              </a:lnSpc>
            </a:pP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</a:t>
            </a:r>
            <a:r>
              <a:rPr lang="en-US" altLang="zh-CN" sz="20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–c  </a:t>
            </a: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.s</a:t>
            </a:r>
            <a:r>
              <a:rPr lang="en-US" altLang="zh-CN" sz="2000" b="1" kern="1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–o  </a:t>
            </a:r>
            <a:r>
              <a:rPr lang="en-US" altLang="zh-CN" sz="2000" b="1" kern="1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.o</a:t>
            </a:r>
            <a:endParaRPr lang="zh-CN" altLang="zh-CN" sz="2000" kern="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3228975">
              <a:lnSpc>
                <a:spcPct val="120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hello.o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–o  hello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.c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–o  hello   //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/>
              </a:rPr>
              <a:t>将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  <a:cs typeface="Times New Roman"/>
              </a:rPr>
              <a:t>hello.c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/>
              </a:rPr>
              <a:t>直接编译成可执行目标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  <a:cs typeface="Times New Roman"/>
              </a:rPr>
              <a:t>文件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/>
              </a:rPr>
              <a:t>hello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  <a:cs typeface="Times New Roman"/>
              </a:rPr>
              <a:t>用文本编辑器打开各个文件，理解文本文件、二进制文件的含义</a:t>
            </a:r>
            <a:endParaRPr lang="zh-CN" altLang="en-US" sz="20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CDECA75-9220-46B3-B74F-EECCF4D68019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2">
            <a:extLst>
              <a:ext uri="{FF2B5EF4-FFF2-40B4-BE49-F238E27FC236}">
                <a16:creationId xmlns:a16="http://schemas.microsoft.com/office/drawing/2014/main" id="{04DC7A75-D865-4843-A6F4-12A07BCE4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23D7A0-8E9F-4A64-90D3-811900DEFAE1}"/>
              </a:ext>
            </a:extLst>
          </p:cNvPr>
          <p:cNvSpPr/>
          <p:nvPr/>
        </p:nvSpPr>
        <p:spPr>
          <a:xfrm>
            <a:off x="7263685" y="40180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Times New Roman"/>
              </a:rPr>
              <a:t>大小写敏感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7778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95C3D80-9151-4A71-AE34-192998EA2352}"/>
              </a:ext>
            </a:extLst>
          </p:cNvPr>
          <p:cNvSpPr/>
          <p:nvPr/>
        </p:nvSpPr>
        <p:spPr>
          <a:xfrm>
            <a:off x="1466229" y="2603467"/>
            <a:ext cx="6726691" cy="321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buFont typeface="Wingdings" panose="05000000000000000000" pitchFamily="2" charset="2"/>
              <a:buChar char="Ø"/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gcc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          （编译命令）</a:t>
            </a:r>
            <a:endParaRPr lang="en-US" altLang="zh-CN" sz="2000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g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cc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-g 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.c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-o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hello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endParaRPr lang="en-US" altLang="zh-CN" sz="2000" b="1" kern="1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或者</a:t>
            </a:r>
            <a:r>
              <a:rPr lang="zh-CN" altLang="en-US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cc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-g 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-no-pie  -</a:t>
            </a:r>
            <a:r>
              <a:rPr lang="en-US" altLang="zh-CN" sz="2000" b="1" kern="100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fno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-pic 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.c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-o </a:t>
            </a:r>
            <a:r>
              <a:rPr lang="en-US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hello</a:t>
            </a:r>
            <a:r>
              <a:rPr lang="pl-PL" altLang="zh-CN" sz="20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endParaRPr lang="en-US" altLang="zh-CN" sz="2000" b="1" kern="1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57175" indent="-257175" algn="just">
              <a:lnSpc>
                <a:spcPct val="15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</a:t>
            </a:r>
            <a:r>
              <a:rPr lang="pl-PL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bjdump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  （反汇编命令）</a:t>
            </a:r>
            <a:endParaRPr lang="en-US" altLang="zh-CN" sz="2000" b="1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objdump 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.o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.txt  </a:t>
            </a:r>
            <a:endParaRPr lang="zh-CN" altLang="zh-CN" sz="2000" kern="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objdump 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en-US" altLang="zh-CN" sz="20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20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.txt    </a:t>
            </a:r>
            <a:endParaRPr lang="zh-CN" altLang="zh-CN" sz="2000" kern="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200025" algn="just">
              <a:lnSpc>
                <a:spcPct val="150000"/>
              </a:lnSpc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pl-PL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-S </a:t>
            </a:r>
            <a:r>
              <a:rPr lang="zh-CN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保留</a:t>
            </a:r>
            <a:r>
              <a:rPr lang="pl-PL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语句，</a:t>
            </a:r>
            <a:r>
              <a:rPr lang="pl-PL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 </a:t>
            </a:r>
            <a:r>
              <a:rPr lang="zh-CN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保存到文件</a:t>
            </a:r>
            <a:endParaRPr lang="zh-CN" altLang="zh-CN" sz="2000" kern="1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44928-0FA6-498F-9550-61E4BBF01842}"/>
              </a:ext>
            </a:extLst>
          </p:cNvPr>
          <p:cNvSpPr/>
          <p:nvPr/>
        </p:nvSpPr>
        <p:spPr>
          <a:xfrm>
            <a:off x="1493117" y="164874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基本命令：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32241B-7904-467A-8CA6-F65C65244298}"/>
              </a:ext>
            </a:extLst>
          </p:cNvPr>
          <p:cNvSpPr/>
          <p:nvPr/>
        </p:nvSpPr>
        <p:spPr>
          <a:xfrm>
            <a:off x="5739432" y="1161793"/>
            <a:ext cx="3160728" cy="1428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下列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gcc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命令基于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Debian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。若使用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64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位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Ubuntu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，需添加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-m32 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选项。</a:t>
            </a:r>
            <a:endParaRPr lang="zh-CN" altLang="en-US" sz="2000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FC79DFE-5B1E-432C-B2DA-9364EE45523C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7E58A7E8-6D8D-4EA4-838E-1B9CF510A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</p:spTree>
    <p:extLst>
      <p:ext uri="{BB962C8B-B14F-4D97-AF65-F5344CB8AC3E}">
        <p14:creationId xmlns:p14="http://schemas.microsoft.com/office/powerpoint/2010/main" val="489143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509B0F-D989-4FEF-BD8D-B6A8F7609374}"/>
              </a:ext>
            </a:extLst>
          </p:cNvPr>
          <p:cNvSpPr/>
          <p:nvPr/>
        </p:nvSpPr>
        <p:spPr>
          <a:xfrm>
            <a:off x="995516" y="1759591"/>
            <a:ext cx="7381567" cy="368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PIC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Position-Independent Code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，译为“位置无关代码”。</a:t>
            </a:r>
            <a:b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在计算机系统中，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是可以在主存中不同位置执行的目标代码。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经常被用在共享库中，这样就能将相同的库代码为每个程序映射到一个位置，不用担心覆盖掉其他程序或共享库。</a:t>
            </a:r>
          </a:p>
          <a:p>
            <a:pPr>
              <a:lnSpc>
                <a:spcPct val="150000"/>
              </a:lnSpc>
            </a:pPr>
            <a:endParaRPr lang="en-US" altLang="zh-CN" sz="13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PIE</a:t>
            </a:r>
            <a:r>
              <a:rPr lang="zh-CN" altLang="en-US" sz="2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Position-Independent Executable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，译为“位置无关可执行程序”。</a:t>
            </a:r>
            <a:b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它是完全由位置无关代码所组成的可执行二进制文件，有时可称为</a:t>
            </a:r>
            <a:r>
              <a:rPr lang="en-US" altLang="zh-CN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PIC Executable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。它有一个显著的优点，那就是当程序加载时，所有</a:t>
            </a:r>
            <a:r>
              <a:rPr lang="en-US" altLang="zh-CN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PIE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二进制文件以及它所有的依赖都会</a:t>
            </a:r>
            <a:r>
              <a:rPr lang="zh-CN" altLang="en-US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加载到虚拟内存空间中的随机位置（随机地址），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可以有效提高他人通过绝对地址实施</a:t>
            </a:r>
            <a:r>
              <a:rPr lang="en-US" altLang="zh-CN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"return-to-</a:t>
            </a:r>
            <a:r>
              <a:rPr lang="en-US" altLang="zh-CN" sz="15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libc</a:t>
            </a:r>
            <a:r>
              <a:rPr lang="en-US" altLang="zh-CN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安全攻击的难度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4219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CE4930-277F-4EB1-9A49-0E505B3AC5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25" b="5258"/>
          <a:stretch/>
        </p:blipFill>
        <p:spPr>
          <a:xfrm>
            <a:off x="707453" y="1437066"/>
            <a:ext cx="7409222" cy="394160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AFDD51B-9964-43D7-9E89-AF777AEAB1B1}"/>
              </a:ext>
            </a:extLst>
          </p:cNvPr>
          <p:cNvSpPr/>
          <p:nvPr/>
        </p:nvSpPr>
        <p:spPr>
          <a:xfrm>
            <a:off x="757006" y="2103820"/>
            <a:ext cx="540637" cy="17415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07F399-3720-48DE-9161-5771879C4DE7}"/>
              </a:ext>
            </a:extLst>
          </p:cNvPr>
          <p:cNvSpPr/>
          <p:nvPr/>
        </p:nvSpPr>
        <p:spPr>
          <a:xfrm>
            <a:off x="4838484" y="2103821"/>
            <a:ext cx="511118" cy="13251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510858-84AA-49EE-98E8-5AD7B4770FC7}"/>
              </a:ext>
            </a:extLst>
          </p:cNvPr>
          <p:cNvSpPr/>
          <p:nvPr/>
        </p:nvSpPr>
        <p:spPr>
          <a:xfrm>
            <a:off x="2839564" y="2914249"/>
            <a:ext cx="1998920" cy="22900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0">
              <a:solidFill>
                <a:srgbClr val="0070C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BB419E-6B05-4BCF-BEF2-66D1E8E75CEC}"/>
              </a:ext>
            </a:extLst>
          </p:cNvPr>
          <p:cNvSpPr/>
          <p:nvPr/>
        </p:nvSpPr>
        <p:spPr>
          <a:xfrm>
            <a:off x="707453" y="4784271"/>
            <a:ext cx="3340142" cy="39732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EE8BA6-1A45-4CF6-8492-EFA2B68B0309}"/>
              </a:ext>
            </a:extLst>
          </p:cNvPr>
          <p:cNvSpPr txBox="1"/>
          <p:nvPr/>
        </p:nvSpPr>
        <p:spPr>
          <a:xfrm>
            <a:off x="4803931" y="4276439"/>
            <a:ext cx="4069080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  <a:defRPr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虚拟地址与可执行目标文件运行时的存储器映射一致，方便后续讲课。</a:t>
            </a:r>
            <a:endParaRPr lang="en-US" altLang="zh-CN" sz="15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  <a:defRPr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</a:t>
            </a:r>
            <a:r>
              <a:rPr lang="en-US" altLang="zh-CN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代码中插入汇编代码</a:t>
            </a:r>
            <a:endParaRPr lang="en-US" altLang="zh-CN" sz="15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  <a:defRPr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简化逆向工程分析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98C1064-F0B4-4B35-B43C-679D9A72EEC9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F97068FC-3114-4832-83C7-205EAC55D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6201D9-35E8-4FDF-992D-DB41B664B01C}"/>
              </a:ext>
            </a:extLst>
          </p:cNvPr>
          <p:cNvSpPr/>
          <p:nvPr/>
        </p:nvSpPr>
        <p:spPr>
          <a:xfrm>
            <a:off x="889907" y="5447212"/>
            <a:ext cx="29594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cc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-g </a:t>
            </a:r>
            <a:r>
              <a:rPr lang="en-US" altLang="zh-CN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.c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-o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hello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8CB42C-900C-44E8-864F-97E90B437B70}"/>
              </a:ext>
            </a:extLst>
          </p:cNvPr>
          <p:cNvSpPr/>
          <p:nvPr/>
        </p:nvSpPr>
        <p:spPr>
          <a:xfrm>
            <a:off x="4412064" y="5447212"/>
            <a:ext cx="4955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cc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pl-PL" altLang="zh-CN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-g </a:t>
            </a:r>
            <a:r>
              <a:rPr lang="en-US" altLang="zh-CN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6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-no-pie  -</a:t>
            </a:r>
            <a:r>
              <a:rPr lang="en-US" altLang="zh-CN" sz="1600" b="1" kern="100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fno</a:t>
            </a:r>
            <a:r>
              <a:rPr lang="en-US" altLang="zh-CN" sz="1600" b="1" kern="1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-pic 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hello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.c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-o 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hello</a:t>
            </a:r>
            <a:r>
              <a:rPr lang="pl-PL" altLang="zh-CN" sz="1600" b="1" kern="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4772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CC08408-EB5F-48D8-91D7-A15829F18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660" y="2274094"/>
            <a:ext cx="2124075" cy="5441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zh-CN" altLang="en-US" sz="1350" b="0">
              <a:solidFill>
                <a:srgbClr val="000000"/>
              </a:solidFill>
            </a:endParaRPr>
          </a:p>
        </p:txBody>
      </p:sp>
      <p:sp>
        <p:nvSpPr>
          <p:cNvPr id="18435" name="Rectangle 1">
            <a:extLst>
              <a:ext uri="{FF2B5EF4-FFF2-40B4-BE49-F238E27FC236}">
                <a16:creationId xmlns:a16="http://schemas.microsoft.com/office/drawing/2014/main" id="{40CA4FF3-FFDA-402E-92C8-76269D0549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63278" y="857250"/>
            <a:ext cx="6537722" cy="463154"/>
          </a:xfrm>
        </p:spPr>
        <p:txBody>
          <a:bodyPr/>
          <a:lstStyle/>
          <a:p>
            <a:pPr marL="89297" indent="-89297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GB"/>
              <a:t>可执行文件的存储器映像</a:t>
            </a:r>
          </a:p>
        </p:txBody>
      </p:sp>
      <p:sp>
        <p:nvSpPr>
          <p:cNvPr id="18436" name="Text Box 12">
            <a:extLst>
              <a:ext uri="{FF2B5EF4-FFF2-40B4-BE49-F238E27FC236}">
                <a16:creationId xmlns:a16="http://schemas.microsoft.com/office/drawing/2014/main" id="{A4C92DD6-FB45-4D77-BBA9-793F33DBB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4" y="2039542"/>
            <a:ext cx="241697" cy="274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</a:t>
            </a:r>
          </a:p>
        </p:txBody>
      </p:sp>
      <p:sp>
        <p:nvSpPr>
          <p:cNvPr id="18437" name="Text Box 25">
            <a:extLst>
              <a:ext uri="{FF2B5EF4-FFF2-40B4-BE49-F238E27FC236}">
                <a16:creationId xmlns:a16="http://schemas.microsoft.com/office/drawing/2014/main" id="{CDE55605-CD90-4D8F-A08B-0AE3F8D6A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394" y="2158603"/>
            <a:ext cx="548879" cy="469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35100" rIns="0" bIns="351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%esp </a:t>
            </a:r>
          </a:p>
          <a:p>
            <a:pPr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</a:t>
            </a:r>
            <a:r>
              <a:rPr lang="zh-CN" altLang="en-GB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栈顶</a:t>
            </a: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sp>
        <p:nvSpPr>
          <p:cNvPr id="18438" name="Line 26">
            <a:extLst>
              <a:ext uri="{FF2B5EF4-FFF2-40B4-BE49-F238E27FC236}">
                <a16:creationId xmlns:a16="http://schemas.microsoft.com/office/drawing/2014/main" id="{72ED183D-09AF-4F15-AAE1-BFA206C2A3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6836" y="2284811"/>
            <a:ext cx="288131" cy="119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Line 28">
            <a:extLst>
              <a:ext uri="{FF2B5EF4-FFF2-40B4-BE49-F238E27FC236}">
                <a16:creationId xmlns:a16="http://schemas.microsoft.com/office/drawing/2014/main" id="{C2998806-34A0-4F84-86F1-301C6CB0A7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3511" y="1479949"/>
            <a:ext cx="1190" cy="345281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Text Box 29">
            <a:extLst>
              <a:ext uri="{FF2B5EF4-FFF2-40B4-BE49-F238E27FC236}">
                <a16:creationId xmlns:a16="http://schemas.microsoft.com/office/drawing/2014/main" id="{48FEEBC5-4AC3-48CF-A62A-2D2EE2687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9254" y="3826670"/>
            <a:ext cx="444095" cy="27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425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brk</a:t>
            </a:r>
          </a:p>
        </p:txBody>
      </p:sp>
      <p:sp>
        <p:nvSpPr>
          <p:cNvPr id="18441" name="Line 30">
            <a:extLst>
              <a:ext uri="{FF2B5EF4-FFF2-40B4-BE49-F238E27FC236}">
                <a16:creationId xmlns:a16="http://schemas.microsoft.com/office/drawing/2014/main" id="{0F591E74-28AE-4D18-959B-31EF6AB8F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1124" y="3951686"/>
            <a:ext cx="288131" cy="119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Text Box 31">
            <a:extLst>
              <a:ext uri="{FF2B5EF4-FFF2-40B4-BE49-F238E27FC236}">
                <a16:creationId xmlns:a16="http://schemas.microsoft.com/office/drawing/2014/main" id="{D166467C-592D-4F8A-AE59-4D35DB39A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1664494"/>
            <a:ext cx="1181476" cy="24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0xC00000000</a:t>
            </a:r>
          </a:p>
        </p:txBody>
      </p:sp>
      <p:sp>
        <p:nvSpPr>
          <p:cNvPr id="18443" name="Text Box 32">
            <a:extLst>
              <a:ext uri="{FF2B5EF4-FFF2-40B4-BE49-F238E27FC236}">
                <a16:creationId xmlns:a16="http://schemas.microsoft.com/office/drawing/2014/main" id="{FEA0359D-5B8B-4C13-ABBC-9F2068B51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248" y="5294710"/>
            <a:ext cx="1077282" cy="24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0x08048000</a:t>
            </a:r>
          </a:p>
        </p:txBody>
      </p:sp>
      <p:sp>
        <p:nvSpPr>
          <p:cNvPr id="18444" name="Rectangle 14">
            <a:extLst>
              <a:ext uri="{FF2B5EF4-FFF2-40B4-BE49-F238E27FC236}">
                <a16:creationId xmlns:a16="http://schemas.microsoft.com/office/drawing/2014/main" id="{CCF51C60-91FC-4601-9C8A-E96B9D3D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1468042"/>
            <a:ext cx="2122885" cy="388144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内核虚存区</a:t>
            </a:r>
          </a:p>
        </p:txBody>
      </p:sp>
      <p:sp>
        <p:nvSpPr>
          <p:cNvPr id="18445" name="Rectangle 15">
            <a:extLst>
              <a:ext uri="{FF2B5EF4-FFF2-40B4-BE49-F238E27FC236}">
                <a16:creationId xmlns:a16="http://schemas.microsoft.com/office/drawing/2014/main" id="{A6E76A91-BF61-446E-8008-9FA2A1C2D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2824163"/>
            <a:ext cx="2122885" cy="5334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共享库区域</a:t>
            </a:r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74151070-EB81-499E-A2A3-7AEB6C250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3353991"/>
            <a:ext cx="2122885" cy="576263"/>
          </a:xfrm>
          <a:prstGeom prst="rect">
            <a:avLst/>
          </a:prstGeom>
          <a:solidFill>
            <a:schemeClr val="bg1"/>
          </a:solidFill>
          <a:ln w="3302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>
              <a:solidFill>
                <a:srgbClr val="000000"/>
              </a:solidFill>
              <a:latin typeface="Arial Narrow" pitchFamily="34" charset="0"/>
              <a:ea typeface="宋体"/>
            </a:endParaRPr>
          </a:p>
        </p:txBody>
      </p:sp>
      <p:sp>
        <p:nvSpPr>
          <p:cNvPr id="18447" name="Rectangle 17">
            <a:extLst>
              <a:ext uri="{FF2B5EF4-FFF2-40B4-BE49-F238E27FC236}">
                <a16:creationId xmlns:a16="http://schemas.microsoft.com/office/drawing/2014/main" id="{59CDFDF0-4207-48B8-A297-099C01938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3929063"/>
            <a:ext cx="2122885" cy="5334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堆（</a:t>
            </a:r>
            <a:r>
              <a:rPr lang="en-GB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heap</a:t>
            </a: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）</a:t>
            </a:r>
          </a:p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</a:t>
            </a: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由</a:t>
            </a:r>
            <a:r>
              <a:rPr lang="en-GB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malloc</a:t>
            </a: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动态生成</a:t>
            </a:r>
            <a:r>
              <a:rPr lang="en-GB" altLang="zh-CN" sz="15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sp>
        <p:nvSpPr>
          <p:cNvPr id="18448" name="Line 19">
            <a:extLst>
              <a:ext uri="{FF2B5EF4-FFF2-40B4-BE49-F238E27FC236}">
                <a16:creationId xmlns:a16="http://schemas.microsoft.com/office/drawing/2014/main" id="{AD063602-032E-44A8-8786-5F00382912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4317" y="3615930"/>
            <a:ext cx="1190" cy="30599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9" name="Rectangle 20">
            <a:extLst>
              <a:ext uri="{FF2B5EF4-FFF2-40B4-BE49-F238E27FC236}">
                <a16:creationId xmlns:a16="http://schemas.microsoft.com/office/drawing/2014/main" id="{932BB5C3-DED4-4D5A-B239-044086F7A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1832374"/>
            <a:ext cx="2122885" cy="44886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用户栈（</a:t>
            </a: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User stack</a:t>
            </a:r>
            <a:r>
              <a:rPr lang="zh-CN" altLang="en-GB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）</a:t>
            </a:r>
          </a:p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5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动态生成</a:t>
            </a:r>
          </a:p>
        </p:txBody>
      </p:sp>
      <p:sp>
        <p:nvSpPr>
          <p:cNvPr id="18450" name="Line 21">
            <a:extLst>
              <a:ext uri="{FF2B5EF4-FFF2-40B4-BE49-F238E27FC236}">
                <a16:creationId xmlns:a16="http://schemas.microsoft.com/office/drawing/2014/main" id="{90C03E26-1FBC-4F4A-A198-4C1C1D9F56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4317" y="2644378"/>
            <a:ext cx="1190" cy="184547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1" name="Line 22">
            <a:extLst>
              <a:ext uri="{FF2B5EF4-FFF2-40B4-BE49-F238E27FC236}">
                <a16:creationId xmlns:a16="http://schemas.microsoft.com/office/drawing/2014/main" id="{9C65896B-FE02-4A2B-82D5-5495EA702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317" y="2281238"/>
            <a:ext cx="1190" cy="18216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15" name="Rectangle 23">
            <a:extLst>
              <a:ext uri="{FF2B5EF4-FFF2-40B4-BE49-F238E27FC236}">
                <a16:creationId xmlns:a16="http://schemas.microsoft.com/office/drawing/2014/main" id="{4B5E00C1-1ECC-46E5-B052-47FE92B82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5492355"/>
            <a:ext cx="2122885" cy="316706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未使用</a:t>
            </a:r>
          </a:p>
        </p:txBody>
      </p:sp>
      <p:sp>
        <p:nvSpPr>
          <p:cNvPr id="18453" name="Text Box 24">
            <a:extLst>
              <a:ext uri="{FF2B5EF4-FFF2-40B4-BE49-F238E27FC236}">
                <a16:creationId xmlns:a16="http://schemas.microsoft.com/office/drawing/2014/main" id="{7A62F00C-5AF1-4062-BF22-CC6EABED3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635" y="5666186"/>
            <a:ext cx="238911" cy="251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200">
                <a:solidFill>
                  <a:srgbClr val="000000"/>
                </a:solidFill>
                <a:latin typeface="Arial Black" panose="020B0A04020102020204" pitchFamily="34" charset="0"/>
                <a:ea typeface="msgothic"/>
                <a:cs typeface="msgothic"/>
              </a:rPr>
              <a:t>0</a:t>
            </a:r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C8AA1730-A681-42B3-97D5-1C8735578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4460081"/>
            <a:ext cx="2122885" cy="5345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zh-CN" altLang="en-GB" sz="15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读写数据段</a:t>
            </a:r>
          </a:p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(.data, .bss)</a:t>
            </a:r>
          </a:p>
        </p:txBody>
      </p:sp>
      <p:sp>
        <p:nvSpPr>
          <p:cNvPr id="18455" name="Rectangle 35">
            <a:extLst>
              <a:ext uri="{FF2B5EF4-FFF2-40B4-BE49-F238E27FC236}">
                <a16:creationId xmlns:a16="http://schemas.microsoft.com/office/drawing/2014/main" id="{F6BD7939-AAE1-43DB-BFAE-5701818EF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4958954"/>
            <a:ext cx="2122885" cy="5334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只读代码段</a:t>
            </a:r>
          </a:p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(.init, .text</a:t>
            </a:r>
            <a:r>
              <a:rPr lang="en-GB" altLang="zh-CN" sz="12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, </a:t>
            </a: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.rodata</a:t>
            </a:r>
            <a:r>
              <a:rPr lang="en-GB" altLang="zh-CN" sz="12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grpSp>
        <p:nvGrpSpPr>
          <p:cNvPr id="770072" name="Group 24">
            <a:extLst>
              <a:ext uri="{FF2B5EF4-FFF2-40B4-BE49-F238E27FC236}">
                <a16:creationId xmlns:a16="http://schemas.microsoft.com/office/drawing/2014/main" id="{E56F000D-C237-4523-8E25-8541CF36D13B}"/>
              </a:ext>
            </a:extLst>
          </p:cNvPr>
          <p:cNvGrpSpPr>
            <a:grpSpLocks/>
          </p:cNvGrpSpPr>
          <p:nvPr/>
        </p:nvGrpSpPr>
        <p:grpSpPr bwMode="auto">
          <a:xfrm>
            <a:off x="7043739" y="4517231"/>
            <a:ext cx="803672" cy="995363"/>
            <a:chOff x="4956" y="3074"/>
            <a:chExt cx="675" cy="836"/>
          </a:xfrm>
        </p:grpSpPr>
        <p:sp>
          <p:nvSpPr>
            <p:cNvPr id="18476" name="AutoShape 36">
              <a:extLst>
                <a:ext uri="{FF2B5EF4-FFF2-40B4-BE49-F238E27FC236}">
                  <a16:creationId xmlns:a16="http://schemas.microsoft.com/office/drawing/2014/main" id="{54121324-3060-4019-BFA4-1C5F2E6A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3094"/>
              <a:ext cx="140" cy="816"/>
            </a:xfrm>
            <a:prstGeom prst="rightBrace">
              <a:avLst>
                <a:gd name="adj1" fmla="val 48571"/>
                <a:gd name="adj2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en-US" altLang="zh-CN" sz="18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8477" name="Text Box 37">
              <a:extLst>
                <a:ext uri="{FF2B5EF4-FFF2-40B4-BE49-F238E27FC236}">
                  <a16:creationId xmlns:a16="http://schemas.microsoft.com/office/drawing/2014/main" id="{BF7BCDA6-6DDF-4272-9633-7E5AD81D6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1" y="3074"/>
              <a:ext cx="470" cy="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GB" sz="1425">
                  <a:solidFill>
                    <a:srgbClr val="FF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msgothic"/>
                </a:rPr>
                <a:t>从可执行文件装入</a:t>
              </a:r>
            </a:p>
          </p:txBody>
        </p:sp>
      </p:grpSp>
      <p:sp>
        <p:nvSpPr>
          <p:cNvPr id="18457" name="Text Box 27">
            <a:extLst>
              <a:ext uri="{FF2B5EF4-FFF2-40B4-BE49-F238E27FC236}">
                <a16:creationId xmlns:a16="http://schemas.microsoft.com/office/drawing/2014/main" id="{E7868644-A767-470E-A724-C5F932198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6" y="1477566"/>
            <a:ext cx="2451497" cy="311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lang="zh-CN" altLang="en-US" sz="1425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1425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25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en-US" altLang="zh-CN" sz="1425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25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头表描述如何映射</a:t>
            </a: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3EC4688-959C-4290-B5F1-0A10DADD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2022874"/>
            <a:ext cx="2228850" cy="326231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ELF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头</a:t>
            </a:r>
          </a:p>
        </p:txBody>
      </p:sp>
      <p:sp>
        <p:nvSpPr>
          <p:cNvPr id="18459" name="Rectangle 3">
            <a:extLst>
              <a:ext uri="{FF2B5EF4-FFF2-40B4-BE49-F238E27FC236}">
                <a16:creationId xmlns:a16="http://schemas.microsoft.com/office/drawing/2014/main" id="{8F757835-EF46-4119-BC78-191304675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2349105"/>
            <a:ext cx="2228850" cy="521494"/>
          </a:xfrm>
          <a:prstGeom prst="rect">
            <a:avLst/>
          </a:prstGeom>
          <a:solidFill>
            <a:srgbClr val="993366">
              <a:alpha val="9019"/>
            </a:srgbClr>
          </a:solidFill>
          <a:ln w="25527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GB" sz="15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程序（段）头表</a:t>
            </a:r>
          </a:p>
        </p:txBody>
      </p:sp>
      <p:sp>
        <p:nvSpPr>
          <p:cNvPr id="18460" name="Rectangle 4">
            <a:extLst>
              <a:ext uri="{FF2B5EF4-FFF2-40B4-BE49-F238E27FC236}">
                <a16:creationId xmlns:a16="http://schemas.microsoft.com/office/drawing/2014/main" id="{F0F2A6B3-DF61-4224-B9FA-0F8306EE3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3196830"/>
            <a:ext cx="2228850" cy="326231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.text </a:t>
            </a:r>
            <a:r>
              <a:rPr lang="zh-CN" altLang="en-GB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节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62B8054F-0B3F-403E-91DD-CE4C65232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3849292"/>
            <a:ext cx="2228850" cy="3262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.data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节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9E31435E-1910-47B9-B2E9-6F40F6A78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4175524"/>
            <a:ext cx="2228850" cy="325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.bss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节</a:t>
            </a: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5EB0E6EB-C910-4E88-8D8D-7143FD787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4500564"/>
            <a:ext cx="2228850" cy="326231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.symtab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节</a:t>
            </a:r>
          </a:p>
        </p:txBody>
      </p:sp>
      <p:sp>
        <p:nvSpPr>
          <p:cNvPr id="33802" name="Rectangle 10">
            <a:extLst>
              <a:ext uri="{FF2B5EF4-FFF2-40B4-BE49-F238E27FC236}">
                <a16:creationId xmlns:a16="http://schemas.microsoft.com/office/drawing/2014/main" id="{2970892C-51E4-4131-8C86-8B4B61A91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4826795"/>
            <a:ext cx="2228850" cy="326231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.debug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节</a:t>
            </a:r>
          </a:p>
        </p:txBody>
      </p:sp>
      <p:sp>
        <p:nvSpPr>
          <p:cNvPr id="18465" name="Rectangle 5">
            <a:extLst>
              <a:ext uri="{FF2B5EF4-FFF2-40B4-BE49-F238E27FC236}">
                <a16:creationId xmlns:a16="http://schemas.microsoft.com/office/drawing/2014/main" id="{250E8A58-E1EA-4441-B7C3-BD307124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3523061"/>
            <a:ext cx="2228850" cy="326231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.rodata </a:t>
            </a:r>
            <a:r>
              <a:rPr lang="zh-CN" altLang="en-GB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节</a:t>
            </a: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5F28FA63-E64A-4C7F-93F4-193E8A4D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5153026"/>
            <a:ext cx="2228850" cy="326231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.line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节</a:t>
            </a:r>
          </a:p>
        </p:txBody>
      </p:sp>
      <p:sp>
        <p:nvSpPr>
          <p:cNvPr id="18467" name="Rectangle 4">
            <a:extLst>
              <a:ext uri="{FF2B5EF4-FFF2-40B4-BE49-F238E27FC236}">
                <a16:creationId xmlns:a16="http://schemas.microsoft.com/office/drawing/2014/main" id="{9E7796FA-37A6-486A-874D-44EA29A80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2870599"/>
            <a:ext cx="2228850" cy="326231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</p:spPr>
        <p:txBody>
          <a:bodyPr wrap="none" lIns="67500" tIns="35100" rIns="67500" bIns="351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.init </a:t>
            </a:r>
            <a:r>
              <a:rPr lang="zh-CN" altLang="en-GB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节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153C2F84-340E-4D88-921D-7640C177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5479258"/>
            <a:ext cx="2228850" cy="326231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500" tIns="35100" rIns="67500" bIns="35100" anchor="ctr"/>
          <a:lstStyle/>
          <a:p>
            <a:pPr algn="ctr" defTabSz="6858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GB" altLang="zh-CN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.strtab </a:t>
            </a:r>
            <a:r>
              <a:rPr lang="zh-CN" altLang="en-GB" sz="135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msgothic"/>
              </a:rPr>
              <a:t>节</a:t>
            </a:r>
          </a:p>
        </p:txBody>
      </p:sp>
      <p:grpSp>
        <p:nvGrpSpPr>
          <p:cNvPr id="770087" name="Group 39">
            <a:extLst>
              <a:ext uri="{FF2B5EF4-FFF2-40B4-BE49-F238E27FC236}">
                <a16:creationId xmlns:a16="http://schemas.microsoft.com/office/drawing/2014/main" id="{9FD2EE07-9C2A-45F8-8DEA-9B5F035A3C0E}"/>
              </a:ext>
            </a:extLst>
          </p:cNvPr>
          <p:cNvGrpSpPr>
            <a:grpSpLocks/>
          </p:cNvGrpSpPr>
          <p:nvPr/>
        </p:nvGrpSpPr>
        <p:grpSpPr bwMode="auto">
          <a:xfrm>
            <a:off x="3634980" y="3850481"/>
            <a:ext cx="1239440" cy="910829"/>
            <a:chOff x="2039" y="2533"/>
            <a:chExt cx="1114" cy="746"/>
          </a:xfrm>
        </p:grpSpPr>
        <p:sp>
          <p:nvSpPr>
            <p:cNvPr id="18474" name="Line 40">
              <a:extLst>
                <a:ext uri="{FF2B5EF4-FFF2-40B4-BE49-F238E27FC236}">
                  <a16:creationId xmlns:a16="http://schemas.microsoft.com/office/drawing/2014/main" id="{9AC227C7-A06D-417A-8106-250319D95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7" y="2823"/>
              <a:ext cx="896" cy="456"/>
            </a:xfrm>
            <a:prstGeom prst="line">
              <a:avLst/>
            </a:prstGeom>
            <a:noFill/>
            <a:ln w="38100">
              <a:solidFill>
                <a:srgbClr val="0066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5" name="AutoShape 41">
              <a:extLst>
                <a:ext uri="{FF2B5EF4-FFF2-40B4-BE49-F238E27FC236}">
                  <a16:creationId xmlns:a16="http://schemas.microsoft.com/office/drawing/2014/main" id="{A6A6A9EE-DD46-4E24-A9A5-6887952EF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2533"/>
              <a:ext cx="192" cy="539"/>
            </a:xfrm>
            <a:prstGeom prst="rightBrace">
              <a:avLst>
                <a:gd name="adj1" fmla="val 23394"/>
                <a:gd name="adj2" fmla="val 50000"/>
              </a:avLst>
            </a:prstGeom>
            <a:noFill/>
            <a:ln w="38100">
              <a:solidFill>
                <a:srgbClr val="0066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135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770090" name="Group 42">
            <a:extLst>
              <a:ext uri="{FF2B5EF4-FFF2-40B4-BE49-F238E27FC236}">
                <a16:creationId xmlns:a16="http://schemas.microsoft.com/office/drawing/2014/main" id="{51D70D59-5BBB-4AB5-88AE-4DD703696B43}"/>
              </a:ext>
            </a:extLst>
          </p:cNvPr>
          <p:cNvGrpSpPr>
            <a:grpSpLocks/>
          </p:cNvGrpSpPr>
          <p:nvPr/>
        </p:nvGrpSpPr>
        <p:grpSpPr bwMode="auto">
          <a:xfrm>
            <a:off x="3711178" y="2131219"/>
            <a:ext cx="1185863" cy="3092054"/>
            <a:chOff x="2157" y="1070"/>
            <a:chExt cx="996" cy="2597"/>
          </a:xfrm>
        </p:grpSpPr>
        <p:sp>
          <p:nvSpPr>
            <p:cNvPr id="18472" name="Line 43">
              <a:extLst>
                <a:ext uri="{FF2B5EF4-FFF2-40B4-BE49-F238E27FC236}">
                  <a16:creationId xmlns:a16="http://schemas.microsoft.com/office/drawing/2014/main" id="{5C82E0C8-DE1E-4ECA-A840-79E86F3A7D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3" y="1790"/>
              <a:ext cx="840" cy="187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3" name="AutoShape 44">
              <a:extLst>
                <a:ext uri="{FF2B5EF4-FFF2-40B4-BE49-F238E27FC236}">
                  <a16:creationId xmlns:a16="http://schemas.microsoft.com/office/drawing/2014/main" id="{E89EF364-B4D1-4C8F-AC72-FC69CF17F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1070"/>
              <a:ext cx="129" cy="1417"/>
            </a:xfrm>
            <a:prstGeom prst="rightBrace">
              <a:avLst>
                <a:gd name="adj1" fmla="val 91537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1350" b="0">
                <a:solidFill>
                  <a:srgbClr val="000000"/>
                </a:solidFill>
              </a:endParaRPr>
            </a:p>
          </p:txBody>
        </p:sp>
      </p:grpSp>
      <p:sp>
        <p:nvSpPr>
          <p:cNvPr id="18471" name="Text Box 46">
            <a:extLst>
              <a:ext uri="{FF2B5EF4-FFF2-40B4-BE49-F238E27FC236}">
                <a16:creationId xmlns:a16="http://schemas.microsoft.com/office/drawing/2014/main" id="{4D4A8CCA-0AEE-4805-B179-557FF375C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1" y="1531145"/>
            <a:ext cx="6310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1GB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2D44928-0FA6-498F-9550-61E4BBF01842}"/>
              </a:ext>
            </a:extLst>
          </p:cNvPr>
          <p:cNvSpPr/>
          <p:nvPr/>
        </p:nvSpPr>
        <p:spPr>
          <a:xfrm>
            <a:off x="1308657" y="1377002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1C4FF-675E-47B4-88D8-02C08BAA6E26}"/>
              </a:ext>
            </a:extLst>
          </p:cNvPr>
          <p:cNvSpPr/>
          <p:nvPr/>
        </p:nvSpPr>
        <p:spPr>
          <a:xfrm>
            <a:off x="5717620" y="1320009"/>
            <a:ext cx="28574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main()   {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int x=3,y=5,z;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z=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98108"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printf("z=%d\n",z);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376937-A8A2-4ADE-91FA-53F50E7952FC}"/>
              </a:ext>
            </a:extLst>
          </p:cNvPr>
          <p:cNvSpPr/>
          <p:nvPr/>
        </p:nvSpPr>
        <p:spPr>
          <a:xfrm>
            <a:off x="1308657" y="2828907"/>
            <a:ext cx="6778703" cy="3782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 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test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pl-PL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l-PL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 </a:t>
            </a:r>
            <a:r>
              <a:rPr lang="pl-PL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-g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-no-pie -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fno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-pic </a:t>
            </a:r>
            <a:r>
              <a:rPr lang="pl-PL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pl-PL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 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.c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编译为可执行目标文件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zh-CN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pl-PL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l-PL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pl-PL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-S </a:t>
            </a:r>
            <a:r>
              <a:rPr lang="en-US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.txt  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反汇编，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 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语句，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保存到文件 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zh-CN" altLang="zh-CN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pl-PL" altLang="zh-CN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：用编辑器打开</a:t>
            </a:r>
            <a:r>
              <a:rPr lang="en-US" altLang="zh-CN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.txt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// 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语言读懂汇编代码，认识指令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、认识虚拟地址</a:t>
            </a:r>
            <a:r>
              <a:rPr lang="zh-CN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  <a:defRPr/>
            </a:pP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AC17B9-21B4-4D6E-985C-1FBC4EB52575}"/>
              </a:ext>
            </a:extLst>
          </p:cNvPr>
          <p:cNvSpPr/>
          <p:nvPr/>
        </p:nvSpPr>
        <p:spPr>
          <a:xfrm>
            <a:off x="5951301" y="891824"/>
            <a:ext cx="653577" cy="3672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35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test.c</a:t>
            </a:r>
            <a:endParaRPr lang="zh-CN" altLang="zh-CN" sz="135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D93215-C739-4FBC-A176-BA04E4D76F89}"/>
              </a:ext>
            </a:extLst>
          </p:cNvPr>
          <p:cNvSpPr/>
          <p:nvPr/>
        </p:nvSpPr>
        <p:spPr>
          <a:xfrm>
            <a:off x="1308657" y="219717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准备阶段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3CE0F6E-4A68-470E-AD4C-F95DC4D2F761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2">
            <a:extLst>
              <a:ext uri="{FF2B5EF4-FFF2-40B4-BE49-F238E27FC236}">
                <a16:creationId xmlns:a16="http://schemas.microsoft.com/office/drawing/2014/main" id="{EB00EDF7-F318-4C0C-A16D-255007752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</p:spTree>
    <p:extLst>
      <p:ext uri="{BB962C8B-B14F-4D97-AF65-F5344CB8AC3E}">
        <p14:creationId xmlns:p14="http://schemas.microsoft.com/office/powerpoint/2010/main" val="458798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AE786E88-C4AF-42AA-B02D-E71FB004E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26" y="1517710"/>
            <a:ext cx="6968240" cy="5208931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E3BFC25-BD6A-49EE-BB09-B0178F926E11}"/>
              </a:ext>
            </a:extLst>
          </p:cNvPr>
          <p:cNvCxnSpPr>
            <a:cxnSpLocks/>
          </p:cNvCxnSpPr>
          <p:nvPr/>
        </p:nvCxnSpPr>
        <p:spPr>
          <a:xfrm flipH="1">
            <a:off x="2687679" y="1322614"/>
            <a:ext cx="378740" cy="9532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E0AC7A0-C65C-49F2-8120-2E30D4D81A9A}"/>
              </a:ext>
            </a:extLst>
          </p:cNvPr>
          <p:cNvCxnSpPr>
            <a:cxnSpLocks/>
          </p:cNvCxnSpPr>
          <p:nvPr/>
        </p:nvCxnSpPr>
        <p:spPr>
          <a:xfrm>
            <a:off x="1599010" y="1322614"/>
            <a:ext cx="0" cy="11665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8003E78-C78C-496B-A698-662A92E35855}"/>
              </a:ext>
            </a:extLst>
          </p:cNvPr>
          <p:cNvCxnSpPr>
            <a:cxnSpLocks/>
          </p:cNvCxnSpPr>
          <p:nvPr/>
        </p:nvCxnSpPr>
        <p:spPr>
          <a:xfrm flipH="1">
            <a:off x="3523807" y="1322614"/>
            <a:ext cx="619573" cy="11665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A67EEBA-EDDE-430F-8880-31CF299683E3}"/>
              </a:ext>
            </a:extLst>
          </p:cNvPr>
          <p:cNvCxnSpPr>
            <a:cxnSpLocks/>
          </p:cNvCxnSpPr>
          <p:nvPr/>
        </p:nvCxnSpPr>
        <p:spPr>
          <a:xfrm>
            <a:off x="5923280" y="1322614"/>
            <a:ext cx="0" cy="11665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27A5BB1-67A6-46B9-8D42-905C7F942BCE}"/>
              </a:ext>
            </a:extLst>
          </p:cNvPr>
          <p:cNvSpPr/>
          <p:nvPr/>
        </p:nvSpPr>
        <p:spPr>
          <a:xfrm>
            <a:off x="1195363" y="88683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737373-C3B8-4317-8DBE-897C2195237E}"/>
              </a:ext>
            </a:extLst>
          </p:cNvPr>
          <p:cNvSpPr/>
          <p:nvPr/>
        </p:nvSpPr>
        <p:spPr>
          <a:xfrm>
            <a:off x="2699992" y="913433"/>
            <a:ext cx="8707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E9F165-FE54-4020-AAC3-20FF21818172}"/>
              </a:ext>
            </a:extLst>
          </p:cNvPr>
          <p:cNvSpPr/>
          <p:nvPr/>
        </p:nvSpPr>
        <p:spPr>
          <a:xfrm>
            <a:off x="3848259" y="88683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机器指令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0E498B-D406-48DE-8526-D63A441A3CF3}"/>
              </a:ext>
            </a:extLst>
          </p:cNvPr>
          <p:cNvSpPr/>
          <p:nvPr/>
        </p:nvSpPr>
        <p:spPr>
          <a:xfrm>
            <a:off x="5350643" y="86130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汇编指令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7B9A02-848D-42EC-B2F2-7D6994BFAEE5}"/>
              </a:ext>
            </a:extLst>
          </p:cNvPr>
          <p:cNvSpPr/>
          <p:nvPr/>
        </p:nvSpPr>
        <p:spPr>
          <a:xfrm>
            <a:off x="3538086" y="21290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读懂汇编代码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1607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2D44928-0FA6-498F-9550-61E4BBF01842}"/>
              </a:ext>
            </a:extLst>
          </p:cNvPr>
          <p:cNvSpPr/>
          <p:nvPr/>
        </p:nvSpPr>
        <p:spPr>
          <a:xfrm>
            <a:off x="1493117" y="1388423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调试步骤：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376937-A8A2-4ADE-91FA-53F50E7952FC}"/>
              </a:ext>
            </a:extLst>
          </p:cNvPr>
          <p:cNvSpPr/>
          <p:nvPr/>
        </p:nvSpPr>
        <p:spPr>
          <a:xfrm>
            <a:off x="1025756" y="3311957"/>
            <a:ext cx="7549283" cy="322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1417796" algn="l"/>
              </a:tabLst>
            </a:pP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调式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工具，进入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调试环境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</a:pP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main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	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/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函数入口处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设置断点</a:t>
            </a:r>
          </a:p>
          <a:p>
            <a:pPr indent="201930" algn="just">
              <a:lnSpc>
                <a:spcPct val="150000"/>
              </a:lnSpc>
              <a:tabLst>
                <a:tab pos="1417796" algn="l"/>
              </a:tabLst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.c: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.c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行处设置断点</a:t>
            </a:r>
          </a:p>
          <a:p>
            <a:pPr algn="just">
              <a:lnSpc>
                <a:spcPct val="150000"/>
              </a:lnSpc>
              <a:tabLst>
                <a:tab pos="1417796" algn="l"/>
              </a:tabLst>
            </a:pP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pl-PL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启动运行程序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tabLst>
                <a:tab pos="1417796" algn="l"/>
              </a:tabLst>
            </a:pP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/>
              <a:t>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  register  </a:t>
            </a:r>
            <a:r>
              <a:rPr lang="en-US" altLang="zh-CN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en-US" altLang="zh-CN" dirty="0"/>
              <a:t>	 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en-US" altLang="zh-CN" b="1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的内容，知晓当前程序断点位置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tabLst>
                <a:tab pos="1417796" algn="l"/>
              </a:tabLst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//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建议，不是必须</a:t>
            </a:r>
            <a:endParaRPr lang="zh-CN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tabLst>
                <a:tab pos="1417796" algn="l"/>
              </a:tabLst>
              <a:defRPr/>
            </a:pP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just">
              <a:lnSpc>
                <a:spcPct val="120000"/>
              </a:lnSpc>
              <a:tabLst>
                <a:tab pos="1417796" algn="l"/>
              </a:tabLst>
              <a:defRPr/>
            </a:pPr>
            <a:r>
              <a:rPr lang="en-US" altLang="zh-CN" b="1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调试命令有很多，这里介绍最基本的命令，够用的原则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D93215-C739-4FBC-A176-BA04E4D76F89}"/>
              </a:ext>
            </a:extLst>
          </p:cNvPr>
          <p:cNvSpPr/>
          <p:nvPr/>
        </p:nvSpPr>
        <p:spPr>
          <a:xfrm>
            <a:off x="1493117" y="2489201"/>
            <a:ext cx="17219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zh-CN" altLang="en-US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4643916-0D03-4E6D-A982-ED3A447A146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id="{6BA7CA23-15F6-4C59-9B00-4C320AD96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4A744E-D480-4BEC-AF8B-F517E1D0BD6B}"/>
              </a:ext>
            </a:extLst>
          </p:cNvPr>
          <p:cNvSpPr/>
          <p:nvPr/>
        </p:nvSpPr>
        <p:spPr>
          <a:xfrm>
            <a:off x="5717620" y="1320009"/>
            <a:ext cx="28574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main()   {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int x=3,y=5,z;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z=</a:t>
            </a:r>
            <a:r>
              <a:rPr lang="en-US" altLang="zh-CN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98108" algn="just">
              <a:defRPr/>
            </a:pP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printf("z=%d\n",z);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pl-PL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4B59F2-30A3-4D62-8E5A-8FA79159DEE7}"/>
              </a:ext>
            </a:extLst>
          </p:cNvPr>
          <p:cNvSpPr/>
          <p:nvPr/>
        </p:nvSpPr>
        <p:spPr>
          <a:xfrm>
            <a:off x="5951301" y="891824"/>
            <a:ext cx="653577" cy="3672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35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test.c</a:t>
            </a:r>
            <a:endParaRPr lang="zh-CN" altLang="zh-CN" sz="135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7772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2D44928-0FA6-498F-9550-61E4BBF01842}"/>
              </a:ext>
            </a:extLst>
          </p:cNvPr>
          <p:cNvSpPr/>
          <p:nvPr/>
        </p:nvSpPr>
        <p:spPr>
          <a:xfrm>
            <a:off x="1392318" y="1107146"/>
            <a:ext cx="53126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调试步骤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执行程序相关的基本命令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9BE4F7-6544-44C5-9869-40F1347577D8}"/>
              </a:ext>
            </a:extLst>
          </p:cNvPr>
          <p:cNvSpPr/>
          <p:nvPr/>
        </p:nvSpPr>
        <p:spPr>
          <a:xfrm>
            <a:off x="1641282" y="1799985"/>
            <a:ext cx="7502718" cy="4431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1417796" algn="l"/>
              </a:tabLst>
            </a:pP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执行一条</a:t>
            </a:r>
            <a:r>
              <a:rPr lang="zh-CN" altLang="en-US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r>
              <a:rPr lang="zh-CN" altLang="zh-CN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1417796" algn="l"/>
              </a:tabLst>
            </a:pP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执行一条</a:t>
            </a:r>
            <a:r>
              <a:rPr lang="en-US" altLang="zh-CN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sz="15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1417796" algn="l"/>
              </a:tabLst>
            </a:pP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 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继续执行下一条语句</a:t>
            </a:r>
            <a:endParaRPr lang="en-US" altLang="zh-CN" sz="15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1417796" algn="l"/>
              </a:tabLst>
            </a:pP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//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适合执行</a:t>
            </a:r>
            <a:r>
              <a:rPr lang="pl-PL" altLang="zh-CN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printf()</a:t>
            </a:r>
            <a:r>
              <a:rPr lang="zh-CN" altLang="en-US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等系统函数</a:t>
            </a:r>
            <a:r>
              <a:rPr lang="zh-CN" altLang="en-US" sz="15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，不会进入函数内部。</a:t>
            </a:r>
            <a:endParaRPr lang="en-US" altLang="zh-CN" sz="15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1417796" algn="l"/>
              </a:tabLst>
            </a:pPr>
            <a:r>
              <a:rPr lang="en-US" altLang="zh-CN" sz="15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en-US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使程序</a:t>
            </a:r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继续执行</a:t>
            </a:r>
            <a:endParaRPr lang="zh-CN" altLang="zh-CN" sz="1500" b="1" kern="1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1417796" algn="l"/>
              </a:tabLst>
            </a:pP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nfo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egister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查看寄存器内容</a:t>
            </a:r>
            <a:endParaRPr lang="en-US" altLang="zh-CN" sz="1500" b="1" kern="1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tabLst>
                <a:tab pos="1417796" algn="l"/>
              </a:tabLst>
            </a:pP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nfo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egister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esp ebp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nfo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egister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endParaRPr lang="en-US" altLang="zh-CN" sz="15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tabLst>
                <a:tab pos="1417796" algn="l"/>
              </a:tabLst>
            </a:pP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nfo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lang="en-US" altLang="zh-CN" sz="1500" b="1" kern="1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egister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flags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给定的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寄存器内容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5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417796" algn="l"/>
              </a:tabLst>
            </a:pP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x/</a:t>
            </a:r>
            <a:r>
              <a:rPr lang="en-US" altLang="zh-CN" sz="15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NFU 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地址        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查看存储单元的</a:t>
            </a:r>
            <a:r>
              <a:rPr lang="zh-CN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</a:t>
            </a:r>
            <a:endParaRPr lang="en-US" altLang="zh-CN" sz="1500" b="1" kern="1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tabLst>
                <a:tab pos="1417796" algn="l"/>
              </a:tabLst>
            </a:pP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x/</a:t>
            </a:r>
            <a:r>
              <a:rPr lang="pl-PL" altLang="zh-CN" sz="15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xb $esp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按字节显示当前栈帧内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</a:t>
            </a:r>
            <a:endParaRPr lang="en-US" altLang="zh-CN" sz="15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tabLst>
                <a:tab pos="1417796" algn="l"/>
              </a:tabLst>
            </a:pP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//y=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+4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当前栈帧的字节单元数</a:t>
            </a:r>
          </a:p>
          <a:p>
            <a:pPr indent="200025" algn="just">
              <a:lnSpc>
                <a:spcPct val="120000"/>
              </a:lnSpc>
              <a:tabLst>
                <a:tab pos="1417796" algn="l"/>
              </a:tabLst>
            </a:pP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x/</a:t>
            </a:r>
            <a:r>
              <a:rPr lang="pl-PL" altLang="zh-CN" sz="15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xw $esp	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字节显示当前栈帧内容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indent="200025" algn="just">
              <a:lnSpc>
                <a:spcPct val="120000"/>
              </a:lnSpc>
              <a:tabLst>
                <a:tab pos="1417796" algn="l"/>
              </a:tabLst>
            </a:pP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/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/z=(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+4)/4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当前栈帧的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字节单元数</a:t>
            </a:r>
          </a:p>
          <a:p>
            <a:pPr algn="just">
              <a:lnSpc>
                <a:spcPct val="120000"/>
              </a:lnSpc>
              <a:tabLst>
                <a:tab pos="1417796" algn="l"/>
              </a:tabLst>
            </a:pP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x/</a:t>
            </a:r>
            <a:r>
              <a:rPr lang="en-US" altLang="zh-CN" sz="15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0x08049162</a:t>
            </a: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0x08049162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开始的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个字节的存储内容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pl-PL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quit </a:t>
            </a:r>
            <a:r>
              <a:rPr lang="pl-PL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5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退出调试</a:t>
            </a:r>
            <a:r>
              <a:rPr lang="pl-PL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5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871E98CD-07E2-427A-AE9F-28A3D969562E}"/>
              </a:ext>
            </a:extLst>
          </p:cNvPr>
          <p:cNvSpPr/>
          <p:nvPr/>
        </p:nvSpPr>
        <p:spPr>
          <a:xfrm>
            <a:off x="1426582" y="1951346"/>
            <a:ext cx="66535" cy="1145815"/>
          </a:xfrm>
          <a:prstGeom prst="lef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8DE9A1-7164-4CA7-B0F3-7A277A60005A}"/>
              </a:ext>
            </a:extLst>
          </p:cNvPr>
          <p:cNvSpPr/>
          <p:nvPr/>
        </p:nvSpPr>
        <p:spPr>
          <a:xfrm>
            <a:off x="324310" y="2400671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zh-CN" altLang="en-US" sz="1350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6C235A8B-8822-4B04-8412-3E59B109818F}"/>
              </a:ext>
            </a:extLst>
          </p:cNvPr>
          <p:cNvSpPr/>
          <p:nvPr/>
        </p:nvSpPr>
        <p:spPr>
          <a:xfrm>
            <a:off x="1406576" y="3366730"/>
            <a:ext cx="45719" cy="930126"/>
          </a:xfrm>
          <a:prstGeom prst="lef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E975BA-F9F2-400D-8BDC-5C7A2A326DAC}"/>
              </a:ext>
            </a:extLst>
          </p:cNvPr>
          <p:cNvSpPr/>
          <p:nvPr/>
        </p:nvSpPr>
        <p:spPr>
          <a:xfrm>
            <a:off x="375992" y="3670210"/>
            <a:ext cx="101632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查看数据</a:t>
            </a:r>
            <a:endParaRPr lang="zh-CN" altLang="en-US" sz="135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660A78-4E1E-409D-932E-CBDBB095D1CB}"/>
              </a:ext>
            </a:extLst>
          </p:cNvPr>
          <p:cNvSpPr/>
          <p:nvPr/>
        </p:nvSpPr>
        <p:spPr>
          <a:xfrm>
            <a:off x="336528" y="5631419"/>
            <a:ext cx="95410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退出调试</a:t>
            </a:r>
            <a:endParaRPr lang="zh-CN" altLang="en-US" sz="1350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8E6FFCB-B6E3-4298-8AB1-7C8B410A0255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C67D7AAC-BB49-4124-AB8E-ACC4A2E25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</p:spTree>
    <p:extLst>
      <p:ext uri="{BB962C8B-B14F-4D97-AF65-F5344CB8AC3E}">
        <p14:creationId xmlns:p14="http://schemas.microsoft.com/office/powerpoint/2010/main" val="269480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353A45-67E1-4FBA-AF4C-55C9E08AA1EC}"/>
              </a:ext>
            </a:extLst>
          </p:cNvPr>
          <p:cNvSpPr/>
          <p:nvPr/>
        </p:nvSpPr>
        <p:spPr>
          <a:xfrm>
            <a:off x="388731" y="2005914"/>
            <a:ext cx="40233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main() {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int x=3,y=5,z;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z=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98108" algn="just">
              <a:defRPr/>
            </a:pP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printf("z=%d\n",z);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r>
              <a:rPr lang="pl-PL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7D0763-A6F9-454F-A740-C5278796CFCE}"/>
              </a:ext>
            </a:extLst>
          </p:cNvPr>
          <p:cNvSpPr/>
          <p:nvPr/>
        </p:nvSpPr>
        <p:spPr>
          <a:xfrm>
            <a:off x="497862" y="1356979"/>
            <a:ext cx="808733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sz="2000" b="1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test.c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的调试执行                 对照着反汇编代码调试</a:t>
            </a:r>
            <a:endParaRPr lang="zh-CN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C9ACAD-4758-4E53-9F93-76615DBB8ED4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6E12ACC7-1C2C-4BB9-8477-34C54C562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905DC2-15FA-4609-9AA1-8FA6EBCFC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595" y="2105411"/>
            <a:ext cx="5229673" cy="390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1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10EC76-8F1B-4AF4-80E6-090045CE3F47}"/>
              </a:ext>
            </a:extLst>
          </p:cNvPr>
          <p:cNvSpPr/>
          <p:nvPr/>
        </p:nvSpPr>
        <p:spPr>
          <a:xfrm>
            <a:off x="4677802" y="1762090"/>
            <a:ext cx="4340493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bao@debian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:~/test$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test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break main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run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0x8049173            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r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0xbffff338          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x/4xb 0xbffff32c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0xbffff32c:	0x03 0x00 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x/1xw 0xbffff32c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0xbffff32c:	0x00000003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x/2xw 0xbffff328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0xbffff328:	0x00000005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0x00000003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3AB4651-D5D7-41FD-90A6-FBC18AD70A28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695A20D1-DED0-4948-BAA0-5B1527DD2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C81C4A-7050-4C47-8F76-E39F62DB3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" y="1911553"/>
            <a:ext cx="4456488" cy="3331334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50C752-6013-4677-9601-25D7A3AB6311}"/>
              </a:ext>
            </a:extLst>
          </p:cNvPr>
          <p:cNvCxnSpPr>
            <a:cxnSpLocks/>
          </p:cNvCxnSpPr>
          <p:nvPr/>
        </p:nvCxnSpPr>
        <p:spPr>
          <a:xfrm flipH="1">
            <a:off x="853768" y="3058487"/>
            <a:ext cx="3824034" cy="4165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4D335FB-25D7-4C84-8C89-EC5C03433A87}"/>
              </a:ext>
            </a:extLst>
          </p:cNvPr>
          <p:cNvCxnSpPr>
            <a:cxnSpLocks/>
          </p:cNvCxnSpPr>
          <p:nvPr/>
        </p:nvCxnSpPr>
        <p:spPr>
          <a:xfrm flipH="1">
            <a:off x="4165928" y="3341179"/>
            <a:ext cx="628418" cy="1338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C16A9F1-3501-441C-A7AD-A20839635BDA}"/>
              </a:ext>
            </a:extLst>
          </p:cNvPr>
          <p:cNvCxnSpPr>
            <a:cxnSpLocks/>
          </p:cNvCxnSpPr>
          <p:nvPr/>
        </p:nvCxnSpPr>
        <p:spPr>
          <a:xfrm flipH="1">
            <a:off x="4237048" y="3577220"/>
            <a:ext cx="587417" cy="472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319ED96-CDAD-45DB-84FF-D7C07B03C76F}"/>
              </a:ext>
            </a:extLst>
          </p:cNvPr>
          <p:cNvCxnSpPr>
            <a:cxnSpLocks/>
          </p:cNvCxnSpPr>
          <p:nvPr/>
        </p:nvCxnSpPr>
        <p:spPr>
          <a:xfrm flipH="1" flipV="1">
            <a:off x="3769688" y="3505527"/>
            <a:ext cx="981446" cy="9336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812DBC6-E9C9-41A2-8853-9155170BB22F}"/>
              </a:ext>
            </a:extLst>
          </p:cNvPr>
          <p:cNvSpPr/>
          <p:nvPr/>
        </p:nvSpPr>
        <p:spPr>
          <a:xfrm>
            <a:off x="427934" y="1016395"/>
            <a:ext cx="6005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程序调试执行，查看初始化后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0592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D3F8A17-BFA4-419C-9F9A-DBF2834A8B67}"/>
              </a:ext>
            </a:extLst>
          </p:cNvPr>
          <p:cNvSpPr/>
          <p:nvPr/>
        </p:nvSpPr>
        <p:spPr>
          <a:xfrm>
            <a:off x="4572000" y="1265575"/>
            <a:ext cx="4430205" cy="4801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0x8049181 </a:t>
            </a: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0x3                 3</a:t>
            </a:r>
          </a:p>
          <a:p>
            <a:pPr lvl="0"/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0x5                 5</a:t>
            </a: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0x3                 3</a:t>
            </a:r>
          </a:p>
          <a:p>
            <a:pPr lvl="0"/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0x8                 8</a:t>
            </a: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x/3xw 0xbffff324</a:t>
            </a:r>
          </a:p>
          <a:p>
            <a:pPr lvl="0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0xbffff324:	0x00000008	0x00000005	0x00000003</a:t>
            </a: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next</a:t>
            </a:r>
          </a:p>
          <a:p>
            <a:pPr lvl="0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quit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3AB4651-D5D7-41FD-90A6-FBC18AD70A28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695A20D1-DED0-4948-BAA0-5B1527DD2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7" y="263404"/>
            <a:ext cx="615704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OBJDUMP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8F0C94-DCFF-4A71-A8F6-6800D4EAF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7" y="1791251"/>
            <a:ext cx="4456488" cy="3331334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9420065-9789-4770-B5EA-5DCE1A9EAC99}"/>
              </a:ext>
            </a:extLst>
          </p:cNvPr>
          <p:cNvCxnSpPr>
            <a:cxnSpLocks/>
          </p:cNvCxnSpPr>
          <p:nvPr/>
        </p:nvCxnSpPr>
        <p:spPr>
          <a:xfrm flipH="1">
            <a:off x="752201" y="1791251"/>
            <a:ext cx="3819800" cy="18987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AD92967-B0D4-4BEF-94A6-BD5919E9B368}"/>
              </a:ext>
            </a:extLst>
          </p:cNvPr>
          <p:cNvCxnSpPr>
            <a:cxnSpLocks/>
          </p:cNvCxnSpPr>
          <p:nvPr/>
        </p:nvCxnSpPr>
        <p:spPr>
          <a:xfrm flipH="1">
            <a:off x="2906120" y="2023785"/>
            <a:ext cx="1741235" cy="17068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D3400D-5EC8-4492-B863-112140DB9E5F}"/>
              </a:ext>
            </a:extLst>
          </p:cNvPr>
          <p:cNvCxnSpPr>
            <a:cxnSpLocks/>
          </p:cNvCxnSpPr>
          <p:nvPr/>
        </p:nvCxnSpPr>
        <p:spPr>
          <a:xfrm flipH="1">
            <a:off x="2906120" y="2308265"/>
            <a:ext cx="1741236" cy="15475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EC2B54F-A140-448F-AED4-D5D2AC7A5DE8}"/>
              </a:ext>
            </a:extLst>
          </p:cNvPr>
          <p:cNvCxnSpPr>
            <a:cxnSpLocks/>
          </p:cNvCxnSpPr>
          <p:nvPr/>
        </p:nvCxnSpPr>
        <p:spPr>
          <a:xfrm flipH="1">
            <a:off x="2906121" y="3456918"/>
            <a:ext cx="1751394" cy="5480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9150CC1-5FF6-4320-9C8F-DED87B8F8FE0}"/>
              </a:ext>
            </a:extLst>
          </p:cNvPr>
          <p:cNvCxnSpPr>
            <a:cxnSpLocks/>
          </p:cNvCxnSpPr>
          <p:nvPr/>
        </p:nvCxnSpPr>
        <p:spPr>
          <a:xfrm flipH="1" flipV="1">
            <a:off x="2906120" y="4203103"/>
            <a:ext cx="1741235" cy="2933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7397D7D-551A-4634-8A22-6ADEE6A61214}"/>
              </a:ext>
            </a:extLst>
          </p:cNvPr>
          <p:cNvCxnSpPr>
            <a:cxnSpLocks/>
          </p:cNvCxnSpPr>
          <p:nvPr/>
        </p:nvCxnSpPr>
        <p:spPr>
          <a:xfrm flipH="1" flipV="1">
            <a:off x="1543414" y="4277127"/>
            <a:ext cx="3028585" cy="12443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54E18BF-7774-4BE2-9070-E74003ACE8A8}"/>
              </a:ext>
            </a:extLst>
          </p:cNvPr>
          <p:cNvCxnSpPr>
            <a:cxnSpLocks/>
          </p:cNvCxnSpPr>
          <p:nvPr/>
        </p:nvCxnSpPr>
        <p:spPr>
          <a:xfrm flipH="1" flipV="1">
            <a:off x="3927564" y="4203103"/>
            <a:ext cx="719791" cy="5588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447F091-4F89-42DB-A031-BF005CB3814A}"/>
              </a:ext>
            </a:extLst>
          </p:cNvPr>
          <p:cNvSpPr/>
          <p:nvPr/>
        </p:nvSpPr>
        <p:spPr>
          <a:xfrm>
            <a:off x="4571999" y="624430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根据需求选择执行的命令！！！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5DB927-17C5-4AB7-85BD-87C62C9A1F00}"/>
              </a:ext>
            </a:extLst>
          </p:cNvPr>
          <p:cNvSpPr/>
          <p:nvPr/>
        </p:nvSpPr>
        <p:spPr>
          <a:xfrm>
            <a:off x="427934" y="1016395"/>
            <a:ext cx="4750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程序，查看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2422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1771612" y="1639437"/>
            <a:ext cx="6013849" cy="329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实验系统的安装和配置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GCC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OBJDUMP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GDB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工具的使用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数据的机器级表示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数据的基本运算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程序的机器级表示</a:t>
            </a:r>
          </a:p>
        </p:txBody>
      </p:sp>
    </p:spTree>
    <p:extLst>
      <p:ext uri="{BB962C8B-B14F-4D97-AF65-F5344CB8AC3E}">
        <p14:creationId xmlns:p14="http://schemas.microsoft.com/office/powerpoint/2010/main" val="918054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AE7E5E21-612A-429A-8E9A-B982B0C42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175" y="283968"/>
            <a:ext cx="366218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115707-416D-498D-8D80-B9D5FA48E2DB}"/>
              </a:ext>
            </a:extLst>
          </p:cNvPr>
          <p:cNvSpPr/>
          <p:nvPr/>
        </p:nvSpPr>
        <p:spPr>
          <a:xfrm>
            <a:off x="690880" y="1000383"/>
            <a:ext cx="5872480" cy="181588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main()  {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int ai = 200, bi = -200, ci =2147483649 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unsigned au = 200,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=-200, cu =0x80000001;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("ai=%d,   bi=%d,  ci=%d \n", ai, bi, ci);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("au=%u ,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=%u,  cu=%u \n", au,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cu);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83D97C-B69C-4BFF-A5EB-EFB18F474BBB}"/>
              </a:ext>
            </a:extLst>
          </p:cNvPr>
          <p:cNvSpPr/>
          <p:nvPr/>
        </p:nvSpPr>
        <p:spPr>
          <a:xfrm>
            <a:off x="690880" y="3031708"/>
            <a:ext cx="6959282" cy="378565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main()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float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fzero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=0,fnzero=-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fzero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                       // 0,-0 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float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ffrac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=1e-40,fnfrac=-1e-40;                   //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非规格化数</a:t>
            </a: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finf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=4e38,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fninf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=-4e38;  	                  //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正无穷大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负无穷大 </a:t>
            </a: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 fnan1=finf+fninf,fnan2=-fnan1;          //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无定义数</a:t>
            </a: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fnormal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=5.0,fnnormal=-5;                   //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规格化数 </a:t>
            </a: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 finf2=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fnormal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fzero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                          //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除以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无穷大</a:t>
            </a: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("%f  %f\n",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fzero,fnzero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("%.50f\n%.50f\n",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ffrac,fnfrac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("%f  %f\n",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finf,fninf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("%f  %f\n",fnan1,fnan2);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("%f  %f\n",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fnormal,fnnormal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("%f\n",finf2);</a:t>
            </a: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5642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0062DE-FC0C-44F8-831E-4180E0BD5833}"/>
              </a:ext>
            </a:extLst>
          </p:cNvPr>
          <p:cNvSpPr/>
          <p:nvPr/>
        </p:nvSpPr>
        <p:spPr>
          <a:xfrm>
            <a:off x="1493116" y="4436589"/>
            <a:ext cx="3835967" cy="1393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整型数据的真值与机器数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浮点型数据的真值与机器数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</a:t>
            </a:r>
          </a:p>
          <a:p>
            <a:pPr marL="257175" indent="-257175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C746B4-52A2-413D-8331-71FE6CD4DD52}"/>
              </a:ext>
            </a:extLst>
          </p:cNvPr>
          <p:cNvSpPr/>
          <p:nvPr/>
        </p:nvSpPr>
        <p:spPr>
          <a:xfrm>
            <a:off x="1336949" y="1505695"/>
            <a:ext cx="6469379" cy="239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认识数据：数据的编码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带符号整数、无符号整数、   浮点数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          二进制编码      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找到数据：数据的寻址方式、大端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小端、边界对齐、宽度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指令中、寄存器、存储器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观察数据的变化：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数据的运算、指令的功能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调试程序的过程就是观察程序执行过程中数据的变化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510A63B-160F-4FF2-B353-AA5534DE1AB8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C983D797-2C27-420B-8C0A-21340EA53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175" y="283968"/>
            <a:ext cx="3662185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297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AE7E5E21-612A-429A-8E9A-B982B0C42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529" y="256885"/>
            <a:ext cx="7428814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115707-416D-498D-8D80-B9D5FA48E2DB}"/>
              </a:ext>
            </a:extLst>
          </p:cNvPr>
          <p:cNvSpPr/>
          <p:nvPr/>
        </p:nvSpPr>
        <p:spPr>
          <a:xfrm>
            <a:off x="690880" y="1115570"/>
            <a:ext cx="5872480" cy="203132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main() 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int ai = 200, bi = -200, ci =2147483649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unsigned au = 200,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=-200, cu =0x80000001;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("ai=%d,   bi=%d,  ci=%d \n", ai, bi, ci);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("au=%u ,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=%u,  cu=%u \n", au,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cu);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F1DD067-CA7C-4B66-A95B-D406E5949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622587"/>
              </p:ext>
            </p:extLst>
          </p:nvPr>
        </p:nvGraphicFramePr>
        <p:xfrm>
          <a:off x="690880" y="4160006"/>
          <a:ext cx="6766561" cy="2434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406">
                  <a:extLst>
                    <a:ext uri="{9D8B030D-6E8A-4147-A177-3AD203B41FA5}">
                      <a16:colId xmlns:a16="http://schemas.microsoft.com/office/drawing/2014/main" val="942975826"/>
                    </a:ext>
                  </a:extLst>
                </a:gridCol>
                <a:gridCol w="2224639">
                  <a:extLst>
                    <a:ext uri="{9D8B030D-6E8A-4147-A177-3AD203B41FA5}">
                      <a16:colId xmlns:a16="http://schemas.microsoft.com/office/drawing/2014/main" val="852514350"/>
                    </a:ext>
                  </a:extLst>
                </a:gridCol>
                <a:gridCol w="1769348">
                  <a:extLst>
                    <a:ext uri="{9D8B030D-6E8A-4147-A177-3AD203B41FA5}">
                      <a16:colId xmlns:a16="http://schemas.microsoft.com/office/drawing/2014/main" val="2870040826"/>
                    </a:ext>
                  </a:extLst>
                </a:gridCol>
                <a:gridCol w="1817168">
                  <a:extLst>
                    <a:ext uri="{9D8B030D-6E8A-4147-A177-3AD203B41FA5}">
                      <a16:colId xmlns:a16="http://schemas.microsoft.com/office/drawing/2014/main" val="109296494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变量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初始化数据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机器数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输出内容（真值）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92173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0x000000c8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12226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0xffffff38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6588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ci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2147483649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0x80000001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-2147483647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892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0x000000c8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10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0xffffff38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4294967096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69022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0x8000 0001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0x80000001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2147483649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83725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16A3A3B-3E55-4DB2-9EA2-80D43729B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3268632"/>
            <a:ext cx="5145161" cy="76963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42826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F88D6ED-1439-422C-9291-0FB0E3AF4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22713"/>
              </p:ext>
            </p:extLst>
          </p:nvPr>
        </p:nvGraphicFramePr>
        <p:xfrm>
          <a:off x="5366191" y="3616196"/>
          <a:ext cx="1751236" cy="270272"/>
        </p:xfrm>
        <a:graphic>
          <a:graphicData uri="http://schemas.openxmlformats.org/drawingml/2006/table">
            <a:tbl>
              <a:tblPr firstRow="1" firstCol="1" bandRow="1"/>
              <a:tblGrid>
                <a:gridCol w="55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符号</a:t>
                      </a:r>
                      <a:endParaRPr lang="zh-CN" sz="15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51443" marR="514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数值</a:t>
                      </a:r>
                      <a:endParaRPr lang="zh-CN" sz="15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51443" marR="514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F2F4529-5C4D-4D99-8F89-16011CE00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1606"/>
              </p:ext>
            </p:extLst>
          </p:nvPr>
        </p:nvGraphicFramePr>
        <p:xfrm>
          <a:off x="7329181" y="3616196"/>
          <a:ext cx="1492141" cy="269081"/>
        </p:xfrm>
        <a:graphic>
          <a:graphicData uri="http://schemas.openxmlformats.org/drawingml/2006/table">
            <a:tbl>
              <a:tblPr firstRow="1" firstCol="1" bandRow="1"/>
              <a:tblGrid>
                <a:gridCol w="149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90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数值</a:t>
                      </a:r>
                      <a:endParaRPr lang="zh-CN" sz="1500" kern="100" dirty="0"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51443" marR="514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3579639-BA22-4C6C-A106-122E7FAB1BDC}"/>
              </a:ext>
            </a:extLst>
          </p:cNvPr>
          <p:cNvSpPr/>
          <p:nvPr/>
        </p:nvSpPr>
        <p:spPr>
          <a:xfrm>
            <a:off x="1219872" y="3255646"/>
            <a:ext cx="6064847" cy="3083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defRPr/>
            </a:pP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问题：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带符号整数、无符号整数的编码格式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编译器对常量是怎么编码的？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algn="just">
              <a:lnSpc>
                <a:spcPct val="140000"/>
              </a:lnSpc>
              <a:defRPr/>
            </a:pP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        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真值</a:t>
            </a: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—&gt;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机器数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变量的机器数是怎么得到的？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输出内容是怎么转换的？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algn="just">
              <a:lnSpc>
                <a:spcPct val="140000"/>
              </a:lnSpc>
              <a:defRPr/>
            </a:pP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       </a:t>
            </a:r>
            <a:r>
              <a:rPr lang="en-US" altLang="zh-CN" sz="1600" b="1" kern="100" dirty="0" err="1">
                <a:latin typeface="微软雅黑" pitchFamily="34" charset="-122"/>
                <a:ea typeface="微软雅黑" pitchFamily="34" charset="-122"/>
                <a:cs typeface="Times New Roman"/>
              </a:rPr>
              <a:t>printf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的输出格式有关，机器数</a:t>
            </a: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-&gt;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真值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200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和</a:t>
            </a: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-200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是相反数，</a:t>
            </a: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ai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和</a:t>
            </a: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bi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机器数的</a:t>
            </a: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01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序列有什么特点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pPr marL="257175" indent="-257175" algn="just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bi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和</a:t>
            </a:r>
            <a:r>
              <a:rPr lang="en-US" altLang="zh-CN" sz="1600" b="1" kern="100" dirty="0" err="1">
                <a:latin typeface="微软雅黑" pitchFamily="34" charset="-122"/>
                <a:ea typeface="微软雅黑" pitchFamily="34" charset="-122"/>
                <a:cs typeface="Times New Roman"/>
              </a:rPr>
              <a:t>bu</a:t>
            </a:r>
            <a:r>
              <a:rPr lang="zh-CN" altLang="en-US" sz="160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的初始化值一样，它们的机器数和输出内容一样吗？</a:t>
            </a:r>
            <a:endParaRPr lang="en-US" altLang="zh-CN" sz="1600" b="1" kern="100" dirty="0">
              <a:latin typeface="微软雅黑" pitchFamily="34" charset="-122"/>
              <a:ea typeface="微软雅黑" pitchFamily="34" charset="-122"/>
              <a:cs typeface="Times New Roma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CF853F-804C-4439-ABCB-45A0424676F9}"/>
              </a:ext>
            </a:extLst>
          </p:cNvPr>
          <p:cNvSpPr/>
          <p:nvPr/>
        </p:nvSpPr>
        <p:spPr>
          <a:xfrm>
            <a:off x="5653665" y="3278959"/>
            <a:ext cx="105028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带符号整数</a:t>
            </a:r>
            <a:endParaRPr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B52D70-7819-4A29-A3C0-DC371ADA77C6}"/>
              </a:ext>
            </a:extLst>
          </p:cNvPr>
          <p:cNvSpPr/>
          <p:nvPr/>
        </p:nvSpPr>
        <p:spPr>
          <a:xfrm>
            <a:off x="7499165" y="3292801"/>
            <a:ext cx="105028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kern="100" dirty="0">
                <a:latin typeface="微软雅黑" pitchFamily="34" charset="-122"/>
                <a:ea typeface="微软雅黑" pitchFamily="34" charset="-122"/>
                <a:cs typeface="Times New Roman"/>
              </a:rPr>
              <a:t>无符号整数</a:t>
            </a:r>
            <a:endParaRPr lang="zh-CN" altLang="en-US" sz="1350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81C8DD-13FE-4FE9-B93F-1DD6587F0EB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5CB9214-E4D4-4A33-A7F3-0DAFF333EE7F}"/>
              </a:ext>
            </a:extLst>
          </p:cNvPr>
          <p:cNvSpPr/>
          <p:nvPr/>
        </p:nvSpPr>
        <p:spPr>
          <a:xfrm>
            <a:off x="1035959" y="1060438"/>
            <a:ext cx="5872480" cy="203132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main() 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int ai = 200, bi = -200, ci =2147483649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unsigned au = 200,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=-200, cu =0x80000001;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("ai=%d,   bi=%d,  ci=%d \n", ai, bi, ci);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("au=%u , 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=%u,  cu=%u \n", au,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cu);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1A83968-EAF3-4C1C-8B40-4D5148F84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529" y="256885"/>
            <a:ext cx="7428814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4395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81C8DD-13FE-4FE9-B93F-1DD6587F0EB0}"/>
              </a:ext>
            </a:extLst>
          </p:cNvPr>
          <p:cNvCxnSpPr>
            <a:cxnSpLocks/>
          </p:cNvCxnSpPr>
          <p:nvPr/>
        </p:nvCxnSpPr>
        <p:spPr>
          <a:xfrm>
            <a:off x="1048936" y="885375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59A54663-36EA-425D-A784-60D4645AC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391" y="1059456"/>
            <a:ext cx="6035211" cy="4052191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DFB969A-3AEC-4774-9530-F61D9B5A3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024839"/>
              </p:ext>
            </p:extLst>
          </p:nvPr>
        </p:nvGraphicFramePr>
        <p:xfrm>
          <a:off x="609600" y="5620732"/>
          <a:ext cx="7297336" cy="1080000"/>
        </p:xfrm>
        <a:graphic>
          <a:graphicData uri="http://schemas.openxmlformats.org/drawingml/2006/table">
            <a:tbl>
              <a:tblPr firstRow="1" firstCol="1" bandRow="1"/>
              <a:tblGrid>
                <a:gridCol w="1556725">
                  <a:extLst>
                    <a:ext uri="{9D8B030D-6E8A-4147-A177-3AD203B41FA5}">
                      <a16:colId xmlns:a16="http://schemas.microsoft.com/office/drawing/2014/main" val="4272929624"/>
                    </a:ext>
                  </a:extLst>
                </a:gridCol>
                <a:gridCol w="2046010">
                  <a:extLst>
                    <a:ext uri="{9D8B030D-6E8A-4147-A177-3AD203B41FA5}">
                      <a16:colId xmlns:a16="http://schemas.microsoft.com/office/drawing/2014/main" val="2805162245"/>
                    </a:ext>
                  </a:extLst>
                </a:gridCol>
                <a:gridCol w="1735464">
                  <a:extLst>
                    <a:ext uri="{9D8B030D-6E8A-4147-A177-3AD203B41FA5}">
                      <a16:colId xmlns:a16="http://schemas.microsoft.com/office/drawing/2014/main" val="3607273927"/>
                    </a:ext>
                  </a:extLst>
                </a:gridCol>
                <a:gridCol w="1959137">
                  <a:extLst>
                    <a:ext uri="{9D8B030D-6E8A-4147-A177-3AD203B41FA5}">
                      <a16:colId xmlns:a16="http://schemas.microsoft.com/office/drawing/2014/main" val="259190835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真值（十进制）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真值（十进制）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98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0</a:t>
                      </a:r>
                      <a:r>
                        <a:rPr lang="en-US" altLang="zh-CN" sz="16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x0000 00c8</a:t>
                      </a:r>
                      <a:endParaRPr lang="zh-CN" sz="16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2 147 483 649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0x8000 0001</a:t>
                      </a:r>
                      <a:endParaRPr lang="zh-CN" sz="16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310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-200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0xffff ff38</a:t>
                      </a:r>
                      <a:endParaRPr lang="zh-CN" sz="16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0x8000 0001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0x8000 0001</a:t>
                      </a:r>
                      <a:endParaRPr lang="zh-CN" sz="16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441751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9F659EE-AD92-4298-8852-40985ECF271E}"/>
              </a:ext>
            </a:extLst>
          </p:cNvPr>
          <p:cNvSpPr/>
          <p:nvPr/>
        </p:nvSpPr>
        <p:spPr>
          <a:xfrm>
            <a:off x="609600" y="520532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常量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F7A2D7-5206-4E86-BD2A-21B537128B85}"/>
              </a:ext>
            </a:extLst>
          </p:cNvPr>
          <p:cNvSpPr/>
          <p:nvPr/>
        </p:nvSpPr>
        <p:spPr>
          <a:xfrm>
            <a:off x="411801" y="1374729"/>
            <a:ext cx="1041927" cy="1526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查看程序中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整型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量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C8C9676-2A67-42D7-9420-F86BCF992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529" y="256885"/>
            <a:ext cx="7428814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758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FEDCD0C-AD8E-4BD5-8603-CE443F1E4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78" y="81280"/>
            <a:ext cx="7701900" cy="462280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9F926F3-1912-4B79-ABFC-8D5B3A766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28795"/>
              </p:ext>
            </p:extLst>
          </p:nvPr>
        </p:nvGraphicFramePr>
        <p:xfrm>
          <a:off x="1629954" y="4812030"/>
          <a:ext cx="6766561" cy="2045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406">
                  <a:extLst>
                    <a:ext uri="{9D8B030D-6E8A-4147-A177-3AD203B41FA5}">
                      <a16:colId xmlns:a16="http://schemas.microsoft.com/office/drawing/2014/main" val="942975826"/>
                    </a:ext>
                  </a:extLst>
                </a:gridCol>
                <a:gridCol w="2224639">
                  <a:extLst>
                    <a:ext uri="{9D8B030D-6E8A-4147-A177-3AD203B41FA5}">
                      <a16:colId xmlns:a16="http://schemas.microsoft.com/office/drawing/2014/main" val="852514350"/>
                    </a:ext>
                  </a:extLst>
                </a:gridCol>
                <a:gridCol w="1769348">
                  <a:extLst>
                    <a:ext uri="{9D8B030D-6E8A-4147-A177-3AD203B41FA5}">
                      <a16:colId xmlns:a16="http://schemas.microsoft.com/office/drawing/2014/main" val="2870040826"/>
                    </a:ext>
                  </a:extLst>
                </a:gridCol>
                <a:gridCol w="1817168">
                  <a:extLst>
                    <a:ext uri="{9D8B030D-6E8A-4147-A177-3AD203B41FA5}">
                      <a16:colId xmlns:a16="http://schemas.microsoft.com/office/drawing/2014/main" val="109296494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变量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初始化数据（真值）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机器数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输出内容（真值）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92173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0x0000 00c8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12226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0xffff ff38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6588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ci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20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2147483649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0x8000 0001</a:t>
                      </a:r>
                      <a:endParaRPr lang="zh-CN" altLang="en-US" sz="1200" b="1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-2147483647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892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0x0000 00c8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10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2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0xffff ff38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4294967096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69022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0x8000 0001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0x8000 0001</a:t>
                      </a:r>
                      <a:endParaRPr lang="zh-CN" altLang="en-US" sz="1200" b="1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2147483649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83725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166CF94D-6FEA-4270-9E41-796A86A78081}"/>
              </a:ext>
            </a:extLst>
          </p:cNvPr>
          <p:cNvSpPr/>
          <p:nvPr/>
        </p:nvSpPr>
        <p:spPr>
          <a:xfrm>
            <a:off x="144522" y="1235825"/>
            <a:ext cx="1041927" cy="1526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查看程序中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整型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8898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3DE3FF0B-B1F5-4591-8A5D-00F3DE2E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55" y="4980709"/>
            <a:ext cx="5341710" cy="162310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0F1AB6E2-EBF0-416E-A72B-1275693DE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83D97C-B69C-4BFF-A5EB-EFB18F474BBB}"/>
              </a:ext>
            </a:extLst>
          </p:cNvPr>
          <p:cNvSpPr/>
          <p:nvPr/>
        </p:nvSpPr>
        <p:spPr>
          <a:xfrm>
            <a:off x="956355" y="1054264"/>
            <a:ext cx="6959282" cy="378565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=0,fnzero=-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// 0,-0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ffrac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=1e-40,fnfrac=-1e-40;    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=4e38,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fninf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=-4e38;  	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正无穷大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负无穷大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fnan1=finf+fninf,fnan2=-fnan1;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无定义数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=5.0,fnnormal=-5;    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规格化数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finf2=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除以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0,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无穷大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fzero,fnzero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("%.50f\n%.50f\n",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ffrac,fnfrac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finf,fninf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%f\n",fnan1,fnan2);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fnormal,fnnormal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("%f\n",finf2);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3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对象 2">
            <a:extLst>
              <a:ext uri="{FF2B5EF4-FFF2-40B4-BE49-F238E27FC236}">
                <a16:creationId xmlns:a16="http://schemas.microsoft.com/office/drawing/2014/main" id="{53EEFEC1-F0D8-4FEF-A141-023B7B97B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133231"/>
              </p:ext>
            </p:extLst>
          </p:nvPr>
        </p:nvGraphicFramePr>
        <p:xfrm>
          <a:off x="2276476" y="2133983"/>
          <a:ext cx="2836069" cy="60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40908" imgH="580644" progId="Visio.Drawing.11">
                  <p:embed/>
                </p:oleObj>
              </mc:Choice>
              <mc:Fallback>
                <p:oleObj name="Visio" r:id="rId2" imgW="2740908" imgH="580644" progId="Visio.Drawing.11">
                  <p:embed/>
                  <p:pic>
                    <p:nvPicPr>
                      <p:cNvPr id="5123" name="对象 2">
                        <a:extLst>
                          <a:ext uri="{FF2B5EF4-FFF2-40B4-BE49-F238E27FC236}">
                            <a16:creationId xmlns:a16="http://schemas.microsoft.com/office/drawing/2014/main" id="{2C38DBE2-6572-4389-81A0-799A7C6CB9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6" y="2133983"/>
                        <a:ext cx="2836069" cy="607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3">
            <a:extLst>
              <a:ext uri="{FF2B5EF4-FFF2-40B4-BE49-F238E27FC236}">
                <a16:creationId xmlns:a16="http://schemas.microsoft.com/office/drawing/2014/main" id="{B5528223-243A-4FEF-A960-FAC65016D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104583"/>
              </p:ext>
            </p:extLst>
          </p:nvPr>
        </p:nvGraphicFramePr>
        <p:xfrm>
          <a:off x="2276476" y="3078148"/>
          <a:ext cx="364688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460798" imgH="622935" progId="Visio.Drawing.11">
                  <p:embed/>
                </p:oleObj>
              </mc:Choice>
              <mc:Fallback>
                <p:oleObj name="Visio" r:id="rId4" imgW="3460798" imgH="622935" progId="Visio.Drawing.11">
                  <p:embed/>
                  <p:pic>
                    <p:nvPicPr>
                      <p:cNvPr id="5124" name="对象 3">
                        <a:extLst>
                          <a:ext uri="{FF2B5EF4-FFF2-40B4-BE49-F238E27FC236}">
                            <a16:creationId xmlns:a16="http://schemas.microsoft.com/office/drawing/2014/main" id="{DE87B673-DD0A-4B62-A678-655E11016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6" y="3078148"/>
                        <a:ext cx="364688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4B45F806-22FE-4973-8CB9-358DE4227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744" y="1852147"/>
            <a:ext cx="429696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anose="02010600030101010101" pitchFamily="2" charset="-122"/>
              <a:buAutoNum type="circleNumDbPlain"/>
              <a:tabLst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位单精度浮点格式，即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格式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637DCB1-1E13-4408-9ADE-840B9BA0E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744" y="2797503"/>
            <a:ext cx="463510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anose="02010600030101010101" pitchFamily="2" charset="-122"/>
              <a:buAutoNum type="circleNumDbPlain" startAt="2"/>
              <a:tabLst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64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位双精度浮点格式，即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double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格式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175F855-6930-4813-9795-F23282C77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744" y="3779769"/>
            <a:ext cx="463510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 754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标准中的数据按值的分类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7C5DCBB-EE4A-40F9-A5EE-D6A80A5D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349" y="1471257"/>
            <a:ext cx="463510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 754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浮点数的基本格式</a:t>
            </a:r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1053D8F1-8A81-402A-98D5-9A5167412FBE}"/>
              </a:ext>
            </a:extLst>
          </p:cNvPr>
          <p:cNvGrpSpPr>
            <a:grpSpLocks/>
          </p:cNvGrpSpPr>
          <p:nvPr/>
        </p:nvGrpSpPr>
        <p:grpSpPr bwMode="auto">
          <a:xfrm>
            <a:off x="1770460" y="4260438"/>
            <a:ext cx="5737622" cy="1315641"/>
            <a:chOff x="2355" y="6528"/>
            <a:chExt cx="7695" cy="1855"/>
          </a:xfrm>
        </p:grpSpPr>
        <p:sp>
          <p:nvSpPr>
            <p:cNvPr id="16" name="Rectangle 47">
              <a:extLst>
                <a:ext uri="{FF2B5EF4-FFF2-40B4-BE49-F238E27FC236}">
                  <a16:creationId xmlns:a16="http://schemas.microsoft.com/office/drawing/2014/main" id="{1B948B2A-142A-4976-BC6F-E3261FD4F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7194"/>
              <a:ext cx="180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规格化非零负数</a:t>
              </a:r>
            </a:p>
          </p:txBody>
        </p:sp>
        <p:grpSp>
          <p:nvGrpSpPr>
            <p:cNvPr id="17" name="Group 5">
              <a:extLst>
                <a:ext uri="{FF2B5EF4-FFF2-40B4-BE49-F238E27FC236}">
                  <a16:creationId xmlns:a16="http://schemas.microsoft.com/office/drawing/2014/main" id="{62FF7A4B-BF45-4A05-B87A-E2C5F9BB54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5" y="6528"/>
              <a:ext cx="7695" cy="1855"/>
              <a:chOff x="2355" y="6246"/>
              <a:chExt cx="7695" cy="1855"/>
            </a:xfrm>
          </p:grpSpPr>
          <p:grpSp>
            <p:nvGrpSpPr>
              <p:cNvPr id="18" name="Group 7">
                <a:extLst>
                  <a:ext uri="{FF2B5EF4-FFF2-40B4-BE49-F238E27FC236}">
                    <a16:creationId xmlns:a16="http://schemas.microsoft.com/office/drawing/2014/main" id="{39620B72-A715-44D2-A2FA-0A3F811A9E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5" y="6246"/>
                <a:ext cx="7695" cy="1855"/>
                <a:chOff x="2355" y="7458"/>
                <a:chExt cx="7695" cy="1855"/>
              </a:xfrm>
            </p:grpSpPr>
            <p:grpSp>
              <p:nvGrpSpPr>
                <p:cNvPr id="20" name="Group 12">
                  <a:extLst>
                    <a:ext uri="{FF2B5EF4-FFF2-40B4-BE49-F238E27FC236}">
                      <a16:creationId xmlns:a16="http://schemas.microsoft.com/office/drawing/2014/main" id="{7CD112F2-CF3B-4A46-93F0-3822822603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55" y="7458"/>
                  <a:ext cx="7695" cy="1570"/>
                  <a:chOff x="2355" y="7302"/>
                  <a:chExt cx="7695" cy="1570"/>
                </a:xfrm>
              </p:grpSpPr>
              <p:sp>
                <p:nvSpPr>
                  <p:cNvPr id="25" name="Rectangle 80">
                    <a:extLst>
                      <a:ext uri="{FF2B5EF4-FFF2-40B4-BE49-F238E27FC236}">
                        <a16:creationId xmlns:a16="http://schemas.microsoft.com/office/drawing/2014/main" id="{9E09C59E-7873-4E3B-B40B-E4AA7520A5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95" y="8382"/>
                    <a:ext cx="1665" cy="452"/>
                  </a:xfrm>
                  <a:prstGeom prst="rect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5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6" name="Rectangle 21">
                    <a:extLst>
                      <a:ext uri="{FF2B5EF4-FFF2-40B4-BE49-F238E27FC236}">
                        <a16:creationId xmlns:a16="http://schemas.microsoft.com/office/drawing/2014/main" id="{9D2864B0-FC87-489D-9F3D-0B95A59D59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8" y="7302"/>
                    <a:ext cx="1613" cy="3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zh-CN" sz="1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非规格化负数</a:t>
                    </a:r>
                  </a:p>
                </p:txBody>
              </p:sp>
              <p:sp>
                <p:nvSpPr>
                  <p:cNvPr id="27" name="Rectangle 41">
                    <a:extLst>
                      <a:ext uri="{FF2B5EF4-FFF2-40B4-BE49-F238E27FC236}">
                        <a16:creationId xmlns:a16="http://schemas.microsoft.com/office/drawing/2014/main" id="{A04B940E-9CEE-4FEF-94CC-94CCD8A764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80" y="7812"/>
                    <a:ext cx="285" cy="2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zh-CN" sz="1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零</a:t>
                    </a:r>
                  </a:p>
                </p:txBody>
              </p:sp>
              <p:sp>
                <p:nvSpPr>
                  <p:cNvPr id="28" name="Freeform 49">
                    <a:extLst>
                      <a:ext uri="{FF2B5EF4-FFF2-40B4-BE49-F238E27FC236}">
                        <a16:creationId xmlns:a16="http://schemas.microsoft.com/office/drawing/2014/main" id="{1B5E52B9-0DFD-49B1-8775-9758265DA78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355" y="8787"/>
                    <a:ext cx="7155" cy="85"/>
                  </a:xfrm>
                  <a:custGeom>
                    <a:avLst/>
                    <a:gdLst>
                      <a:gd name="T0" fmla="*/ 0 w 10337"/>
                      <a:gd name="T1" fmla="*/ 0 h 177"/>
                      <a:gd name="T2" fmla="*/ 10 w 10337"/>
                      <a:gd name="T3" fmla="*/ 0 h 177"/>
                      <a:gd name="T4" fmla="*/ 10 w 10337"/>
                      <a:gd name="T5" fmla="*/ 0 h 177"/>
                      <a:gd name="T6" fmla="*/ 0 w 10337"/>
                      <a:gd name="T7" fmla="*/ 0 h 177"/>
                      <a:gd name="T8" fmla="*/ 0 w 10337"/>
                      <a:gd name="T9" fmla="*/ 0 h 177"/>
                      <a:gd name="T10" fmla="*/ 0 w 10337"/>
                      <a:gd name="T11" fmla="*/ 0 h 177"/>
                      <a:gd name="T12" fmla="*/ 0 w 10337"/>
                      <a:gd name="T13" fmla="*/ 0 h 177"/>
                      <a:gd name="T14" fmla="*/ 0 w 10337"/>
                      <a:gd name="T15" fmla="*/ 0 h 177"/>
                      <a:gd name="T16" fmla="*/ 0 w 10337"/>
                      <a:gd name="T17" fmla="*/ 0 h 177"/>
                      <a:gd name="T18" fmla="*/ 10 w 10337"/>
                      <a:gd name="T19" fmla="*/ 0 h 177"/>
                      <a:gd name="T20" fmla="*/ 12 w 10337"/>
                      <a:gd name="T21" fmla="*/ 0 h 177"/>
                      <a:gd name="T22" fmla="*/ 10 w 10337"/>
                      <a:gd name="T23" fmla="*/ 0 h 177"/>
                      <a:gd name="T24" fmla="*/ 10 w 10337"/>
                      <a:gd name="T25" fmla="*/ 0 h 177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0337"/>
                      <a:gd name="T40" fmla="*/ 0 h 177"/>
                      <a:gd name="T41" fmla="*/ 10337 w 10337"/>
                      <a:gd name="T42" fmla="*/ 177 h 177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0337" h="177">
                        <a:moveTo>
                          <a:pt x="136" y="65"/>
                        </a:moveTo>
                        <a:lnTo>
                          <a:pt x="10201" y="65"/>
                        </a:lnTo>
                        <a:lnTo>
                          <a:pt x="10201" y="109"/>
                        </a:lnTo>
                        <a:lnTo>
                          <a:pt x="136" y="109"/>
                        </a:lnTo>
                        <a:lnTo>
                          <a:pt x="136" y="65"/>
                        </a:lnTo>
                        <a:close/>
                        <a:moveTo>
                          <a:pt x="164" y="177"/>
                        </a:moveTo>
                        <a:lnTo>
                          <a:pt x="0" y="88"/>
                        </a:lnTo>
                        <a:lnTo>
                          <a:pt x="164" y="0"/>
                        </a:lnTo>
                        <a:lnTo>
                          <a:pt x="164" y="177"/>
                        </a:lnTo>
                        <a:close/>
                        <a:moveTo>
                          <a:pt x="10174" y="0"/>
                        </a:moveTo>
                        <a:lnTo>
                          <a:pt x="10337" y="88"/>
                        </a:lnTo>
                        <a:lnTo>
                          <a:pt x="10174" y="177"/>
                        </a:lnTo>
                        <a:lnTo>
                          <a:pt x="1017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6858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9" name="Line 50">
                    <a:extLst>
                      <a:ext uri="{FF2B5EF4-FFF2-40B4-BE49-F238E27FC236}">
                        <a16:creationId xmlns:a16="http://schemas.microsoft.com/office/drawing/2014/main" id="{2AB2B3C7-788E-460A-95E8-16DB34CE52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015" y="8187"/>
                    <a:ext cx="0" cy="661"/>
                  </a:xfrm>
                  <a:prstGeom prst="line">
                    <a:avLst/>
                  </a:prstGeom>
                  <a:noFill/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6858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0" name="Line 51">
                    <a:extLst>
                      <a:ext uri="{FF2B5EF4-FFF2-40B4-BE49-F238E27FC236}">
                        <a16:creationId xmlns:a16="http://schemas.microsoft.com/office/drawing/2014/main" id="{AF14E31D-9E65-4A8F-8309-49A26BDAA3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95" y="8337"/>
                    <a:ext cx="0" cy="505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6858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1" name="Line 79">
                    <a:extLst>
                      <a:ext uri="{FF2B5EF4-FFF2-40B4-BE49-F238E27FC236}">
                        <a16:creationId xmlns:a16="http://schemas.microsoft.com/office/drawing/2014/main" id="{51C23BAE-7573-4FA4-A684-23002AC356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60" y="8352"/>
                    <a:ext cx="0" cy="468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6858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2" name="Rectangle 80">
                    <a:extLst>
                      <a:ext uri="{FF2B5EF4-FFF2-40B4-BE49-F238E27FC236}">
                        <a16:creationId xmlns:a16="http://schemas.microsoft.com/office/drawing/2014/main" id="{03B456C4-0759-41D8-9B4B-C744FC20F6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855" y="8352"/>
                    <a:ext cx="1680" cy="452"/>
                  </a:xfrm>
                  <a:prstGeom prst="rect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5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33" name="Rectangle 47">
                    <a:extLst>
                      <a:ext uri="{FF2B5EF4-FFF2-40B4-BE49-F238E27FC236}">
                        <a16:creationId xmlns:a16="http://schemas.microsoft.com/office/drawing/2014/main" id="{DAD95423-3CD8-41F8-8359-15C0C8731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91" y="7920"/>
                    <a:ext cx="1815" cy="2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zh-CN" sz="1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规格化非零正数</a:t>
                    </a:r>
                  </a:p>
                </p:txBody>
              </p:sp>
              <p:sp>
                <p:nvSpPr>
                  <p:cNvPr id="34" name="Line 51">
                    <a:extLst>
                      <a:ext uri="{FF2B5EF4-FFF2-40B4-BE49-F238E27FC236}">
                        <a16:creationId xmlns:a16="http://schemas.microsoft.com/office/drawing/2014/main" id="{7288838F-D77E-4F95-A3FA-0E757FB512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855" y="8337"/>
                    <a:ext cx="0" cy="505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6858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5" name="Line 79">
                    <a:extLst>
                      <a:ext uri="{FF2B5EF4-FFF2-40B4-BE49-F238E27FC236}">
                        <a16:creationId xmlns:a16="http://schemas.microsoft.com/office/drawing/2014/main" id="{902178DD-BD56-47E0-9666-D42FB46769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535" y="8367"/>
                    <a:ext cx="0" cy="468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6858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6" name="Rectangle 21">
                    <a:extLst>
                      <a:ext uri="{FF2B5EF4-FFF2-40B4-BE49-F238E27FC236}">
                        <a16:creationId xmlns:a16="http://schemas.microsoft.com/office/drawing/2014/main" id="{C2B80AFC-5024-48C7-B59E-15EF368AC9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5" y="7302"/>
                    <a:ext cx="1567" cy="3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zh-CN" sz="1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非规格化正数</a:t>
                    </a:r>
                  </a:p>
                </p:txBody>
              </p:sp>
              <p:sp>
                <p:nvSpPr>
                  <p:cNvPr id="37" name="Rectangle 21">
                    <a:extLst>
                      <a:ext uri="{FF2B5EF4-FFF2-40B4-BE49-F238E27FC236}">
                        <a16:creationId xmlns:a16="http://schemas.microsoft.com/office/drawing/2014/main" id="{D7414EE0-D9C4-4ED7-A14D-5AB4B947C6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45" y="8367"/>
                    <a:ext cx="1305" cy="3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zh-CN" sz="1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正无穷大</a:t>
                    </a:r>
                  </a:p>
                </p:txBody>
              </p:sp>
              <p:sp>
                <p:nvSpPr>
                  <p:cNvPr id="38" name="Rectangle 21">
                    <a:extLst>
                      <a:ext uri="{FF2B5EF4-FFF2-40B4-BE49-F238E27FC236}">
                        <a16:creationId xmlns:a16="http://schemas.microsoft.com/office/drawing/2014/main" id="{964C68E6-7463-45CB-8664-40B3D876EC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61" y="8390"/>
                    <a:ext cx="1261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•"/>
                      <a:defRPr sz="2400" b="1">
                        <a:solidFill>
                          <a:srgbClr val="00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–"/>
                      <a:defRPr sz="1600" b="1">
                        <a:solidFill>
                          <a:srgbClr val="CC33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5000"/>
                      </a:lnSpc>
                      <a:spcBef>
                        <a:spcPct val="20000"/>
                      </a:spcBef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1500" b="1">
                        <a:solidFill>
                          <a:srgbClr val="9966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6858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zh-CN" sz="1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负无穷大</a:t>
                    </a:r>
                  </a:p>
                </p:txBody>
              </p:sp>
              <p:cxnSp>
                <p:nvCxnSpPr>
                  <p:cNvPr id="39" name="直接箭头连接符 32770">
                    <a:extLst>
                      <a:ext uri="{FF2B5EF4-FFF2-40B4-BE49-F238E27FC236}">
                        <a16:creationId xmlns:a16="http://schemas.microsoft.com/office/drawing/2014/main" id="{CCBF1ABF-AFBD-4B97-8BFD-F09E32A125B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355" y="7647"/>
                    <a:ext cx="180" cy="743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0" name="直接箭头连接符 32771">
                    <a:extLst>
                      <a:ext uri="{FF2B5EF4-FFF2-40B4-BE49-F238E27FC236}">
                        <a16:creationId xmlns:a16="http://schemas.microsoft.com/office/drawing/2014/main" id="{59DCD36E-082D-4D26-9E09-AA2CA70B953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360" y="7647"/>
                    <a:ext cx="225" cy="73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21" name="Text Box 11">
                  <a:extLst>
                    <a:ext uri="{FF2B5EF4-FFF2-40B4-BE49-F238E27FC236}">
                      <a16:creationId xmlns:a16="http://schemas.microsoft.com/office/drawing/2014/main" id="{A7971146-25AB-48F6-B6F0-192724027B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5" y="9028"/>
                  <a:ext cx="255" cy="28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6858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5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2" name="Text Box 10">
                  <a:extLst>
                    <a:ext uri="{FF2B5EF4-FFF2-40B4-BE49-F238E27FC236}">
                      <a16:creationId xmlns:a16="http://schemas.microsoft.com/office/drawing/2014/main" id="{899C24F2-FAC3-4654-A12D-55EBE24D3B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00" y="9028"/>
                  <a:ext cx="255" cy="28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6858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5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23" name="Text Box 9">
                  <a:extLst>
                    <a:ext uri="{FF2B5EF4-FFF2-40B4-BE49-F238E27FC236}">
                      <a16:creationId xmlns:a16="http://schemas.microsoft.com/office/drawing/2014/main" id="{72E48893-943B-4F77-9F88-4E141B05DA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65" y="9028"/>
                  <a:ext cx="255" cy="28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6858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5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4" name="Text Box 8">
                  <a:extLst>
                    <a:ext uri="{FF2B5EF4-FFF2-40B4-BE49-F238E27FC236}">
                      <a16:creationId xmlns:a16="http://schemas.microsoft.com/office/drawing/2014/main" id="{49ACB7C2-A9B7-4852-81BC-A5FB7BEED4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90" y="9028"/>
                  <a:ext cx="255" cy="28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2000" b="1">
                      <a:solidFill>
                        <a:srgbClr val="0000CC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20000"/>
                    </a:spcBef>
                    <a:buChar char="•"/>
                    <a:defRPr sz="2400" b="1">
                      <a:solidFill>
                        <a:srgbClr val="00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5000"/>
                    </a:lnSpc>
                    <a:spcBef>
                      <a:spcPct val="20000"/>
                    </a:spcBef>
                    <a:buChar char="–"/>
                    <a:defRPr sz="1600" b="1">
                      <a:solidFill>
                        <a:srgbClr val="CC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5000"/>
                    </a:lnSpc>
                    <a:spcBef>
                      <a:spcPct val="20000"/>
                    </a:spcBef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500" b="1">
                      <a:solidFill>
                        <a:srgbClr val="9966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6858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5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</p:grpSp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08B08F65-EE94-4F06-9E23-FA8E4B0B21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44" y="7801"/>
                <a:ext cx="177" cy="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2000" b="1">
                    <a:solidFill>
                      <a:srgbClr val="0000CC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20000"/>
                  </a:spcBef>
                  <a:buChar char="•"/>
                  <a:defRPr sz="2400" b="1">
                    <a:solidFill>
                      <a:srgbClr val="0066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5000"/>
                  </a:lnSpc>
                  <a:spcBef>
                    <a:spcPct val="20000"/>
                  </a:spcBef>
                  <a:buChar char="–"/>
                  <a:defRPr sz="1600" b="1">
                    <a:solidFill>
                      <a:srgbClr val="CC33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5000"/>
                  </a:lnSpc>
                  <a:spcBef>
                    <a:spcPct val="20000"/>
                  </a:spcBef>
                  <a:buChar char="»"/>
                  <a:defRPr sz="1500" b="1">
                    <a:solidFill>
                      <a:srgbClr val="9966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 b="1">
                    <a:solidFill>
                      <a:srgbClr val="9966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</p:grpSp>
      <p:sp>
        <p:nvSpPr>
          <p:cNvPr id="41" name="Rectangle 2">
            <a:extLst>
              <a:ext uri="{FF2B5EF4-FFF2-40B4-BE49-F238E27FC236}">
                <a16:creationId xmlns:a16="http://schemas.microsoft.com/office/drawing/2014/main" id="{8E9A7425-81C6-4749-A0FB-8C7BD8C29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9189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7181495-6B23-4C94-A635-9D4E709503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9875" y="1892785"/>
          <a:ext cx="3843381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460798" imgH="622935" progId="Visio.Drawing.11">
                  <p:embed/>
                </p:oleObj>
              </mc:Choice>
              <mc:Fallback>
                <p:oleObj name="Visio" r:id="rId2" imgW="3460798" imgH="622935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7181495-6B23-4C94-A635-9D4E709503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875" y="1892785"/>
                        <a:ext cx="3843381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C30B580-B16A-4002-A1F7-6F817007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982" y="2205071"/>
            <a:ext cx="114937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正零和负零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61D8-42B7-4DC3-838B-82B22082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001" y="1493387"/>
            <a:ext cx="48848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 754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浮点数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位单精度格式各类值的编码</a:t>
            </a:r>
          </a:p>
        </p:txBody>
      </p:sp>
      <p:graphicFrame>
        <p:nvGraphicFramePr>
          <p:cNvPr id="8" name="对象 1">
            <a:extLst>
              <a:ext uri="{FF2B5EF4-FFF2-40B4-BE49-F238E27FC236}">
                <a16:creationId xmlns:a16="http://schemas.microsoft.com/office/drawing/2014/main" id="{46FFC083-4CB5-443B-88B7-9FD1A2996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9875" y="2611922"/>
          <a:ext cx="3843381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460634" imgH="622896" progId="Visio.Drawing.11">
                  <p:embed/>
                </p:oleObj>
              </mc:Choice>
              <mc:Fallback>
                <p:oleObj name="Visio" r:id="rId4" imgW="3460634" imgH="622896" progId="Visio.Drawing.11">
                  <p:embed/>
                  <p:pic>
                    <p:nvPicPr>
                      <p:cNvPr id="8" name="对象 1">
                        <a:extLst>
                          <a:ext uri="{FF2B5EF4-FFF2-40B4-BE49-F238E27FC236}">
                            <a16:creationId xmlns:a16="http://schemas.microsoft.com/office/drawing/2014/main" id="{46FFC083-4CB5-443B-88B7-9FD1A29965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875" y="2611922"/>
                        <a:ext cx="3843381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2">
            <a:extLst>
              <a:ext uri="{FF2B5EF4-FFF2-40B4-BE49-F238E27FC236}">
                <a16:creationId xmlns:a16="http://schemas.microsoft.com/office/drawing/2014/main" id="{F057AAA8-0532-46C0-8B95-7A2A703B04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9875" y="3353682"/>
          <a:ext cx="3843381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460798" imgH="622935" progId="Visio.Drawing.11">
                  <p:embed/>
                </p:oleObj>
              </mc:Choice>
              <mc:Fallback>
                <p:oleObj name="Visio" r:id="rId6" imgW="3460798" imgH="622935" progId="Visio.Drawing.11">
                  <p:embed/>
                  <p:pic>
                    <p:nvPicPr>
                      <p:cNvPr id="10" name="对象 2">
                        <a:extLst>
                          <a:ext uri="{FF2B5EF4-FFF2-40B4-BE49-F238E27FC236}">
                            <a16:creationId xmlns:a16="http://schemas.microsoft.com/office/drawing/2014/main" id="{F057AAA8-0532-46C0-8B95-7A2A703B04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875" y="3353682"/>
                        <a:ext cx="3843381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3">
            <a:extLst>
              <a:ext uri="{FF2B5EF4-FFF2-40B4-BE49-F238E27FC236}">
                <a16:creationId xmlns:a16="http://schemas.microsoft.com/office/drawing/2014/main" id="{7D077032-E350-4E86-95EA-3A2716BE2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9875" y="4069247"/>
          <a:ext cx="3843381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3460634" imgH="622896" progId="Visio.Drawing.11">
                  <p:embed/>
                </p:oleObj>
              </mc:Choice>
              <mc:Fallback>
                <p:oleObj name="Visio" r:id="rId8" imgW="3460634" imgH="622896" progId="Visio.Drawing.11">
                  <p:embed/>
                  <p:pic>
                    <p:nvPicPr>
                      <p:cNvPr id="11" name="对象 3">
                        <a:extLst>
                          <a:ext uri="{FF2B5EF4-FFF2-40B4-BE49-F238E27FC236}">
                            <a16:creationId xmlns:a16="http://schemas.microsoft.com/office/drawing/2014/main" id="{7D077032-E350-4E86-95EA-3A2716BE2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875" y="4069247"/>
                        <a:ext cx="3843381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">
            <a:extLst>
              <a:ext uri="{FF2B5EF4-FFF2-40B4-BE49-F238E27FC236}">
                <a16:creationId xmlns:a16="http://schemas.microsoft.com/office/drawing/2014/main" id="{30B5950C-4E35-4E8D-B3F5-74563EF3D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6544" y="4805054"/>
          <a:ext cx="3843381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3460798" imgH="622935" progId="Visio.Drawing.11">
                  <p:embed/>
                </p:oleObj>
              </mc:Choice>
              <mc:Fallback>
                <p:oleObj name="Visio" r:id="rId10" imgW="3460798" imgH="622935" progId="Visio.Drawing.11">
                  <p:embed/>
                  <p:pic>
                    <p:nvPicPr>
                      <p:cNvPr id="12" name="对象 4">
                        <a:extLst>
                          <a:ext uri="{FF2B5EF4-FFF2-40B4-BE49-F238E27FC236}">
                            <a16:creationId xmlns:a16="http://schemas.microsoft.com/office/drawing/2014/main" id="{30B5950C-4E35-4E8D-B3F5-74563EF3DE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44" y="4805054"/>
                        <a:ext cx="3843381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73776E31-26E7-4895-A858-3BF1F3E68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982" y="2909922"/>
            <a:ext cx="114937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334C672-D87A-4FB4-8379-CE26B52ED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50" y="5103053"/>
            <a:ext cx="114937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无定义数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7C36B9E-FD47-4EE5-B7EE-E6D94F1E6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982" y="3686208"/>
            <a:ext cx="114937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规格化非零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FBC3BEE-66A1-4016-B8EB-6F98A10A2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982" y="4333909"/>
            <a:ext cx="114937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无穷大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1A25554-95F1-4880-B78A-29D80CABC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浮点型数据的真值与机器数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14534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383D97C-B69C-4BFF-A5EB-EFB18F474BBB}"/>
              </a:ext>
            </a:extLst>
          </p:cNvPr>
          <p:cNvSpPr/>
          <p:nvPr/>
        </p:nvSpPr>
        <p:spPr>
          <a:xfrm>
            <a:off x="690880" y="1059456"/>
            <a:ext cx="6959282" cy="378565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=0,fnzero=-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// 0,-0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ffrac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=1e-40,fnfrac=-1e-40;    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=4e38,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fninf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=-4e38;  	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正无穷大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负无穷大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fnan1=finf+fninf,fnan2=-fnan1;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无定义数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=5.0,fnnormal=-5;    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规格化数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finf2=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  //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除以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0,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无穷大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fzero,fnzero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("%.50f\n%.50f\n",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ffrac,fnfrac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finf,fninf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%f\n",fnan1,fnan2);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fnormal,fnnormal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("%f\n",finf2);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1085950-1F10-43A2-A7FB-49758E42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0367"/>
              </p:ext>
            </p:extLst>
          </p:nvPr>
        </p:nvGraphicFramePr>
        <p:xfrm>
          <a:off x="1839967" y="1059456"/>
          <a:ext cx="5810195" cy="4632960"/>
        </p:xfrm>
        <a:graphic>
          <a:graphicData uri="http://schemas.openxmlformats.org/drawingml/2006/table">
            <a:tbl>
              <a:tblPr firstRow="1" firstCol="1" bandRow="1"/>
              <a:tblGrid>
                <a:gridCol w="1161805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324781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323609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2108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fzero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0x00000000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0.000000 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fnzero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0x80000000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-0.000000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2975"/>
                  </a:ext>
                </a:extLst>
              </a:tr>
              <a:tr h="6326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ffrac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0x000116c2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0.00000000000000000000000000000000000000009999946101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043603"/>
                  </a:ext>
                </a:extLst>
              </a:tr>
              <a:tr h="8435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fnfrac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0xffc00000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-0.00000000000000000000000000000000000000009999946101 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92132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finf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0x7f800000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inf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707993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fninf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0xff800000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-inf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0972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fnan1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0xffc00000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-nan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650239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fnan2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0x7fc00000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nan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224283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fnormal 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0x40a00000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5.000000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51453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fnnormal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0xc0a00000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-5.000000 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59390"/>
                  </a:ext>
                </a:extLst>
              </a:tr>
              <a:tr h="2108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finf2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600" dirty="0"/>
                        <a:t>0x7f800000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inf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98854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469CBA5A-E116-426E-A91F-3CCDD1709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4240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B7B91A-9343-44B2-8E53-324156620A0B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9AD4C5A8-E2CA-45F8-B75B-D956043CD12E}"/>
              </a:ext>
            </a:extLst>
          </p:cNvPr>
          <p:cNvPicPr/>
          <p:nvPr/>
        </p:nvPicPr>
        <p:blipFill rotWithShape="1">
          <a:blip r:embed="rId2"/>
          <a:srcRect l="1" t="13205" r="684" b="49266"/>
          <a:stretch/>
        </p:blipFill>
        <p:spPr bwMode="auto">
          <a:xfrm>
            <a:off x="417988" y="1194410"/>
            <a:ext cx="8451692" cy="2858447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FFEFF10-7E03-4302-8CF5-D45014402492}"/>
              </a:ext>
            </a:extLst>
          </p:cNvPr>
          <p:cNvCxnSpPr>
            <a:cxnSpLocks/>
          </p:cNvCxnSpPr>
          <p:nvPr/>
        </p:nvCxnSpPr>
        <p:spPr>
          <a:xfrm flipH="1">
            <a:off x="983064" y="2367280"/>
            <a:ext cx="3710856" cy="7203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BC8C47-C93F-4AE3-9011-F1CDB3DE321C}"/>
              </a:ext>
            </a:extLst>
          </p:cNvPr>
          <p:cNvCxnSpPr>
            <a:cxnSpLocks/>
          </p:cNvCxnSpPr>
          <p:nvPr/>
        </p:nvCxnSpPr>
        <p:spPr>
          <a:xfrm flipH="1">
            <a:off x="4206240" y="2549183"/>
            <a:ext cx="487680" cy="4785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6C00A8-E662-43EC-A254-056968FD4D00}"/>
              </a:ext>
            </a:extLst>
          </p:cNvPr>
          <p:cNvSpPr/>
          <p:nvPr/>
        </p:nvSpPr>
        <p:spPr>
          <a:xfrm>
            <a:off x="2777532" y="3027713"/>
            <a:ext cx="1428708" cy="9448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084A8B-3445-4C4F-891C-3B2F8DFB0E4F}"/>
              </a:ext>
            </a:extLst>
          </p:cNvPr>
          <p:cNvCxnSpPr>
            <a:cxnSpLocks/>
          </p:cNvCxnSpPr>
          <p:nvPr/>
        </p:nvCxnSpPr>
        <p:spPr>
          <a:xfrm flipH="1">
            <a:off x="5692503" y="3720045"/>
            <a:ext cx="1688011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F5402A8-ECD6-4F2B-BD66-93A78649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19987"/>
              </p:ext>
            </p:extLst>
          </p:nvPr>
        </p:nvGraphicFramePr>
        <p:xfrm>
          <a:off x="782753" y="4482646"/>
          <a:ext cx="7299262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1459558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920588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919116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fzero  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x0000 0000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0.000000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fnzero  </a:t>
                      </a:r>
                      <a:endParaRPr lang="zh-CN" altLang="en-US" sz="1600" b="1" kern="120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0x8000 0000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-0.000000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2975"/>
                  </a:ext>
                </a:extLst>
              </a:tr>
            </a:tbl>
          </a:graphicData>
        </a:graphic>
      </p:graphicFrame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5F18A8E6-F123-4603-81B9-2A4B692CB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419321"/>
              </p:ext>
            </p:extLst>
          </p:nvPr>
        </p:nvGraphicFramePr>
        <p:xfrm>
          <a:off x="2911591" y="5489899"/>
          <a:ext cx="4862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0798" imgH="622935" progId="Visio.Drawing.11">
                  <p:embed/>
                </p:oleObj>
              </mc:Choice>
              <mc:Fallback>
                <p:oleObj name="Visio" r:id="rId3" imgW="3460798" imgH="622935" progId="Visio.Drawing.11">
                  <p:embed/>
                  <p:pic>
                    <p:nvPicPr>
                      <p:cNvPr id="16387" name="对象 3">
                        <a:extLst>
                          <a:ext uri="{FF2B5EF4-FFF2-40B4-BE49-F238E27FC236}">
                            <a16:creationId xmlns:a16="http://schemas.microsoft.com/office/drawing/2014/main" id="{9D30EB06-11A9-43D4-93F5-D93003F62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591" y="5489899"/>
                        <a:ext cx="4862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CECEC9-05B5-44F0-88C0-D3AEDA61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53" y="5921699"/>
            <a:ext cx="14541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正零和负零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8068727-5192-445C-A66D-FC90ABDB2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2069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94DE9E6-93F4-4E79-AAA7-CB8F0289CBD5}"/>
              </a:ext>
            </a:extLst>
          </p:cNvPr>
          <p:cNvPicPr/>
          <p:nvPr/>
        </p:nvPicPr>
        <p:blipFill rotWithShape="1">
          <a:blip r:embed="rId2"/>
          <a:srcRect t="20768" r="870" b="52524"/>
          <a:stretch/>
        </p:blipFill>
        <p:spPr bwMode="auto">
          <a:xfrm>
            <a:off x="421904" y="1365373"/>
            <a:ext cx="8082017" cy="2324117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B7B91A-9343-44B2-8E53-324156620A0B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FFEFF10-7E03-4302-8CF5-D45014402492}"/>
              </a:ext>
            </a:extLst>
          </p:cNvPr>
          <p:cNvCxnSpPr>
            <a:cxnSpLocks/>
          </p:cNvCxnSpPr>
          <p:nvPr/>
        </p:nvCxnSpPr>
        <p:spPr>
          <a:xfrm flipH="1">
            <a:off x="1035316" y="2063006"/>
            <a:ext cx="3588936" cy="6579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BC8C47-C93F-4AE3-9011-F1CDB3DE321C}"/>
              </a:ext>
            </a:extLst>
          </p:cNvPr>
          <p:cNvCxnSpPr>
            <a:cxnSpLocks/>
          </p:cNvCxnSpPr>
          <p:nvPr/>
        </p:nvCxnSpPr>
        <p:spPr>
          <a:xfrm flipH="1">
            <a:off x="4065452" y="2481018"/>
            <a:ext cx="428172" cy="2399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6C00A8-E662-43EC-A254-056968FD4D00}"/>
              </a:ext>
            </a:extLst>
          </p:cNvPr>
          <p:cNvSpPr/>
          <p:nvPr/>
        </p:nvSpPr>
        <p:spPr>
          <a:xfrm>
            <a:off x="2636744" y="2625922"/>
            <a:ext cx="1428708" cy="9448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084A8B-3445-4C4F-891C-3B2F8DFB0E4F}"/>
              </a:ext>
            </a:extLst>
          </p:cNvPr>
          <p:cNvCxnSpPr>
            <a:cxnSpLocks/>
          </p:cNvCxnSpPr>
          <p:nvPr/>
        </p:nvCxnSpPr>
        <p:spPr>
          <a:xfrm flipH="1">
            <a:off x="5404842" y="3412003"/>
            <a:ext cx="158496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F5402A8-ECD6-4F2B-BD66-93A78649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89039"/>
              </p:ext>
            </p:extLst>
          </p:nvPr>
        </p:nvGraphicFramePr>
        <p:xfrm>
          <a:off x="843992" y="4021371"/>
          <a:ext cx="7299262" cy="1008000"/>
        </p:xfrm>
        <a:graphic>
          <a:graphicData uri="http://schemas.openxmlformats.org/drawingml/2006/table">
            <a:tbl>
              <a:tblPr firstRow="1" firstCol="1" bandRow="1"/>
              <a:tblGrid>
                <a:gridCol w="1459558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920588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919116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ffrac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x0001 16C2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fnfrac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0x8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001 16C2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2975"/>
                  </a:ext>
                </a:extLst>
              </a:tr>
            </a:tbl>
          </a:graphicData>
        </a:graphic>
      </p:graphicFrame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5F18A8E6-F123-4603-81B9-2A4B692CB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51687"/>
              </p:ext>
            </p:extLst>
          </p:nvPr>
        </p:nvGraphicFramePr>
        <p:xfrm>
          <a:off x="2972830" y="5185632"/>
          <a:ext cx="4862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0634" imgH="622896" progId="Visio.Drawing.11">
                  <p:embed/>
                </p:oleObj>
              </mc:Choice>
              <mc:Fallback>
                <p:oleObj name="Visio" r:id="rId3" imgW="3460634" imgH="622896" progId="Visio.Drawing.11">
                  <p:embed/>
                  <p:pic>
                    <p:nvPicPr>
                      <p:cNvPr id="14" name="对象 3">
                        <a:extLst>
                          <a:ext uri="{FF2B5EF4-FFF2-40B4-BE49-F238E27FC236}">
                            <a16:creationId xmlns:a16="http://schemas.microsoft.com/office/drawing/2014/main" id="{5F18A8E6-F123-4603-81B9-2A4B692CB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830" y="5185632"/>
                        <a:ext cx="4862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CECEC9-05B5-44F0-88C0-D3AEDA61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92" y="5617402"/>
            <a:ext cx="1454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非规格化数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8BB0AE8-5647-4559-9CB8-338FD41CD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933" y="6205493"/>
            <a:ext cx="21106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±0.f*2</a:t>
            </a:r>
            <a:r>
              <a:rPr lang="en-US" altLang="zh-CN" sz="20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-126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A06EB1C-C1C9-4AC2-852C-DB3A79AA2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68377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11C1F73-E36C-47E3-9F3C-770177E20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121695"/>
            <a:ext cx="5872163" cy="67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5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18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2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257175" marR="0" lvl="0" indent="-25717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机器数：</a:t>
            </a: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bit      8 bits                     23 bits</a:t>
            </a:r>
            <a:endParaRPr kumimoji="0" lang="en-US" altLang="zh-CN" sz="15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57175" marR="0" lvl="0" indent="-257175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0/1</a:t>
            </a:r>
            <a:r>
              <a:rPr kumimoji="0" lang="zh-CN" altLang="en-US" sz="1500" b="1" i="0" u="none" strike="noStrike" kern="0" cap="none" spc="0" normalizeH="0" baseline="0" noProof="0">
                <a:ln>
                  <a:noFill/>
                </a:ln>
                <a:solidFill>
                  <a:srgbClr val="00E0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00000000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rgbClr val="063D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166C7B-86CE-4056-B6F8-4382D8A7FC67}"/>
              </a:ext>
            </a:extLst>
          </p:cNvPr>
          <p:cNvGrpSpPr>
            <a:grpSpLocks/>
          </p:cNvGrpSpPr>
          <p:nvPr/>
        </p:nvGrpSpPr>
        <p:grpSpPr bwMode="auto">
          <a:xfrm>
            <a:off x="2782492" y="2413397"/>
            <a:ext cx="4355306" cy="276225"/>
            <a:chOff x="611" y="1221"/>
            <a:chExt cx="4272" cy="295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6BDB2FA-1179-4DC7-9349-9454936D7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1228"/>
              <a:ext cx="4272" cy="2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BA00F7BF-7592-44DE-9924-254BEE6EA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221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4745DA0D-6853-4DEB-AFF3-78F38FEE1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1221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4B4D8BD9-B85F-45F0-931D-2E3F92E80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854" y="1807369"/>
            <a:ext cx="340029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真值：       </a:t>
            </a:r>
            <a:r>
              <a:rPr lang="en-US" altLang="zh-CN" sz="1500">
                <a:solidFill>
                  <a:srgbClr val="FF66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+/-</a:t>
            </a:r>
            <a:r>
              <a:rPr lang="en-US" altLang="zh-CN" sz="1500">
                <a:solidFill>
                  <a:srgbClr val="081D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en-US" altLang="zh-CN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r>
              <a:rPr lang="en-US" altLang="zh-CN" sz="1500">
                <a:solidFill>
                  <a:srgbClr val="063D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xxxxxxxxxx</a:t>
            </a:r>
            <a:r>
              <a:rPr lang="en-US" altLang="zh-CN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en-US" altLang="zh-CN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2</a:t>
            </a:r>
            <a:r>
              <a:rPr lang="en-US" altLang="zh-CN" sz="1500" baseline="30000">
                <a:solidFill>
                  <a:srgbClr val="CC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-126</a:t>
            </a:r>
            <a:endParaRPr lang="zh-CN" altLang="en-US" sz="1500" baseline="30000">
              <a:solidFill>
                <a:srgbClr val="CC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48E7766-21A0-4EED-A3ED-6A2A50297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229" y="3883819"/>
            <a:ext cx="614362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625" tIns="19050" rIns="47625" bIns="19050"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6858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0" lang="zh-CN" alt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机器数：</a:t>
            </a: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 bit      8 bits                     23 bits</a:t>
            </a:r>
            <a:endParaRPr kumimoji="0" lang="en-US" altLang="zh-CN" sz="15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6858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    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00000000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Significand</a:t>
            </a:r>
            <a:endParaRPr kumimoji="0" lang="en-US" altLang="zh-CN" sz="1500" b="1" i="0" u="none" strike="noStrike" kern="0" cap="none" spc="0" normalizeH="0" baseline="0" noProof="0">
              <a:ln>
                <a:noFill/>
              </a:ln>
              <a:solidFill>
                <a:srgbClr val="FD012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15384AC9-33CB-44BE-87C4-C4B62E2FB54C}"/>
              </a:ext>
            </a:extLst>
          </p:cNvPr>
          <p:cNvGrpSpPr>
            <a:grpSpLocks/>
          </p:cNvGrpSpPr>
          <p:nvPr/>
        </p:nvGrpSpPr>
        <p:grpSpPr bwMode="auto">
          <a:xfrm>
            <a:off x="2780110" y="4192192"/>
            <a:ext cx="4357688" cy="302419"/>
            <a:chOff x="611" y="1217"/>
            <a:chExt cx="4272" cy="299"/>
          </a:xfrm>
        </p:grpSpPr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5C17DCAB-66F3-4DDF-B12C-5DF244ACC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1228"/>
              <a:ext cx="4272" cy="2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0F379CEE-D7A6-4163-8F9C-8D1C4DBA7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221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8F05FB42-66B7-4ED7-A0F4-BF022F98D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4" y="1217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Rectangle 14">
            <a:extLst>
              <a:ext uri="{FF2B5EF4-FFF2-40B4-BE49-F238E27FC236}">
                <a16:creationId xmlns:a16="http://schemas.microsoft.com/office/drawing/2014/main" id="{59AC8197-211B-4081-A50D-C65E4D77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1" y="4610100"/>
            <a:ext cx="53280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lnSpc>
                <a:spcPct val="100000"/>
              </a:lnSpc>
              <a:spcAft>
                <a:spcPct val="0"/>
              </a:spcAft>
              <a:buClr>
                <a:srgbClr val="99CC00"/>
              </a:buClr>
              <a:buSzPct val="60000"/>
              <a:buFontTx/>
              <a:buNone/>
              <a:defRPr/>
            </a:pPr>
            <a:r>
              <a:rPr kumimoji="1" lang="zh-CN" altLang="en-US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真值：       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(-1)</a:t>
            </a:r>
            <a:r>
              <a:rPr kumimoji="1" lang="en-US" altLang="zh-CN" sz="1500" baseline="300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5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kumimoji="1" lang="en-US" altLang="zh-CN" sz="150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Significand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en-US" altLang="zh-CN" sz="15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baseline="30000">
                <a:solidFill>
                  <a:srgbClr val="CC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-126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3ED5F21B-AC4D-4D07-AC38-6DED107C3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789" y="3708797"/>
            <a:ext cx="633769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E178B556-D479-4706-8500-EBFFCD17E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1471613"/>
            <a:ext cx="364715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非规格化数的真值与机器数的对应关系：</a:t>
            </a:r>
          </a:p>
        </p:txBody>
      </p:sp>
      <p:sp>
        <p:nvSpPr>
          <p:cNvPr id="20" name="矩形 1">
            <a:extLst>
              <a:ext uri="{FF2B5EF4-FFF2-40B4-BE49-F238E27FC236}">
                <a16:creationId xmlns:a16="http://schemas.microsoft.com/office/drawing/2014/main" id="{A591B5C2-D0E6-45E5-AE16-95CB29F7C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042" y="2807494"/>
            <a:ext cx="5726906" cy="844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真值：     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1e-40=10</a:t>
            </a:r>
            <a:r>
              <a:rPr kumimoji="0" lang="en-US" altLang="zh-CN" sz="135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-40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≈0.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000 0001 0001 0110 1100 0010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kumimoji="0" lang="en-US" altLang="zh-CN" sz="1500" b="1" i="0" u="none" strike="noStrike" kern="0" cap="none" spc="0" normalizeH="0" baseline="3000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-126</a:t>
            </a:r>
          </a:p>
          <a:p>
            <a:pPr marL="0" marR="0" lvl="0" indent="0" defTabSz="685800" eaLnBrk="0" fontAlgn="base" latinLnBrk="0" hangingPunct="0">
              <a:lnSpc>
                <a:spcPct val="120000"/>
              </a:lnSpc>
              <a:spcBef>
                <a:spcPts val="225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机器数</a:t>
            </a: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0000 0000 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000 0001 0001 0110 1100 0010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0" lang="en-US" altLang="zh-CN" sz="13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marR="0" lvl="0" indent="0" defTabSz="6858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=0001 16C2H</a:t>
            </a: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086507FC-61B5-406C-A3C6-24863EE3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167" y="2977754"/>
            <a:ext cx="5309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</a:t>
            </a: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19">
            <a:extLst>
              <a:ext uri="{FF2B5EF4-FFF2-40B4-BE49-F238E27FC236}">
                <a16:creationId xmlns:a16="http://schemas.microsoft.com/office/drawing/2014/main" id="{60E146DF-39A9-4771-81C9-59F3D8382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1" y="5029200"/>
            <a:ext cx="5728097" cy="87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机器数：  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0001 16C2H</a:t>
            </a:r>
          </a:p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=0 </a:t>
            </a:r>
            <a:r>
              <a:rPr lang="en-US" altLang="zh-CN" sz="1500">
                <a:solidFill>
                  <a:srgbClr val="FD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0000 0000 </a:t>
            </a:r>
            <a:r>
              <a:rPr lang="en-US" altLang="zh-CN" sz="1500">
                <a:solidFill>
                  <a:srgbClr val="063D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000 0001 0001 0110 1100 0010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</a:p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真值：     </a:t>
            </a: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r>
              <a:rPr lang="en-US" altLang="zh-CN" sz="1500">
                <a:solidFill>
                  <a:srgbClr val="063D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000 0001 0001 0110 1100 0010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baseline="30000">
                <a:solidFill>
                  <a:srgbClr val="FD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-126</a:t>
            </a:r>
          </a:p>
        </p:txBody>
      </p:sp>
      <p:sp>
        <p:nvSpPr>
          <p:cNvPr id="23" name="矩形 20">
            <a:extLst>
              <a:ext uri="{FF2B5EF4-FFF2-40B4-BE49-F238E27FC236}">
                <a16:creationId xmlns:a16="http://schemas.microsoft.com/office/drawing/2014/main" id="{F7B6BD8A-81E9-4394-80FD-3EA21182B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067" y="5175648"/>
            <a:ext cx="5309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</a:t>
            </a: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E09F7FBA-5357-4951-8B8E-E02D0E8A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7521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D3BF478-1B1A-45A2-90F7-6B6E01962D06}"/>
              </a:ext>
            </a:extLst>
          </p:cNvPr>
          <p:cNvPicPr/>
          <p:nvPr/>
        </p:nvPicPr>
        <p:blipFill rotWithShape="1">
          <a:blip r:embed="rId2"/>
          <a:srcRect t="20916" r="882" b="52676"/>
          <a:stretch/>
        </p:blipFill>
        <p:spPr bwMode="auto">
          <a:xfrm>
            <a:off x="313509" y="1553808"/>
            <a:ext cx="8503920" cy="2310168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B7B91A-9343-44B2-8E53-324156620A0B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FFEFF10-7E03-4302-8CF5-D45014402492}"/>
              </a:ext>
            </a:extLst>
          </p:cNvPr>
          <p:cNvCxnSpPr>
            <a:cxnSpLocks/>
          </p:cNvCxnSpPr>
          <p:nvPr/>
        </p:nvCxnSpPr>
        <p:spPr>
          <a:xfrm flipH="1">
            <a:off x="906236" y="2228207"/>
            <a:ext cx="3746094" cy="4806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BC8C47-C93F-4AE3-9011-F1CDB3DE321C}"/>
              </a:ext>
            </a:extLst>
          </p:cNvPr>
          <p:cNvCxnSpPr>
            <a:cxnSpLocks/>
          </p:cNvCxnSpPr>
          <p:nvPr/>
        </p:nvCxnSpPr>
        <p:spPr>
          <a:xfrm flipH="1">
            <a:off x="4165050" y="2676985"/>
            <a:ext cx="494027" cy="1449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6C00A8-E662-43EC-A254-056968FD4D00}"/>
              </a:ext>
            </a:extLst>
          </p:cNvPr>
          <p:cNvSpPr/>
          <p:nvPr/>
        </p:nvSpPr>
        <p:spPr>
          <a:xfrm>
            <a:off x="2827011" y="2676985"/>
            <a:ext cx="1304118" cy="8955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084A8B-3445-4C4F-891C-3B2F8DFB0E4F}"/>
              </a:ext>
            </a:extLst>
          </p:cNvPr>
          <p:cNvCxnSpPr>
            <a:cxnSpLocks/>
          </p:cNvCxnSpPr>
          <p:nvPr/>
        </p:nvCxnSpPr>
        <p:spPr>
          <a:xfrm flipH="1">
            <a:off x="5613213" y="3572493"/>
            <a:ext cx="168829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F5402A8-ECD6-4F2B-BD66-93A78649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2555"/>
              </p:ext>
            </p:extLst>
          </p:nvPr>
        </p:nvGraphicFramePr>
        <p:xfrm>
          <a:off x="843992" y="4021371"/>
          <a:ext cx="7299262" cy="1008000"/>
        </p:xfrm>
        <a:graphic>
          <a:graphicData uri="http://schemas.openxmlformats.org/drawingml/2006/table">
            <a:tbl>
              <a:tblPr firstRow="1" firstCol="1" bandRow="1"/>
              <a:tblGrid>
                <a:gridCol w="1459558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920588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919116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finf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x7F80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 err="1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fninf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FF80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2975"/>
                  </a:ext>
                </a:extLst>
              </a:tr>
            </a:tbl>
          </a:graphicData>
        </a:graphic>
      </p:graphicFrame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5F18A8E6-F123-4603-81B9-2A4B692CB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742830"/>
              </p:ext>
            </p:extLst>
          </p:nvPr>
        </p:nvGraphicFramePr>
        <p:xfrm>
          <a:off x="2972830" y="5185632"/>
          <a:ext cx="4862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0634" imgH="622896" progId="Visio.Drawing.11">
                  <p:embed/>
                </p:oleObj>
              </mc:Choice>
              <mc:Fallback>
                <p:oleObj name="Visio" r:id="rId3" imgW="3460634" imgH="622896" progId="Visio.Drawing.11">
                  <p:embed/>
                  <p:pic>
                    <p:nvPicPr>
                      <p:cNvPr id="14" name="对象 3">
                        <a:extLst>
                          <a:ext uri="{FF2B5EF4-FFF2-40B4-BE49-F238E27FC236}">
                            <a16:creationId xmlns:a16="http://schemas.microsoft.com/office/drawing/2014/main" id="{5F18A8E6-F123-4603-81B9-2A4B692CB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830" y="5185632"/>
                        <a:ext cx="4862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CECEC9-05B5-44F0-88C0-D3AEDA61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92" y="5617402"/>
            <a:ext cx="1454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正负无穷大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8BB0AE8-5647-4559-9CB8-338FD41CD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011" y="6049232"/>
            <a:ext cx="557240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浮点数的阶码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127+e&gt;254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，则超过规格化数的表示能力，就定义为无穷大数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81A0AD4-D308-400F-9B94-59A180099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18838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D6CFD759-4644-4DF6-A301-21DD10F7DEA7}"/>
              </a:ext>
            </a:extLst>
          </p:cNvPr>
          <p:cNvPicPr/>
          <p:nvPr/>
        </p:nvPicPr>
        <p:blipFill rotWithShape="1">
          <a:blip r:embed="rId2"/>
          <a:srcRect l="-1" t="20620" r="1156" b="52377"/>
          <a:stretch/>
        </p:blipFill>
        <p:spPr bwMode="auto">
          <a:xfrm>
            <a:off x="791574" y="1283838"/>
            <a:ext cx="7560129" cy="2539263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B7B91A-9343-44B2-8E53-324156620A0B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FFEFF10-7E03-4302-8CF5-D45014402492}"/>
              </a:ext>
            </a:extLst>
          </p:cNvPr>
          <p:cNvCxnSpPr>
            <a:cxnSpLocks/>
          </p:cNvCxnSpPr>
          <p:nvPr/>
        </p:nvCxnSpPr>
        <p:spPr>
          <a:xfrm flipH="1">
            <a:off x="1338943" y="2049676"/>
            <a:ext cx="3328442" cy="314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BC8C47-C93F-4AE3-9011-F1CDB3DE321C}"/>
              </a:ext>
            </a:extLst>
          </p:cNvPr>
          <p:cNvCxnSpPr>
            <a:cxnSpLocks/>
          </p:cNvCxnSpPr>
          <p:nvPr/>
        </p:nvCxnSpPr>
        <p:spPr>
          <a:xfrm flipH="1">
            <a:off x="4297376" y="2520207"/>
            <a:ext cx="370009" cy="1057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6C00A8-E662-43EC-A254-056968FD4D00}"/>
              </a:ext>
            </a:extLst>
          </p:cNvPr>
          <p:cNvSpPr/>
          <p:nvPr/>
        </p:nvSpPr>
        <p:spPr>
          <a:xfrm>
            <a:off x="2868667" y="2353599"/>
            <a:ext cx="1428708" cy="1320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084A8B-3445-4C4F-891C-3B2F8DFB0E4F}"/>
              </a:ext>
            </a:extLst>
          </p:cNvPr>
          <p:cNvCxnSpPr>
            <a:cxnSpLocks/>
          </p:cNvCxnSpPr>
          <p:nvPr/>
        </p:nvCxnSpPr>
        <p:spPr>
          <a:xfrm flipH="1">
            <a:off x="5509345" y="3518092"/>
            <a:ext cx="168829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F5402A8-ECD6-4F2B-BD66-93A78649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23995"/>
              </p:ext>
            </p:extLst>
          </p:nvPr>
        </p:nvGraphicFramePr>
        <p:xfrm>
          <a:off x="843992" y="4021371"/>
          <a:ext cx="7299262" cy="1008000"/>
        </p:xfrm>
        <a:graphic>
          <a:graphicData uri="http://schemas.openxmlformats.org/drawingml/2006/table">
            <a:tbl>
              <a:tblPr firstRow="1" firstCol="1" bandRow="1"/>
              <a:tblGrid>
                <a:gridCol w="1459558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920588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919116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fnan1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xFFC0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Fnan2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0x7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FC0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2975"/>
                  </a:ext>
                </a:extLst>
              </a:tr>
            </a:tbl>
          </a:graphicData>
        </a:graphic>
      </p:graphicFrame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5F18A8E6-F123-4603-81B9-2A4B692CB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32002"/>
              </p:ext>
            </p:extLst>
          </p:nvPr>
        </p:nvGraphicFramePr>
        <p:xfrm>
          <a:off x="2972830" y="5185632"/>
          <a:ext cx="4862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0634" imgH="622896" progId="Visio.Drawing.11">
                  <p:embed/>
                </p:oleObj>
              </mc:Choice>
              <mc:Fallback>
                <p:oleObj name="Visio" r:id="rId3" imgW="3460634" imgH="622896" progId="Visio.Drawing.11">
                  <p:embed/>
                  <p:pic>
                    <p:nvPicPr>
                      <p:cNvPr id="14" name="对象 3">
                        <a:extLst>
                          <a:ext uri="{FF2B5EF4-FFF2-40B4-BE49-F238E27FC236}">
                            <a16:creationId xmlns:a16="http://schemas.microsoft.com/office/drawing/2014/main" id="{5F18A8E6-F123-4603-81B9-2A4B692CB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830" y="5185632"/>
                        <a:ext cx="4862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CECEC9-05B5-44F0-88C0-D3AEDA61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92" y="5617402"/>
            <a:ext cx="1454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无定义数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B090190-7F3C-4704-9A63-1D4503E34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5616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A83AD696-96D9-4D74-B105-419A07541C8E}"/>
              </a:ext>
            </a:extLst>
          </p:cNvPr>
          <p:cNvPicPr/>
          <p:nvPr/>
        </p:nvPicPr>
        <p:blipFill rotWithShape="1">
          <a:blip r:embed="rId2"/>
          <a:srcRect t="20772" r="1161" b="52678"/>
          <a:stretch/>
        </p:blipFill>
        <p:spPr bwMode="auto">
          <a:xfrm>
            <a:off x="759278" y="1313230"/>
            <a:ext cx="7241721" cy="2552968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B7B91A-9343-44B2-8E53-324156620A0B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FFEFF10-7E03-4302-8CF5-D45014402492}"/>
              </a:ext>
            </a:extLst>
          </p:cNvPr>
          <p:cNvCxnSpPr>
            <a:cxnSpLocks/>
          </p:cNvCxnSpPr>
          <p:nvPr/>
        </p:nvCxnSpPr>
        <p:spPr>
          <a:xfrm flipH="1">
            <a:off x="1240971" y="2065564"/>
            <a:ext cx="3208566" cy="7102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BC8C47-C93F-4AE3-9011-F1CDB3DE321C}"/>
              </a:ext>
            </a:extLst>
          </p:cNvPr>
          <p:cNvCxnSpPr>
            <a:cxnSpLocks/>
          </p:cNvCxnSpPr>
          <p:nvPr/>
        </p:nvCxnSpPr>
        <p:spPr>
          <a:xfrm flipH="1">
            <a:off x="4082878" y="2589714"/>
            <a:ext cx="370009" cy="1057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6C00A8-E662-43EC-A254-056968FD4D00}"/>
              </a:ext>
            </a:extLst>
          </p:cNvPr>
          <p:cNvSpPr/>
          <p:nvPr/>
        </p:nvSpPr>
        <p:spPr>
          <a:xfrm>
            <a:off x="2868667" y="2731635"/>
            <a:ext cx="1131833" cy="94228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084A8B-3445-4C4F-891C-3B2F8DFB0E4F}"/>
              </a:ext>
            </a:extLst>
          </p:cNvPr>
          <p:cNvCxnSpPr>
            <a:cxnSpLocks/>
          </p:cNvCxnSpPr>
          <p:nvPr/>
        </p:nvCxnSpPr>
        <p:spPr>
          <a:xfrm flipH="1">
            <a:off x="5248088" y="3591570"/>
            <a:ext cx="1503776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F5402A8-ECD6-4F2B-BD66-93A78649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61248"/>
              </p:ext>
            </p:extLst>
          </p:nvPr>
        </p:nvGraphicFramePr>
        <p:xfrm>
          <a:off x="843992" y="4021371"/>
          <a:ext cx="7299262" cy="1008000"/>
        </p:xfrm>
        <a:graphic>
          <a:graphicData uri="http://schemas.openxmlformats.org/drawingml/2006/table">
            <a:tbl>
              <a:tblPr firstRow="1" firstCol="1" bandRow="1"/>
              <a:tblGrid>
                <a:gridCol w="1459558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920588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919116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fnormal1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x40A0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Fnormal2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2975"/>
                  </a:ext>
                </a:extLst>
              </a:tr>
            </a:tbl>
          </a:graphicData>
        </a:graphic>
      </p:graphicFrame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5F18A8E6-F123-4603-81B9-2A4B692CB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578657"/>
              </p:ext>
            </p:extLst>
          </p:nvPr>
        </p:nvGraphicFramePr>
        <p:xfrm>
          <a:off x="2972830" y="5185632"/>
          <a:ext cx="4862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0634" imgH="622896" progId="Visio.Drawing.11">
                  <p:embed/>
                </p:oleObj>
              </mc:Choice>
              <mc:Fallback>
                <p:oleObj name="Visio" r:id="rId3" imgW="3460634" imgH="622896" progId="Visio.Drawing.11">
                  <p:embed/>
                  <p:pic>
                    <p:nvPicPr>
                      <p:cNvPr id="14" name="对象 3">
                        <a:extLst>
                          <a:ext uri="{FF2B5EF4-FFF2-40B4-BE49-F238E27FC236}">
                            <a16:creationId xmlns:a16="http://schemas.microsoft.com/office/drawing/2014/main" id="{5F18A8E6-F123-4603-81B9-2A4B692CB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830" y="5185632"/>
                        <a:ext cx="4862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CECEC9-05B5-44F0-88C0-D3AEDA61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92" y="5617402"/>
            <a:ext cx="1454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规格化数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D20450A-AB61-40D4-9534-DB1266893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987" y="6194486"/>
            <a:ext cx="41606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真值：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±1.f*2</a:t>
            </a:r>
            <a:r>
              <a:rPr lang="en-US" altLang="zh-CN" sz="20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e-127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1≤e≤254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C7A64AA-1EB9-423D-9C78-8E3C49006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1514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6381C8A-2EDD-4B99-B0BB-9A156022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121695"/>
            <a:ext cx="5872163" cy="67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5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18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2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125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257175" marR="0" lvl="0" indent="-25717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机器数：</a:t>
            </a: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bit      8 bits                     23 bits</a:t>
            </a:r>
            <a:endParaRPr kumimoji="0" lang="en-US" altLang="zh-CN" sz="15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57175" marR="0" lvl="0" indent="-257175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0/1</a:t>
            </a:r>
            <a:r>
              <a:rPr kumimoji="0" lang="zh-CN" altLang="en-US" sz="1500" b="1" i="0" u="none" strike="noStrike" kern="0" cap="none" spc="0" normalizeH="0" baseline="0" noProof="0">
                <a:ln>
                  <a:noFill/>
                </a:ln>
                <a:solidFill>
                  <a:srgbClr val="00E0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E+127    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xxxxxxxxxx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rgbClr val="063D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AA79D4-0B1C-4F2A-ADC4-BC3BF3769FF8}"/>
              </a:ext>
            </a:extLst>
          </p:cNvPr>
          <p:cNvGrpSpPr>
            <a:grpSpLocks/>
          </p:cNvGrpSpPr>
          <p:nvPr/>
        </p:nvGrpSpPr>
        <p:grpSpPr bwMode="auto">
          <a:xfrm>
            <a:off x="2782492" y="2413397"/>
            <a:ext cx="4355306" cy="276225"/>
            <a:chOff x="611" y="1221"/>
            <a:chExt cx="4272" cy="295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9090A03B-E699-44B9-A45D-114831FBA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1228"/>
              <a:ext cx="4272" cy="2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AE614894-B962-4C2D-BC9F-30D61DE84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221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B7BE03BA-4E93-4F90-AE23-2DDB4B0CD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1221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4DD59D5F-A678-43FC-AF33-A9B3530A5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854" y="1807369"/>
            <a:ext cx="318228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真值：       </a:t>
            </a:r>
            <a:r>
              <a:rPr lang="en-US" altLang="zh-CN" sz="1500">
                <a:solidFill>
                  <a:srgbClr val="FF66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+/-</a:t>
            </a:r>
            <a:r>
              <a:rPr lang="en-US" altLang="zh-CN" sz="1500">
                <a:solidFill>
                  <a:srgbClr val="081D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en-US" altLang="zh-CN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r>
              <a:rPr lang="en-US" altLang="zh-CN" sz="1500">
                <a:solidFill>
                  <a:srgbClr val="063D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xxxxxxxxxx</a:t>
            </a:r>
            <a:r>
              <a:rPr lang="en-US" altLang="zh-CN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en-US" altLang="zh-CN" sz="15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2</a:t>
            </a:r>
            <a:r>
              <a:rPr lang="en-US" altLang="zh-CN" sz="1500" baseline="30000">
                <a:solidFill>
                  <a:srgbClr val="CC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</a:t>
            </a:r>
            <a:endParaRPr lang="zh-CN" altLang="en-US" sz="1500" baseline="30000">
              <a:solidFill>
                <a:srgbClr val="CC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1423F0A3-4A90-4D38-9418-DD13AA353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229" y="3883819"/>
            <a:ext cx="614362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625" tIns="19050" rIns="47625" bIns="19050"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6858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0" lang="zh-CN" alt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机器数：</a:t>
            </a: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 bit      8 bits                     23 bits</a:t>
            </a:r>
            <a:endParaRPr kumimoji="0" lang="en-US" altLang="zh-CN" sz="15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6858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75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    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Exponent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Significand</a:t>
            </a:r>
            <a:endParaRPr kumimoji="0" lang="en-US" altLang="zh-CN" sz="1500" b="1" i="0" u="none" strike="noStrike" kern="0" cap="none" spc="0" normalizeH="0" baseline="0" noProof="0">
              <a:ln>
                <a:noFill/>
              </a:ln>
              <a:solidFill>
                <a:srgbClr val="FD012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181DEB90-BD1F-4809-BC90-AE9D692E9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1" y="4610100"/>
            <a:ext cx="53280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lnSpc>
                <a:spcPct val="100000"/>
              </a:lnSpc>
              <a:spcAft>
                <a:spcPct val="0"/>
              </a:spcAft>
              <a:buClr>
                <a:srgbClr val="99CC00"/>
              </a:buClr>
              <a:buSzPct val="60000"/>
              <a:buFontTx/>
              <a:buNone/>
              <a:defRPr/>
            </a:pPr>
            <a:r>
              <a:rPr kumimoji="1" lang="zh-CN" altLang="en-US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真值：       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(-1)</a:t>
            </a:r>
            <a:r>
              <a:rPr kumimoji="1" lang="en-US" altLang="zh-CN" sz="1500" baseline="300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5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(1 +</a:t>
            </a:r>
            <a:r>
              <a:rPr kumimoji="1" lang="en-US" altLang="zh-CN" sz="15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50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Significand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kumimoji="1" lang="zh-CN" altLang="en-US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en-US" altLang="zh-CN" sz="15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15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5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Exponent</a:t>
            </a:r>
            <a:r>
              <a:rPr kumimoji="1" lang="en-US" altLang="zh-CN" sz="15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-127)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D453E909-4A01-4D29-851E-B2F355194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789" y="3708797"/>
            <a:ext cx="633769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D062985-5B70-4A9A-8639-BC703EFB4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1471613"/>
            <a:ext cx="345479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规格化数的真值与机器数的对应关系：</a:t>
            </a:r>
          </a:p>
        </p:txBody>
      </p:sp>
      <p:sp>
        <p:nvSpPr>
          <p:cNvPr id="16" name="矩形 1">
            <a:extLst>
              <a:ext uri="{FF2B5EF4-FFF2-40B4-BE49-F238E27FC236}">
                <a16:creationId xmlns:a16="http://schemas.microsoft.com/office/drawing/2014/main" id="{CACA0281-7160-4ACC-86AD-055E00822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042" y="2787253"/>
            <a:ext cx="5726906" cy="87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真值：     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5.0=1.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kumimoji="0" lang="en-US" altLang="zh-CN" sz="1500" b="1" i="0" u="none" strike="noStrike" kern="0" cap="none" spc="0" normalizeH="0" baseline="3000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            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2+127=1000 0001B</a:t>
            </a:r>
          </a:p>
          <a:p>
            <a:pPr marL="0" marR="0" lvl="0" indent="0" defTabSz="6858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机器数：  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FD01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1000 0001 </a:t>
            </a:r>
            <a:r>
              <a: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63D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010 0000 0000 0000 0000 0000</a:t>
            </a: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</a:p>
          <a:p>
            <a:pPr marL="0" marR="0" lvl="0" indent="0" defTabSz="6858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=40a0 0000H</a:t>
            </a: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矩形 2">
            <a:extLst>
              <a:ext uri="{FF2B5EF4-FFF2-40B4-BE49-F238E27FC236}">
                <a16:creationId xmlns:a16="http://schemas.microsoft.com/office/drawing/2014/main" id="{7287F2EF-8160-4F2B-8B79-2AF064D42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167" y="2977754"/>
            <a:ext cx="5309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</a:t>
            </a: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9">
            <a:extLst>
              <a:ext uri="{FF2B5EF4-FFF2-40B4-BE49-F238E27FC236}">
                <a16:creationId xmlns:a16="http://schemas.microsoft.com/office/drawing/2014/main" id="{D9458212-22A6-4B8D-8A6B-BC5F3052A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1" y="5029200"/>
            <a:ext cx="5728097" cy="87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机器数：  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40a0 0000H</a:t>
            </a:r>
          </a:p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=0 </a:t>
            </a:r>
            <a:r>
              <a:rPr lang="en-US" altLang="zh-CN" sz="1500">
                <a:solidFill>
                  <a:srgbClr val="FD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1000 0001 </a:t>
            </a:r>
            <a:r>
              <a:rPr lang="en-US" altLang="zh-CN" sz="1500">
                <a:solidFill>
                  <a:srgbClr val="063D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010 0000 0000 0000 0000 0000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</a:p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真值：     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</a:t>
            </a:r>
            <a:r>
              <a:rPr lang="en-US" altLang="zh-CN" sz="1500">
                <a:solidFill>
                  <a:srgbClr val="063D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13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baseline="30000">
                <a:solidFill>
                  <a:srgbClr val="FD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     </a:t>
            </a:r>
            <a:r>
              <a:rPr lang="en-US" altLang="zh-CN" sz="1500">
                <a:solidFill>
                  <a:srgbClr val="FD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0001B-127=2</a:t>
            </a:r>
            <a:endParaRPr lang="en-US" altLang="zh-CN" sz="1500" baseline="30000">
              <a:solidFill>
                <a:srgbClr val="FD01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20">
            <a:extLst>
              <a:ext uri="{FF2B5EF4-FFF2-40B4-BE49-F238E27FC236}">
                <a16:creationId xmlns:a16="http://schemas.microsoft.com/office/drawing/2014/main" id="{E8774055-2DBC-4323-BE43-F21378924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067" y="5175648"/>
            <a:ext cx="5309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</a:t>
            </a: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91DC45B7-2493-474C-8D6A-0119ED06BB74}"/>
              </a:ext>
            </a:extLst>
          </p:cNvPr>
          <p:cNvGrpSpPr>
            <a:grpSpLocks/>
          </p:cNvGrpSpPr>
          <p:nvPr/>
        </p:nvGrpSpPr>
        <p:grpSpPr bwMode="auto">
          <a:xfrm>
            <a:off x="2780110" y="4192192"/>
            <a:ext cx="4357688" cy="302419"/>
            <a:chOff x="611" y="1217"/>
            <a:chExt cx="4272" cy="299"/>
          </a:xfrm>
        </p:grpSpPr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67A2B3EB-9F5B-4DB8-A5E9-914D02C81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1228"/>
              <a:ext cx="4272" cy="2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22B4459E-7E5E-4AF2-823B-8BA20CA08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221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CE64568D-C279-4B47-800D-22E361D31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4" y="1217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3D3C6890-63F5-40CE-80B1-24BDC5D5E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14440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754520FF-CB4B-495E-A63F-26EC13E0F58D}"/>
              </a:ext>
            </a:extLst>
          </p:cNvPr>
          <p:cNvPicPr/>
          <p:nvPr/>
        </p:nvPicPr>
        <p:blipFill rotWithShape="1">
          <a:blip r:embed="rId2"/>
          <a:srcRect t="20768" r="1242" b="52375"/>
          <a:stretch/>
        </p:blipFill>
        <p:spPr bwMode="auto">
          <a:xfrm>
            <a:off x="710302" y="1553808"/>
            <a:ext cx="7427128" cy="2317469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B7B91A-9343-44B2-8E53-324156620A0B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FFEFF10-7E03-4302-8CF5-D45014402492}"/>
              </a:ext>
            </a:extLst>
          </p:cNvPr>
          <p:cNvCxnSpPr>
            <a:cxnSpLocks/>
          </p:cNvCxnSpPr>
          <p:nvPr/>
        </p:nvCxnSpPr>
        <p:spPr>
          <a:xfrm flipH="1">
            <a:off x="1208325" y="2498271"/>
            <a:ext cx="3215541" cy="5143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BC8C47-C93F-4AE3-9011-F1CDB3DE321C}"/>
              </a:ext>
            </a:extLst>
          </p:cNvPr>
          <p:cNvCxnSpPr>
            <a:cxnSpLocks/>
          </p:cNvCxnSpPr>
          <p:nvPr/>
        </p:nvCxnSpPr>
        <p:spPr>
          <a:xfrm flipH="1">
            <a:off x="4117355" y="2882413"/>
            <a:ext cx="370009" cy="1057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6C00A8-E662-43EC-A254-056968FD4D00}"/>
              </a:ext>
            </a:extLst>
          </p:cNvPr>
          <p:cNvSpPr/>
          <p:nvPr/>
        </p:nvSpPr>
        <p:spPr>
          <a:xfrm>
            <a:off x="2857509" y="2988128"/>
            <a:ext cx="1131833" cy="68580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084A8B-3445-4C4F-891C-3B2F8DFB0E4F}"/>
              </a:ext>
            </a:extLst>
          </p:cNvPr>
          <p:cNvCxnSpPr>
            <a:cxnSpLocks/>
          </p:cNvCxnSpPr>
          <p:nvPr/>
        </p:nvCxnSpPr>
        <p:spPr>
          <a:xfrm flipH="1">
            <a:off x="5337904" y="3591570"/>
            <a:ext cx="638353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F5402A8-ECD6-4F2B-BD66-93A78649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836559"/>
              </p:ext>
            </p:extLst>
          </p:nvPr>
        </p:nvGraphicFramePr>
        <p:xfrm>
          <a:off x="804200" y="4295843"/>
          <a:ext cx="7299262" cy="648000"/>
        </p:xfrm>
        <a:graphic>
          <a:graphicData uri="http://schemas.openxmlformats.org/drawingml/2006/table">
            <a:tbl>
              <a:tblPr firstRow="1" firstCol="1" bandRow="1"/>
              <a:tblGrid>
                <a:gridCol w="1459558">
                  <a:extLst>
                    <a:ext uri="{9D8B030D-6E8A-4147-A177-3AD203B41FA5}">
                      <a16:colId xmlns:a16="http://schemas.microsoft.com/office/drawing/2014/main" val="1013554337"/>
                    </a:ext>
                  </a:extLst>
                </a:gridCol>
                <a:gridCol w="2920588">
                  <a:extLst>
                    <a:ext uri="{9D8B030D-6E8A-4147-A177-3AD203B41FA5}">
                      <a16:colId xmlns:a16="http://schemas.microsoft.com/office/drawing/2014/main" val="3365839509"/>
                    </a:ext>
                  </a:extLst>
                </a:gridCol>
                <a:gridCol w="2919116">
                  <a:extLst>
                    <a:ext uri="{9D8B030D-6E8A-4147-A177-3AD203B41FA5}">
                      <a16:colId xmlns:a16="http://schemas.microsoft.com/office/drawing/2014/main" val="781775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20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输出结果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514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finf2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x7F80 0000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68373"/>
                  </a:ext>
                </a:extLst>
              </a:tr>
            </a:tbl>
          </a:graphicData>
        </a:graphic>
      </p:graphicFrame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5F18A8E6-F123-4603-81B9-2A4B692CB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49914"/>
              </p:ext>
            </p:extLst>
          </p:nvPr>
        </p:nvGraphicFramePr>
        <p:xfrm>
          <a:off x="2972830" y="5185632"/>
          <a:ext cx="4862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0634" imgH="622896" progId="Visio.Drawing.11">
                  <p:embed/>
                </p:oleObj>
              </mc:Choice>
              <mc:Fallback>
                <p:oleObj name="Visio" r:id="rId3" imgW="3460634" imgH="622896" progId="Visio.Drawing.11">
                  <p:embed/>
                  <p:pic>
                    <p:nvPicPr>
                      <p:cNvPr id="14" name="对象 3">
                        <a:extLst>
                          <a:ext uri="{FF2B5EF4-FFF2-40B4-BE49-F238E27FC236}">
                            <a16:creationId xmlns:a16="http://schemas.microsoft.com/office/drawing/2014/main" id="{5F18A8E6-F123-4603-81B9-2A4B692CB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830" y="5185632"/>
                        <a:ext cx="4862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CECEC9-05B5-44F0-88C0-D3AEDA61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91" y="5617402"/>
            <a:ext cx="17114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浮点数除以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88CA1DD5-E217-4720-9EAA-3D433155F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34943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255E32-4662-44E8-9DFF-F12984D2D6E0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383D97C-B69C-4BFF-A5EB-EFB18F474BBB}"/>
              </a:ext>
            </a:extLst>
          </p:cNvPr>
          <p:cNvSpPr/>
          <p:nvPr/>
        </p:nvSpPr>
        <p:spPr>
          <a:xfrm>
            <a:off x="932423" y="1066786"/>
            <a:ext cx="6959282" cy="378565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float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=0,fnzero=-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// 0,-0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float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ffrac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=1e-40,fnfrac=-1e-40;                  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=4e38,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fninf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=-4e38;  	              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正无穷大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负无穷大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fnan1=finf+fninf,fnan2=-fnan1;         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无定义数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=5.0,fnnormal=-5;                  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规格化数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 finf2=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  //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0,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无穷大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fzero,fnzero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("%.50f\n%.50f\n",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ffrac,fnfrac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finf,fninf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%f\n",fnan1,fnan2);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  %f\n",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fnormal,fnnormal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("%f\n",finf2);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DE3FF0B-B1F5-4591-8A5D-00F3DE2E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4971492"/>
            <a:ext cx="5341710" cy="162310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04D04D-C400-4BAB-9D5F-58A804E03CAD}"/>
              </a:ext>
            </a:extLst>
          </p:cNvPr>
          <p:cNvSpPr/>
          <p:nvPr/>
        </p:nvSpPr>
        <p:spPr>
          <a:xfrm>
            <a:off x="6032590" y="5209601"/>
            <a:ext cx="2577556" cy="138499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0,-0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非规格化数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正无穷大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负无穷大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无定义数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规格化数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除以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0,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无穷大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A08CF20-4C38-4FDD-9311-8E22363C3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526" y="304778"/>
            <a:ext cx="622764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浮点型数据的真值与机器数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7820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4FF39F3-DEFB-4877-9BC3-AFA21263C97E}"/>
              </a:ext>
            </a:extLst>
          </p:cNvPr>
          <p:cNvSpPr/>
          <p:nvPr/>
        </p:nvSpPr>
        <p:spPr>
          <a:xfrm>
            <a:off x="728913" y="1040584"/>
            <a:ext cx="8161993" cy="4212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main()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 struct record {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char 	        xc;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int  	        xi; 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short 	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char 	        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yc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struct record R[2] 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R[0].xc=100;          R[0].xi=100;                  R[0].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=100;          R[0].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yc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R[1].xc=0x11;        R[1].xi=0x12345678;    R[1].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=0x2233;    R[1].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yc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=0x44;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90488"/>
            <a:endParaRPr lang="en-US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90488"/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("char:%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dB,short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:%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dB,int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:%dB\n",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(R[0].xc),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(R[0].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</a:p>
          <a:p>
            <a:pPr indent="90488"/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(R[0].xi));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("R:%dB\n",</a:t>
            </a:r>
            <a:r>
              <a:rPr lang="en-US" altLang="zh-CN" sz="1575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(R));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7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1575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E5C76A-6359-43E4-8AEA-4975F9065CB5}"/>
              </a:ext>
            </a:extLst>
          </p:cNvPr>
          <p:cNvSpPr/>
          <p:nvPr/>
        </p:nvSpPr>
        <p:spPr>
          <a:xfrm>
            <a:off x="6828586" y="5313795"/>
            <a:ext cx="2062320" cy="1156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数据存储的宽度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大端、小端方式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数据存储的对齐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C050ADA-5F47-43B9-9F2D-CE1B68595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08" y="5247271"/>
            <a:ext cx="6240156" cy="12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R[0].xc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R[0].xi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R[0].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的初始值相同，他们的机器数一样吗？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计算机采用字节编址方式。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R[0].xi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R[0].xi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字节，这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字节如何排列？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、在上述定义中，数组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占用多少字节？代码是否可以优化？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AF28C6-E2BC-4B50-BE19-3A404B37C889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">
            <a:extLst>
              <a:ext uri="{FF2B5EF4-FFF2-40B4-BE49-F238E27FC236}">
                <a16:creationId xmlns:a16="http://schemas.microsoft.com/office/drawing/2014/main" id="{1F6EF7CE-91BB-4FE4-A1DB-B2664CB26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035" y="326823"/>
            <a:ext cx="579881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440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B51373A-4067-42E5-B25E-6D05F496A58F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22D785F-6080-4C71-8830-853A8C498096}"/>
              </a:ext>
            </a:extLst>
          </p:cNvPr>
          <p:cNvPicPr/>
          <p:nvPr/>
        </p:nvPicPr>
        <p:blipFill rotWithShape="1">
          <a:blip r:embed="rId2"/>
          <a:srcRect l="1" r="429" b="22878"/>
          <a:stretch/>
        </p:blipFill>
        <p:spPr bwMode="auto">
          <a:xfrm>
            <a:off x="1099004" y="1289973"/>
            <a:ext cx="6858000" cy="3633057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AF4E498-E6E2-409A-AAC4-D1F60E6613CD}"/>
              </a:ext>
            </a:extLst>
          </p:cNvPr>
          <p:cNvSpPr/>
          <p:nvPr/>
        </p:nvSpPr>
        <p:spPr>
          <a:xfrm>
            <a:off x="3077936" y="3755571"/>
            <a:ext cx="1371600" cy="457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26BF4-1B76-4E2C-9970-FDB5A41A3A37}"/>
              </a:ext>
            </a:extLst>
          </p:cNvPr>
          <p:cNvSpPr/>
          <p:nvPr/>
        </p:nvSpPr>
        <p:spPr>
          <a:xfrm>
            <a:off x="3077935" y="4313441"/>
            <a:ext cx="1567543" cy="457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30E73CF-0BAA-453F-89D2-A3DFFE7D0515}"/>
              </a:ext>
            </a:extLst>
          </p:cNvPr>
          <p:cNvCxnSpPr/>
          <p:nvPr/>
        </p:nvCxnSpPr>
        <p:spPr>
          <a:xfrm>
            <a:off x="2359479" y="3853543"/>
            <a:ext cx="14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A6D77FB-B438-4B8E-9C30-9D5A06FF4AD9}"/>
              </a:ext>
            </a:extLst>
          </p:cNvPr>
          <p:cNvCxnSpPr>
            <a:cxnSpLocks/>
          </p:cNvCxnSpPr>
          <p:nvPr/>
        </p:nvCxnSpPr>
        <p:spPr>
          <a:xfrm>
            <a:off x="2359479" y="3965123"/>
            <a:ext cx="58782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49A0F03-5917-4629-8EFF-9B327D8E4BE7}"/>
              </a:ext>
            </a:extLst>
          </p:cNvPr>
          <p:cNvCxnSpPr>
            <a:cxnSpLocks/>
          </p:cNvCxnSpPr>
          <p:nvPr/>
        </p:nvCxnSpPr>
        <p:spPr>
          <a:xfrm>
            <a:off x="2506435" y="4093030"/>
            <a:ext cx="25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DC1D0DE-6103-4E46-B4F6-957B7B5013AA}"/>
              </a:ext>
            </a:extLst>
          </p:cNvPr>
          <p:cNvCxnSpPr/>
          <p:nvPr/>
        </p:nvCxnSpPr>
        <p:spPr>
          <a:xfrm>
            <a:off x="2340427" y="4193719"/>
            <a:ext cx="14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1F0EB51-46A6-4462-B4F0-2B8D2C59E90D}"/>
              </a:ext>
            </a:extLst>
          </p:cNvPr>
          <p:cNvCxnSpPr/>
          <p:nvPr/>
        </p:nvCxnSpPr>
        <p:spPr>
          <a:xfrm>
            <a:off x="2345870" y="4427759"/>
            <a:ext cx="14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A25895-7329-43B9-B650-2BCB62B0A908}"/>
              </a:ext>
            </a:extLst>
          </p:cNvPr>
          <p:cNvCxnSpPr>
            <a:cxnSpLocks/>
          </p:cNvCxnSpPr>
          <p:nvPr/>
        </p:nvCxnSpPr>
        <p:spPr>
          <a:xfrm>
            <a:off x="2340427" y="4542066"/>
            <a:ext cx="58782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14B207-AEAA-4356-A66B-196D22F250D7}"/>
              </a:ext>
            </a:extLst>
          </p:cNvPr>
          <p:cNvCxnSpPr>
            <a:cxnSpLocks/>
          </p:cNvCxnSpPr>
          <p:nvPr/>
        </p:nvCxnSpPr>
        <p:spPr>
          <a:xfrm>
            <a:off x="2506435" y="4661808"/>
            <a:ext cx="25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E094C7A-16FD-4AD5-9A5E-9CCB1EF6B635}"/>
              </a:ext>
            </a:extLst>
          </p:cNvPr>
          <p:cNvCxnSpPr/>
          <p:nvPr/>
        </p:nvCxnSpPr>
        <p:spPr>
          <a:xfrm>
            <a:off x="2340427" y="4770634"/>
            <a:ext cx="14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61751A13-1952-4E5A-970D-C26955AA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5347576"/>
            <a:ext cx="61722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defTabSz="685800"/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1B+4B+2B+1B=8B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8B*2=16B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，正确吗？      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685800">
              <a:lnSpc>
                <a:spcPct val="150000"/>
              </a:lnSpc>
            </a:pP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为什么输出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24B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F243F82-9F34-4D29-9EEE-FF4920A14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035" y="326823"/>
            <a:ext cx="579881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2508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3E20D361-EA57-4187-BBE2-AF77FF182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9004" y="1198134"/>
            <a:ext cx="6755992" cy="4234483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1B1CF104-026F-496E-A557-BC82314327C0}"/>
              </a:ext>
            </a:extLst>
          </p:cNvPr>
          <p:cNvSpPr/>
          <p:nvPr/>
        </p:nvSpPr>
        <p:spPr>
          <a:xfrm>
            <a:off x="4184681" y="5580215"/>
            <a:ext cx="3670315" cy="1093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685800">
              <a:lnSpc>
                <a:spcPct val="150000"/>
              </a:lnSpc>
            </a:pPr>
            <a:r>
              <a:rPr lang="en-US" altLang="zh-CN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、数据存储的宽度</a:t>
            </a:r>
            <a:endParaRPr lang="en-US" altLang="zh-CN" sz="15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685800">
              <a:lnSpc>
                <a:spcPct val="150000"/>
              </a:lnSpc>
            </a:pPr>
            <a:r>
              <a:rPr lang="en-US" altLang="zh-CN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R[0].xc</a:t>
            </a:r>
            <a:r>
              <a:rPr lang="zh-CN" altLang="en-US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R[0].xi</a:t>
            </a:r>
            <a:r>
              <a:rPr lang="zh-CN" altLang="en-US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R[0].</a:t>
            </a:r>
            <a:r>
              <a:rPr lang="en-US" altLang="zh-CN" sz="1500" b="1" kern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zh-CN" altLang="en-US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的初始值相同，他们的机器数占用的字节数不一样</a:t>
            </a:r>
            <a:endParaRPr lang="en-US" altLang="zh-CN" sz="15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B51373A-4067-42E5-B25E-6D05F496A58F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AF4E498-E6E2-409A-AAC4-D1F60E6613CD}"/>
              </a:ext>
            </a:extLst>
          </p:cNvPr>
          <p:cNvSpPr/>
          <p:nvPr/>
        </p:nvSpPr>
        <p:spPr>
          <a:xfrm>
            <a:off x="3040464" y="3415667"/>
            <a:ext cx="1371600" cy="405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26BF4-1B76-4E2C-9970-FDB5A41A3A37}"/>
              </a:ext>
            </a:extLst>
          </p:cNvPr>
          <p:cNvSpPr/>
          <p:nvPr/>
        </p:nvSpPr>
        <p:spPr>
          <a:xfrm>
            <a:off x="3036645" y="3924635"/>
            <a:ext cx="1567543" cy="39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30E73CF-0BAA-453F-89D2-A3DFFE7D0515}"/>
              </a:ext>
            </a:extLst>
          </p:cNvPr>
          <p:cNvCxnSpPr/>
          <p:nvPr/>
        </p:nvCxnSpPr>
        <p:spPr>
          <a:xfrm>
            <a:off x="4865914" y="2879273"/>
            <a:ext cx="18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A6D77FB-B438-4B8E-9C30-9D5A06FF4AD9}"/>
              </a:ext>
            </a:extLst>
          </p:cNvPr>
          <p:cNvCxnSpPr>
            <a:cxnSpLocks/>
          </p:cNvCxnSpPr>
          <p:nvPr/>
        </p:nvCxnSpPr>
        <p:spPr>
          <a:xfrm>
            <a:off x="6453873" y="2871109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49A0F03-5917-4629-8EFF-9B327D8E4BE7}"/>
              </a:ext>
            </a:extLst>
          </p:cNvPr>
          <p:cNvCxnSpPr>
            <a:cxnSpLocks/>
          </p:cNvCxnSpPr>
          <p:nvPr/>
        </p:nvCxnSpPr>
        <p:spPr>
          <a:xfrm>
            <a:off x="4865914" y="298268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DC1D0DE-6103-4E46-B4F6-957B7B5013AA}"/>
              </a:ext>
            </a:extLst>
          </p:cNvPr>
          <p:cNvCxnSpPr/>
          <p:nvPr/>
        </p:nvCxnSpPr>
        <p:spPr>
          <a:xfrm>
            <a:off x="5646962" y="2982687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1F0EB51-46A6-4462-B4F0-2B8D2C59E90D}"/>
              </a:ext>
            </a:extLst>
          </p:cNvPr>
          <p:cNvCxnSpPr/>
          <p:nvPr/>
        </p:nvCxnSpPr>
        <p:spPr>
          <a:xfrm>
            <a:off x="6453872" y="2985403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A25895-7329-43B9-B650-2BCB62B0A908}"/>
              </a:ext>
            </a:extLst>
          </p:cNvPr>
          <p:cNvCxnSpPr>
            <a:cxnSpLocks/>
          </p:cNvCxnSpPr>
          <p:nvPr/>
        </p:nvCxnSpPr>
        <p:spPr>
          <a:xfrm>
            <a:off x="4865914" y="3096987"/>
            <a:ext cx="140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14B207-AEAA-4356-A66B-196D22F250D7}"/>
              </a:ext>
            </a:extLst>
          </p:cNvPr>
          <p:cNvCxnSpPr>
            <a:cxnSpLocks/>
          </p:cNvCxnSpPr>
          <p:nvPr/>
        </p:nvCxnSpPr>
        <p:spPr>
          <a:xfrm>
            <a:off x="6431243" y="309698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E094C7A-16FD-4AD5-9A5E-9CCB1EF6B635}"/>
              </a:ext>
            </a:extLst>
          </p:cNvPr>
          <p:cNvCxnSpPr/>
          <p:nvPr/>
        </p:nvCxnSpPr>
        <p:spPr>
          <a:xfrm>
            <a:off x="7238544" y="3091514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61751A13-1952-4E5A-970D-C26955AA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04" y="5653021"/>
            <a:ext cx="2634796" cy="9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f328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-0x20(%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f308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-0x14(%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f314</a:t>
            </a:r>
            <a:endParaRPr lang="zh-CN" altLang="en-US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B5984C3-830A-4A6B-8BAE-394D59BA3347}"/>
              </a:ext>
            </a:extLst>
          </p:cNvPr>
          <p:cNvCxnSpPr/>
          <p:nvPr/>
        </p:nvCxnSpPr>
        <p:spPr>
          <a:xfrm flipH="1">
            <a:off x="2155371" y="1866591"/>
            <a:ext cx="1885950" cy="1445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0702DD6-85A2-4756-999A-9948814C3F4A}"/>
              </a:ext>
            </a:extLst>
          </p:cNvPr>
          <p:cNvCxnSpPr>
            <a:cxnSpLocks/>
          </p:cNvCxnSpPr>
          <p:nvPr/>
        </p:nvCxnSpPr>
        <p:spPr>
          <a:xfrm flipH="1">
            <a:off x="2012965" y="2210943"/>
            <a:ext cx="2035386" cy="1609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6624824-8D9B-4914-A1A9-4A08F68067B8}"/>
              </a:ext>
            </a:extLst>
          </p:cNvPr>
          <p:cNvCxnSpPr>
            <a:cxnSpLocks/>
          </p:cNvCxnSpPr>
          <p:nvPr/>
        </p:nvCxnSpPr>
        <p:spPr>
          <a:xfrm flipV="1">
            <a:off x="4278087" y="2800350"/>
            <a:ext cx="522513" cy="66396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CFAAEC9-37E5-4B2C-ABA5-9BAE5F0C82EE}"/>
              </a:ext>
            </a:extLst>
          </p:cNvPr>
          <p:cNvCxnSpPr>
            <a:cxnSpLocks/>
          </p:cNvCxnSpPr>
          <p:nvPr/>
        </p:nvCxnSpPr>
        <p:spPr>
          <a:xfrm flipV="1">
            <a:off x="4271057" y="2933365"/>
            <a:ext cx="2160186" cy="104422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7CDDDF1A-096D-4F96-93DF-6D25D6C23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035" y="326823"/>
            <a:ext cx="579881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2105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3E20D361-EA57-4187-BBE2-AF77FF182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9004" y="1198134"/>
            <a:ext cx="6755992" cy="4234483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1B1CF104-026F-496E-A557-BC82314327C0}"/>
              </a:ext>
            </a:extLst>
          </p:cNvPr>
          <p:cNvSpPr/>
          <p:nvPr/>
        </p:nvSpPr>
        <p:spPr>
          <a:xfrm>
            <a:off x="4819441" y="5607413"/>
            <a:ext cx="3225555" cy="393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、数据的存放顺序：小端方式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B51373A-4067-42E5-B25E-6D05F496A58F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AF4E498-E6E2-409A-AAC4-D1F60E6613CD}"/>
              </a:ext>
            </a:extLst>
          </p:cNvPr>
          <p:cNvSpPr/>
          <p:nvPr/>
        </p:nvSpPr>
        <p:spPr>
          <a:xfrm>
            <a:off x="3040464" y="3415667"/>
            <a:ext cx="1371600" cy="405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26BF4-1B76-4E2C-9970-FDB5A41A3A37}"/>
              </a:ext>
            </a:extLst>
          </p:cNvPr>
          <p:cNvSpPr/>
          <p:nvPr/>
        </p:nvSpPr>
        <p:spPr>
          <a:xfrm>
            <a:off x="3036645" y="3924635"/>
            <a:ext cx="1567543" cy="39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30E73CF-0BAA-453F-89D2-A3DFFE7D0515}"/>
              </a:ext>
            </a:extLst>
          </p:cNvPr>
          <p:cNvCxnSpPr/>
          <p:nvPr/>
        </p:nvCxnSpPr>
        <p:spPr>
          <a:xfrm>
            <a:off x="4865914" y="2879273"/>
            <a:ext cx="18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A6D77FB-B438-4B8E-9C30-9D5A06FF4AD9}"/>
              </a:ext>
            </a:extLst>
          </p:cNvPr>
          <p:cNvCxnSpPr>
            <a:cxnSpLocks/>
          </p:cNvCxnSpPr>
          <p:nvPr/>
        </p:nvCxnSpPr>
        <p:spPr>
          <a:xfrm>
            <a:off x="6453873" y="2871109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49A0F03-5917-4629-8EFF-9B327D8E4BE7}"/>
              </a:ext>
            </a:extLst>
          </p:cNvPr>
          <p:cNvCxnSpPr>
            <a:cxnSpLocks/>
          </p:cNvCxnSpPr>
          <p:nvPr/>
        </p:nvCxnSpPr>
        <p:spPr>
          <a:xfrm>
            <a:off x="4865914" y="298268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DC1D0DE-6103-4E46-B4F6-957B7B5013AA}"/>
              </a:ext>
            </a:extLst>
          </p:cNvPr>
          <p:cNvCxnSpPr/>
          <p:nvPr/>
        </p:nvCxnSpPr>
        <p:spPr>
          <a:xfrm>
            <a:off x="5646962" y="2982687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1F0EB51-46A6-4462-B4F0-2B8D2C59E90D}"/>
              </a:ext>
            </a:extLst>
          </p:cNvPr>
          <p:cNvCxnSpPr/>
          <p:nvPr/>
        </p:nvCxnSpPr>
        <p:spPr>
          <a:xfrm>
            <a:off x="6453872" y="2985403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A25895-7329-43B9-B650-2BCB62B0A908}"/>
              </a:ext>
            </a:extLst>
          </p:cNvPr>
          <p:cNvCxnSpPr>
            <a:cxnSpLocks/>
          </p:cNvCxnSpPr>
          <p:nvPr/>
        </p:nvCxnSpPr>
        <p:spPr>
          <a:xfrm>
            <a:off x="4865914" y="3096987"/>
            <a:ext cx="140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14B207-AEAA-4356-A66B-196D22F250D7}"/>
              </a:ext>
            </a:extLst>
          </p:cNvPr>
          <p:cNvCxnSpPr>
            <a:cxnSpLocks/>
          </p:cNvCxnSpPr>
          <p:nvPr/>
        </p:nvCxnSpPr>
        <p:spPr>
          <a:xfrm>
            <a:off x="6431243" y="309698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E094C7A-16FD-4AD5-9A5E-9CCB1EF6B635}"/>
              </a:ext>
            </a:extLst>
          </p:cNvPr>
          <p:cNvCxnSpPr/>
          <p:nvPr/>
        </p:nvCxnSpPr>
        <p:spPr>
          <a:xfrm>
            <a:off x="7238544" y="3091514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61751A13-1952-4E5A-970D-C26955AA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04" y="5653021"/>
            <a:ext cx="2634796" cy="9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f328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-0x20(%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-0x14(%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f314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B5984C3-830A-4A6B-8BAE-394D59BA3347}"/>
              </a:ext>
            </a:extLst>
          </p:cNvPr>
          <p:cNvCxnSpPr/>
          <p:nvPr/>
        </p:nvCxnSpPr>
        <p:spPr>
          <a:xfrm flipH="1">
            <a:off x="2155371" y="1866591"/>
            <a:ext cx="1885950" cy="1445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0702DD6-85A2-4756-999A-9948814C3F4A}"/>
              </a:ext>
            </a:extLst>
          </p:cNvPr>
          <p:cNvCxnSpPr>
            <a:cxnSpLocks/>
          </p:cNvCxnSpPr>
          <p:nvPr/>
        </p:nvCxnSpPr>
        <p:spPr>
          <a:xfrm flipH="1">
            <a:off x="2012965" y="2210943"/>
            <a:ext cx="2035386" cy="1609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6624824-8D9B-4914-A1A9-4A08F68067B8}"/>
              </a:ext>
            </a:extLst>
          </p:cNvPr>
          <p:cNvCxnSpPr>
            <a:cxnSpLocks/>
          </p:cNvCxnSpPr>
          <p:nvPr/>
        </p:nvCxnSpPr>
        <p:spPr>
          <a:xfrm flipV="1">
            <a:off x="4278087" y="2800350"/>
            <a:ext cx="522513" cy="66396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CFAAEC9-37E5-4B2C-ABA5-9BAE5F0C82EE}"/>
              </a:ext>
            </a:extLst>
          </p:cNvPr>
          <p:cNvCxnSpPr>
            <a:cxnSpLocks/>
          </p:cNvCxnSpPr>
          <p:nvPr/>
        </p:nvCxnSpPr>
        <p:spPr>
          <a:xfrm flipV="1">
            <a:off x="4271057" y="2933365"/>
            <a:ext cx="2160186" cy="104422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246D19-EC50-4990-BE16-FD3DCD058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411174"/>
              </p:ext>
            </p:extLst>
          </p:nvPr>
        </p:nvGraphicFramePr>
        <p:xfrm>
          <a:off x="4137660" y="6000751"/>
          <a:ext cx="47891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293">
                  <a:extLst>
                    <a:ext uri="{9D8B030D-6E8A-4147-A177-3AD203B41FA5}">
                      <a16:colId xmlns:a16="http://schemas.microsoft.com/office/drawing/2014/main" val="992257102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1668998150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2543640104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372953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0xbffff30c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0xbffff30d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0xbffff30e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0xbffff30f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87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0x64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0x00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0x00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0x00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6636"/>
                  </a:ext>
                </a:extLst>
              </a:tr>
            </a:tbl>
          </a:graphicData>
        </a:graphic>
      </p:graphicFrame>
      <p:sp>
        <p:nvSpPr>
          <p:cNvPr id="25" name="Rectangle 2">
            <a:extLst>
              <a:ext uri="{FF2B5EF4-FFF2-40B4-BE49-F238E27FC236}">
                <a16:creationId xmlns:a16="http://schemas.microsoft.com/office/drawing/2014/main" id="{A0E38863-EBD4-495C-A86A-CAFD2E300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035" y="326823"/>
            <a:ext cx="579881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0829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3E20D361-EA57-4187-BBE2-AF77FF182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9004" y="1198134"/>
            <a:ext cx="6755992" cy="4234483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1B1CF104-026F-496E-A557-BC82314327C0}"/>
              </a:ext>
            </a:extLst>
          </p:cNvPr>
          <p:cNvSpPr/>
          <p:nvPr/>
        </p:nvSpPr>
        <p:spPr>
          <a:xfrm>
            <a:off x="5389535" y="4822372"/>
            <a:ext cx="2873082" cy="1867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B51373A-4067-42E5-B25E-6D05F496A58F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AF4E498-E6E2-409A-AAC4-D1F60E6613CD}"/>
              </a:ext>
            </a:extLst>
          </p:cNvPr>
          <p:cNvSpPr/>
          <p:nvPr/>
        </p:nvSpPr>
        <p:spPr>
          <a:xfrm>
            <a:off x="3040464" y="3415667"/>
            <a:ext cx="1371600" cy="405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26BF4-1B76-4E2C-9970-FDB5A41A3A37}"/>
              </a:ext>
            </a:extLst>
          </p:cNvPr>
          <p:cNvSpPr/>
          <p:nvPr/>
        </p:nvSpPr>
        <p:spPr>
          <a:xfrm>
            <a:off x="3036645" y="3924635"/>
            <a:ext cx="1567543" cy="39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30E73CF-0BAA-453F-89D2-A3DFFE7D0515}"/>
              </a:ext>
            </a:extLst>
          </p:cNvPr>
          <p:cNvCxnSpPr/>
          <p:nvPr/>
        </p:nvCxnSpPr>
        <p:spPr>
          <a:xfrm>
            <a:off x="4865914" y="2879273"/>
            <a:ext cx="18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A6D77FB-B438-4B8E-9C30-9D5A06FF4AD9}"/>
              </a:ext>
            </a:extLst>
          </p:cNvPr>
          <p:cNvCxnSpPr>
            <a:cxnSpLocks/>
          </p:cNvCxnSpPr>
          <p:nvPr/>
        </p:nvCxnSpPr>
        <p:spPr>
          <a:xfrm>
            <a:off x="6453873" y="2871109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49A0F03-5917-4629-8EFF-9B327D8E4BE7}"/>
              </a:ext>
            </a:extLst>
          </p:cNvPr>
          <p:cNvCxnSpPr>
            <a:cxnSpLocks/>
          </p:cNvCxnSpPr>
          <p:nvPr/>
        </p:nvCxnSpPr>
        <p:spPr>
          <a:xfrm>
            <a:off x="4865914" y="298268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DC1D0DE-6103-4E46-B4F6-957B7B5013AA}"/>
              </a:ext>
            </a:extLst>
          </p:cNvPr>
          <p:cNvCxnSpPr/>
          <p:nvPr/>
        </p:nvCxnSpPr>
        <p:spPr>
          <a:xfrm>
            <a:off x="5646962" y="2982687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1F0EB51-46A6-4462-B4F0-2B8D2C59E90D}"/>
              </a:ext>
            </a:extLst>
          </p:cNvPr>
          <p:cNvCxnSpPr/>
          <p:nvPr/>
        </p:nvCxnSpPr>
        <p:spPr>
          <a:xfrm>
            <a:off x="6453872" y="2985403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A25895-7329-43B9-B650-2BCB62B0A908}"/>
              </a:ext>
            </a:extLst>
          </p:cNvPr>
          <p:cNvCxnSpPr>
            <a:cxnSpLocks/>
          </p:cNvCxnSpPr>
          <p:nvPr/>
        </p:nvCxnSpPr>
        <p:spPr>
          <a:xfrm>
            <a:off x="4865914" y="3096987"/>
            <a:ext cx="140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14B207-AEAA-4356-A66B-196D22F250D7}"/>
              </a:ext>
            </a:extLst>
          </p:cNvPr>
          <p:cNvCxnSpPr>
            <a:cxnSpLocks/>
          </p:cNvCxnSpPr>
          <p:nvPr/>
        </p:nvCxnSpPr>
        <p:spPr>
          <a:xfrm>
            <a:off x="6431243" y="309698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E094C7A-16FD-4AD5-9A5E-9CCB1EF6B635}"/>
              </a:ext>
            </a:extLst>
          </p:cNvPr>
          <p:cNvCxnSpPr/>
          <p:nvPr/>
        </p:nvCxnSpPr>
        <p:spPr>
          <a:xfrm>
            <a:off x="7238544" y="3091514"/>
            <a:ext cx="21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61751A13-1952-4E5A-970D-C26955AA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04" y="5447649"/>
            <a:ext cx="3765652" cy="1391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、边界对齐方式：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占用的字节数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R[0]: 1B+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3B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+4B+2B+1B+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1B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=12B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R[1]: 1B+</a:t>
            </a:r>
            <a:r>
              <a:rPr lang="en-US" altLang="zh-CN" sz="15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3B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+4B+2B+1B+</a:t>
            </a:r>
            <a:r>
              <a:rPr lang="en-US" altLang="zh-CN" sz="15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1B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=12B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R: 12B*2=24B</a:t>
            </a:r>
            <a:endParaRPr lang="zh-CN" altLang="en-US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B5984C3-830A-4A6B-8BAE-394D59BA3347}"/>
              </a:ext>
            </a:extLst>
          </p:cNvPr>
          <p:cNvCxnSpPr/>
          <p:nvPr/>
        </p:nvCxnSpPr>
        <p:spPr>
          <a:xfrm flipH="1">
            <a:off x="2155371" y="1866591"/>
            <a:ext cx="1885950" cy="1445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0702DD6-85A2-4756-999A-9948814C3F4A}"/>
              </a:ext>
            </a:extLst>
          </p:cNvPr>
          <p:cNvCxnSpPr>
            <a:cxnSpLocks/>
          </p:cNvCxnSpPr>
          <p:nvPr/>
        </p:nvCxnSpPr>
        <p:spPr>
          <a:xfrm flipH="1">
            <a:off x="2012965" y="2210943"/>
            <a:ext cx="2035386" cy="1609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6624824-8D9B-4914-A1A9-4A08F68067B8}"/>
              </a:ext>
            </a:extLst>
          </p:cNvPr>
          <p:cNvCxnSpPr>
            <a:cxnSpLocks/>
          </p:cNvCxnSpPr>
          <p:nvPr/>
        </p:nvCxnSpPr>
        <p:spPr>
          <a:xfrm flipV="1">
            <a:off x="4278087" y="2800350"/>
            <a:ext cx="522513" cy="66396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CFAAEC9-37E5-4B2C-ABA5-9BAE5F0C82EE}"/>
              </a:ext>
            </a:extLst>
          </p:cNvPr>
          <p:cNvCxnSpPr>
            <a:cxnSpLocks/>
          </p:cNvCxnSpPr>
          <p:nvPr/>
        </p:nvCxnSpPr>
        <p:spPr>
          <a:xfrm flipV="1">
            <a:off x="4271057" y="2933365"/>
            <a:ext cx="2160186" cy="104422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7FCF57A2-4FD3-4B1B-AFAE-057ACB037748}"/>
              </a:ext>
            </a:extLst>
          </p:cNvPr>
          <p:cNvGraphicFramePr>
            <a:graphicFrameLocks noGrp="1"/>
          </p:cNvGraphicFramePr>
          <p:nvPr/>
        </p:nvGraphicFramePr>
        <p:xfrm>
          <a:off x="5407030" y="4831045"/>
          <a:ext cx="2873080" cy="1907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52">
                  <a:extLst>
                    <a:ext uri="{9D8B030D-6E8A-4147-A177-3AD203B41FA5}">
                      <a16:colId xmlns:a16="http://schemas.microsoft.com/office/drawing/2014/main" val="1534447712"/>
                    </a:ext>
                  </a:extLst>
                </a:gridCol>
                <a:gridCol w="744076">
                  <a:extLst>
                    <a:ext uri="{9D8B030D-6E8A-4147-A177-3AD203B41FA5}">
                      <a16:colId xmlns:a16="http://schemas.microsoft.com/office/drawing/2014/main" val="2076300317"/>
                    </a:ext>
                  </a:extLst>
                </a:gridCol>
                <a:gridCol w="744076">
                  <a:extLst>
                    <a:ext uri="{9D8B030D-6E8A-4147-A177-3AD203B41FA5}">
                      <a16:colId xmlns:a16="http://schemas.microsoft.com/office/drawing/2014/main" val="40778809"/>
                    </a:ext>
                  </a:extLst>
                </a:gridCol>
                <a:gridCol w="744076">
                  <a:extLst>
                    <a:ext uri="{9D8B030D-6E8A-4147-A177-3AD203B41FA5}">
                      <a16:colId xmlns:a16="http://schemas.microsoft.com/office/drawing/2014/main" val="3500097559"/>
                    </a:ext>
                  </a:extLst>
                </a:gridCol>
              </a:tblGrid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978734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xi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26967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xs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yc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437931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24206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xi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319599"/>
                  </a:ext>
                </a:extLst>
              </a:tr>
              <a:tr h="2722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yc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741056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9E24746B-F70A-4B44-9BFF-00F59BD5E672}"/>
              </a:ext>
            </a:extLst>
          </p:cNvPr>
          <p:cNvSpPr txBox="1"/>
          <p:nvPr/>
        </p:nvSpPr>
        <p:spPr>
          <a:xfrm>
            <a:off x="4864656" y="4849457"/>
            <a:ext cx="4955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R[0]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ABF5E87-EDF4-4DAA-9073-FFC76DA94423}"/>
              </a:ext>
            </a:extLst>
          </p:cNvPr>
          <p:cNvSpPr txBox="1"/>
          <p:nvPr/>
        </p:nvSpPr>
        <p:spPr>
          <a:xfrm>
            <a:off x="4837178" y="5803970"/>
            <a:ext cx="4955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R[1]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17010B11-489E-452D-A2AC-1C761CA33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035" y="326823"/>
            <a:ext cx="579881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23334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2BF084-A93B-4EC8-82A1-CC21E7F3F00C}"/>
              </a:ext>
            </a:extLst>
          </p:cNvPr>
          <p:cNvSpPr/>
          <p:nvPr/>
        </p:nvSpPr>
        <p:spPr>
          <a:xfrm>
            <a:off x="5130088" y="1052317"/>
            <a:ext cx="2067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优化后结构体定义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E6F2F3-6878-41A1-8D6D-98A8CBF7896F}"/>
              </a:ext>
            </a:extLst>
          </p:cNvPr>
          <p:cNvSpPr/>
          <p:nvPr/>
        </p:nvSpPr>
        <p:spPr>
          <a:xfrm>
            <a:off x="1076971" y="1555140"/>
            <a:ext cx="24835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 record {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char 	 xc;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int  	        xi; 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short 	 </a:t>
            </a:r>
            <a:r>
              <a:rPr lang="en-US" altLang="zh-CN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char 	 </a:t>
            </a:r>
            <a:r>
              <a:rPr lang="en-US" altLang="zh-CN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yc</a:t>
            </a:r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FF39F3-DEFB-4877-9BC3-AFA21263C97E}"/>
              </a:ext>
            </a:extLst>
          </p:cNvPr>
          <p:cNvSpPr/>
          <p:nvPr/>
        </p:nvSpPr>
        <p:spPr>
          <a:xfrm>
            <a:off x="5224039" y="1555140"/>
            <a:ext cx="24835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 record {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char 	   xc;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char  	   </a:t>
            </a:r>
            <a:r>
              <a:rPr lang="en-US" altLang="zh-CN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yc</a:t>
            </a:r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short     </a:t>
            </a:r>
            <a:r>
              <a:rPr lang="en-US" altLang="zh-CN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xs</a:t>
            </a:r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int 	   xi;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} ;</a:t>
            </a:r>
            <a:endParaRPr lang="zh-CN" altLang="zh-CN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D5B152-7EE0-4595-A58A-A5932840A4D9}"/>
              </a:ext>
            </a:extLst>
          </p:cNvPr>
          <p:cNvSpPr/>
          <p:nvPr/>
        </p:nvSpPr>
        <p:spPr>
          <a:xfrm>
            <a:off x="1142999" y="1052207"/>
            <a:ext cx="22511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结构体定义</a:t>
            </a:r>
            <a:endParaRPr lang="zh-CN" altLang="en-US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14FD8BF-10C4-4C2B-B3F9-60C7F05912E9}"/>
              </a:ext>
            </a:extLst>
          </p:cNvPr>
          <p:cNvSpPr/>
          <p:nvPr/>
        </p:nvSpPr>
        <p:spPr bwMode="auto">
          <a:xfrm>
            <a:off x="3928065" y="2279489"/>
            <a:ext cx="464207" cy="305628"/>
          </a:xfrm>
          <a:prstGeom prst="rightArrow">
            <a:avLst/>
          </a:prstGeom>
          <a:noFill/>
          <a:ln w="28575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8099" rIns="0" bIns="8099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1500" b="1" kern="0">
              <a:solidFill>
                <a:srgbClr val="FF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D3B1E1-DF23-451E-8548-26C9FBE9154A}"/>
              </a:ext>
            </a:extLst>
          </p:cNvPr>
          <p:cNvSpPr/>
          <p:nvPr/>
        </p:nvSpPr>
        <p:spPr>
          <a:xfrm>
            <a:off x="1473842" y="3801374"/>
            <a:ext cx="2873082" cy="1867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1D59375-3ED5-4B43-A6CB-A5981553C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652559"/>
              </p:ext>
            </p:extLst>
          </p:nvPr>
        </p:nvGraphicFramePr>
        <p:xfrm>
          <a:off x="1473844" y="3801374"/>
          <a:ext cx="2873080" cy="1907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52">
                  <a:extLst>
                    <a:ext uri="{9D8B030D-6E8A-4147-A177-3AD203B41FA5}">
                      <a16:colId xmlns:a16="http://schemas.microsoft.com/office/drawing/2014/main" val="1534447712"/>
                    </a:ext>
                  </a:extLst>
                </a:gridCol>
                <a:gridCol w="744076">
                  <a:extLst>
                    <a:ext uri="{9D8B030D-6E8A-4147-A177-3AD203B41FA5}">
                      <a16:colId xmlns:a16="http://schemas.microsoft.com/office/drawing/2014/main" val="2076300317"/>
                    </a:ext>
                  </a:extLst>
                </a:gridCol>
                <a:gridCol w="744076">
                  <a:extLst>
                    <a:ext uri="{9D8B030D-6E8A-4147-A177-3AD203B41FA5}">
                      <a16:colId xmlns:a16="http://schemas.microsoft.com/office/drawing/2014/main" val="40778809"/>
                    </a:ext>
                  </a:extLst>
                </a:gridCol>
                <a:gridCol w="744076">
                  <a:extLst>
                    <a:ext uri="{9D8B030D-6E8A-4147-A177-3AD203B41FA5}">
                      <a16:colId xmlns:a16="http://schemas.microsoft.com/office/drawing/2014/main" val="3500097559"/>
                    </a:ext>
                  </a:extLst>
                </a:gridCol>
              </a:tblGrid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978734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xi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26967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xs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yc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437931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24206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xi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319599"/>
                  </a:ext>
                </a:extLst>
              </a:tr>
              <a:tr h="2722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yc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74105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A55DBD7-F187-4CB1-AE3D-49388A9D4507}"/>
              </a:ext>
            </a:extLst>
          </p:cNvPr>
          <p:cNvSpPr txBox="1"/>
          <p:nvPr/>
        </p:nvSpPr>
        <p:spPr>
          <a:xfrm>
            <a:off x="841296" y="3780676"/>
            <a:ext cx="4955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R[0]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5E6E2D-1977-40B8-AFCD-273648F59E2A}"/>
              </a:ext>
            </a:extLst>
          </p:cNvPr>
          <p:cNvSpPr txBox="1"/>
          <p:nvPr/>
        </p:nvSpPr>
        <p:spPr>
          <a:xfrm>
            <a:off x="813818" y="4735189"/>
            <a:ext cx="4955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R[1]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AC1985F-000B-46B4-A9DB-3342EEBAB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402285"/>
              </p:ext>
            </p:extLst>
          </p:nvPr>
        </p:nvGraphicFramePr>
        <p:xfrm>
          <a:off x="5179978" y="3813754"/>
          <a:ext cx="2918128" cy="1312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899">
                  <a:extLst>
                    <a:ext uri="{9D8B030D-6E8A-4147-A177-3AD203B41FA5}">
                      <a16:colId xmlns:a16="http://schemas.microsoft.com/office/drawing/2014/main" val="1534447712"/>
                    </a:ext>
                  </a:extLst>
                </a:gridCol>
                <a:gridCol w="755743">
                  <a:extLst>
                    <a:ext uri="{9D8B030D-6E8A-4147-A177-3AD203B41FA5}">
                      <a16:colId xmlns:a16="http://schemas.microsoft.com/office/drawing/2014/main" val="2076300317"/>
                    </a:ext>
                  </a:extLst>
                </a:gridCol>
                <a:gridCol w="755743">
                  <a:extLst>
                    <a:ext uri="{9D8B030D-6E8A-4147-A177-3AD203B41FA5}">
                      <a16:colId xmlns:a16="http://schemas.microsoft.com/office/drawing/2014/main" val="40778809"/>
                    </a:ext>
                  </a:extLst>
                </a:gridCol>
                <a:gridCol w="755743">
                  <a:extLst>
                    <a:ext uri="{9D8B030D-6E8A-4147-A177-3AD203B41FA5}">
                      <a16:colId xmlns:a16="http://schemas.microsoft.com/office/drawing/2014/main" val="3500097559"/>
                    </a:ext>
                  </a:extLst>
                </a:gridCol>
              </a:tblGrid>
              <a:tr h="328049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yc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xs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978734"/>
                  </a:ext>
                </a:extLst>
              </a:tr>
              <a:tr h="328049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xi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26967"/>
                  </a:ext>
                </a:extLst>
              </a:tr>
              <a:tr h="328049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yc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xs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024206"/>
                  </a:ext>
                </a:extLst>
              </a:tr>
              <a:tr h="328049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xi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319599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A1EAD81A-2996-4DC9-A42B-7538D2CE782C}"/>
              </a:ext>
            </a:extLst>
          </p:cNvPr>
          <p:cNvSpPr txBox="1"/>
          <p:nvPr/>
        </p:nvSpPr>
        <p:spPr>
          <a:xfrm>
            <a:off x="4594860" y="3778817"/>
            <a:ext cx="5851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/>
              <a:t>R[0]</a:t>
            </a:r>
            <a:endParaRPr lang="zh-CN" altLang="en-US" sz="15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57776C-A866-4DD4-A48E-CBE789F0EAE3}"/>
              </a:ext>
            </a:extLst>
          </p:cNvPr>
          <p:cNvSpPr txBox="1"/>
          <p:nvPr/>
        </p:nvSpPr>
        <p:spPr>
          <a:xfrm>
            <a:off x="4571999" y="4414864"/>
            <a:ext cx="5580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/>
              <a:t>R[1]</a:t>
            </a:r>
            <a:endParaRPr lang="zh-CN" altLang="en-US" sz="1500" b="1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A9D192E-1B9D-41BD-BF5F-D3EA94C86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088" y="5828557"/>
            <a:ext cx="3765652" cy="653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占用的字节数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: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(1B+1B+2B+4B)*2=16B</a:t>
            </a:r>
            <a:endParaRPr lang="zh-CN" altLang="en-US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>
            <a:extLst>
              <a:ext uri="{FF2B5EF4-FFF2-40B4-BE49-F238E27FC236}">
                <a16:creationId xmlns:a16="http://schemas.microsoft.com/office/drawing/2014/main" id="{D2A92512-4182-492D-9021-64380D036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9209" y="5828557"/>
            <a:ext cx="3765652" cy="653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占用的字节数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: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(1B+</a:t>
            </a:r>
            <a:r>
              <a:rPr lang="en-US" altLang="zh-CN" sz="15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3B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+4B+2B+1B+</a:t>
            </a:r>
            <a:r>
              <a:rPr lang="en-US" altLang="zh-CN" sz="15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1B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)*2=24B</a:t>
            </a:r>
            <a:endParaRPr lang="zh-CN" altLang="en-US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422DB6A6-30FA-4258-8F0D-CFBD7B9CB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035" y="326823"/>
            <a:ext cx="5798817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数据的宽度与存放顺序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559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11" grpId="0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2C3B36-729B-4373-85C2-C5B130646AEA}"/>
              </a:ext>
            </a:extLst>
          </p:cNvPr>
          <p:cNvSpPr/>
          <p:nvPr/>
        </p:nvSpPr>
        <p:spPr>
          <a:xfrm>
            <a:off x="762513" y="1096195"/>
            <a:ext cx="79716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#include "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stdio.h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"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void main()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  <a:tabLst>
                <a:tab pos="225044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{  short      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=-100;       	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  <a:tabLst>
                <a:tab pos="225044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unsigned short  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;         	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相等长度之间的数据传送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  <a:tabLst>
                <a:tab pos="225044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int                       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;                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无符号数位扩展：零扩展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unsigned	    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;         	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无符号数位扩展：零扩展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int                      i1=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;                 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带符号数位扩展：符号扩展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unsigned	    ui1=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;         	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带符号数位扩展：符号扩展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int 		           i2=0x12348765;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short 	           si2=i2;        	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位截断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int		           i3=si2;         	      //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带符号数位扩展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printf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("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=%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d,usi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=%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u,i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=%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d,ui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=%u,i1=%d,ui1=%u\n",si,usi,i,ui,i1,ui1);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>
              <a:spcAft>
                <a:spcPts val="0"/>
              </a:spcAft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printf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("i2=%d,si2=%d,i3=%d\n", i2,si2,i3); 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9875" algn="just">
              <a:spcAft>
                <a:spcPts val="0"/>
              </a:spcAft>
            </a:pPr>
            <a:r>
              <a:rPr lang="pt-BR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</a:t>
            </a:r>
            <a:endParaRPr lang="zh-CN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872B612-31BC-4F27-9D48-A16BD74EC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574498"/>
              </p:ext>
            </p:extLst>
          </p:nvPr>
        </p:nvGraphicFramePr>
        <p:xfrm>
          <a:off x="1838458" y="4477291"/>
          <a:ext cx="5147212" cy="21336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40747">
                  <a:extLst>
                    <a:ext uri="{9D8B030D-6E8A-4147-A177-3AD203B41FA5}">
                      <a16:colId xmlns:a16="http://schemas.microsoft.com/office/drawing/2014/main" val="3295723676"/>
                    </a:ext>
                  </a:extLst>
                </a:gridCol>
                <a:gridCol w="1096292">
                  <a:extLst>
                    <a:ext uri="{9D8B030D-6E8A-4147-A177-3AD203B41FA5}">
                      <a16:colId xmlns:a16="http://schemas.microsoft.com/office/drawing/2014/main" val="1351125606"/>
                    </a:ext>
                  </a:extLst>
                </a:gridCol>
                <a:gridCol w="888727">
                  <a:extLst>
                    <a:ext uri="{9D8B030D-6E8A-4147-A177-3AD203B41FA5}">
                      <a16:colId xmlns:a16="http://schemas.microsoft.com/office/drawing/2014/main" val="2223387962"/>
                    </a:ext>
                  </a:extLst>
                </a:gridCol>
                <a:gridCol w="2121446">
                  <a:extLst>
                    <a:ext uri="{9D8B030D-6E8A-4147-A177-3AD203B41FA5}">
                      <a16:colId xmlns:a16="http://schemas.microsoft.com/office/drawing/2014/main" val="3855159000"/>
                    </a:ext>
                  </a:extLst>
                </a:gridCol>
              </a:tblGrid>
              <a:tr h="1520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4897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初始值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096357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usi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等长数据传送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94208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零扩展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22485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零扩展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913408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i1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83613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ui1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622505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i2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初始值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542797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si2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位截断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18000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i3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800946"/>
                  </a:ext>
                </a:extLst>
              </a:tr>
            </a:tbl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0F30192-9421-409C-9D02-B6D01E3AFFAA}"/>
              </a:ext>
            </a:extLst>
          </p:cNvPr>
          <p:cNvCxnSpPr/>
          <p:nvPr/>
        </p:nvCxnSpPr>
        <p:spPr>
          <a:xfrm>
            <a:off x="2294164" y="4800600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C516DF9-FC79-4AF1-8B40-97AFA22896D8}"/>
              </a:ext>
            </a:extLst>
          </p:cNvPr>
          <p:cNvCxnSpPr/>
          <p:nvPr/>
        </p:nvCxnSpPr>
        <p:spPr>
          <a:xfrm>
            <a:off x="2405744" y="4993820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CE95F91-10F8-490E-BB36-D28C9AF112F4}"/>
              </a:ext>
            </a:extLst>
          </p:cNvPr>
          <p:cNvCxnSpPr>
            <a:cxnSpLocks/>
          </p:cNvCxnSpPr>
          <p:nvPr/>
        </p:nvCxnSpPr>
        <p:spPr>
          <a:xfrm>
            <a:off x="2503714" y="4993820"/>
            <a:ext cx="0" cy="48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7CC22C4-3420-42BB-9915-9F9997C40AD1}"/>
              </a:ext>
            </a:extLst>
          </p:cNvPr>
          <p:cNvCxnSpPr>
            <a:cxnSpLocks/>
          </p:cNvCxnSpPr>
          <p:nvPr/>
        </p:nvCxnSpPr>
        <p:spPr>
          <a:xfrm>
            <a:off x="2631621" y="4792433"/>
            <a:ext cx="0" cy="906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A66F869-5DC2-46CF-AC5C-E61237726DDF}"/>
              </a:ext>
            </a:extLst>
          </p:cNvPr>
          <p:cNvCxnSpPr>
            <a:cxnSpLocks/>
          </p:cNvCxnSpPr>
          <p:nvPr/>
        </p:nvCxnSpPr>
        <p:spPr>
          <a:xfrm>
            <a:off x="2754503" y="4782909"/>
            <a:ext cx="0" cy="1144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51ECA76-94EB-4EA6-AB48-03E7997E8760}"/>
              </a:ext>
            </a:extLst>
          </p:cNvPr>
          <p:cNvCxnSpPr/>
          <p:nvPr/>
        </p:nvCxnSpPr>
        <p:spPr>
          <a:xfrm>
            <a:off x="2296887" y="6076949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EC47DDF-2C78-4806-BF4C-274187A3B255}"/>
              </a:ext>
            </a:extLst>
          </p:cNvPr>
          <p:cNvCxnSpPr/>
          <p:nvPr/>
        </p:nvCxnSpPr>
        <p:spPr>
          <a:xfrm>
            <a:off x="2430238" y="6281058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1336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99D6F97-CDAF-404A-BB3B-2A743C845E77}"/>
              </a:ext>
            </a:extLst>
          </p:cNvPr>
          <p:cNvPicPr/>
          <p:nvPr/>
        </p:nvPicPr>
        <p:blipFill rotWithShape="1">
          <a:blip r:embed="rId2"/>
          <a:srcRect r="313" b="53396"/>
          <a:stretch/>
        </p:blipFill>
        <p:spPr bwMode="auto">
          <a:xfrm>
            <a:off x="457199" y="1389569"/>
            <a:ext cx="8229601" cy="2793543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3D77244-A9F4-4DC0-A7EC-0E2A286A9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172864"/>
              </p:ext>
            </p:extLst>
          </p:nvPr>
        </p:nvGraphicFramePr>
        <p:xfrm>
          <a:off x="1789472" y="4434671"/>
          <a:ext cx="5147212" cy="21336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40747">
                  <a:extLst>
                    <a:ext uri="{9D8B030D-6E8A-4147-A177-3AD203B41FA5}">
                      <a16:colId xmlns:a16="http://schemas.microsoft.com/office/drawing/2014/main" val="3295723676"/>
                    </a:ext>
                  </a:extLst>
                </a:gridCol>
                <a:gridCol w="1096292">
                  <a:extLst>
                    <a:ext uri="{9D8B030D-6E8A-4147-A177-3AD203B41FA5}">
                      <a16:colId xmlns:a16="http://schemas.microsoft.com/office/drawing/2014/main" val="1351125606"/>
                    </a:ext>
                  </a:extLst>
                </a:gridCol>
                <a:gridCol w="1502739">
                  <a:extLst>
                    <a:ext uri="{9D8B030D-6E8A-4147-A177-3AD203B41FA5}">
                      <a16:colId xmlns:a16="http://schemas.microsoft.com/office/drawing/2014/main" val="2223387962"/>
                    </a:ext>
                  </a:extLst>
                </a:gridCol>
                <a:gridCol w="1507434">
                  <a:extLst>
                    <a:ext uri="{9D8B030D-6E8A-4147-A177-3AD203B41FA5}">
                      <a16:colId xmlns:a16="http://schemas.microsoft.com/office/drawing/2014/main" val="3855159000"/>
                    </a:ext>
                  </a:extLst>
                </a:gridCol>
              </a:tblGrid>
              <a:tr h="1520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4897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-100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初始值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096357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usi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65436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等长数据传送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94208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65436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零扩展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22485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65436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零扩展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913408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i1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-100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83613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ui1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4294967196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622505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i2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305432421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初始值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542797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si2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-30875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位截断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18000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i3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-30875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800946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487CA90-DC07-4BC0-B0D8-122A8E684FE7}"/>
              </a:ext>
            </a:extLst>
          </p:cNvPr>
          <p:cNvCxnSpPr/>
          <p:nvPr/>
        </p:nvCxnSpPr>
        <p:spPr>
          <a:xfrm>
            <a:off x="2245178" y="4757980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28E92FD-1346-4FAC-AF4E-EEB3972AD207}"/>
              </a:ext>
            </a:extLst>
          </p:cNvPr>
          <p:cNvCxnSpPr/>
          <p:nvPr/>
        </p:nvCxnSpPr>
        <p:spPr>
          <a:xfrm>
            <a:off x="2356758" y="4951200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247D205-2B13-46E4-9562-4C89613D5C62}"/>
              </a:ext>
            </a:extLst>
          </p:cNvPr>
          <p:cNvCxnSpPr>
            <a:cxnSpLocks/>
          </p:cNvCxnSpPr>
          <p:nvPr/>
        </p:nvCxnSpPr>
        <p:spPr>
          <a:xfrm>
            <a:off x="2454728" y="4951200"/>
            <a:ext cx="0" cy="48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9A5C37-F76E-4534-89F7-EA95A1C42F12}"/>
              </a:ext>
            </a:extLst>
          </p:cNvPr>
          <p:cNvCxnSpPr>
            <a:cxnSpLocks/>
          </p:cNvCxnSpPr>
          <p:nvPr/>
        </p:nvCxnSpPr>
        <p:spPr>
          <a:xfrm>
            <a:off x="2582635" y="4749813"/>
            <a:ext cx="0" cy="906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5624A64-2236-4C5F-8190-3F31E56B3921}"/>
              </a:ext>
            </a:extLst>
          </p:cNvPr>
          <p:cNvCxnSpPr>
            <a:cxnSpLocks/>
          </p:cNvCxnSpPr>
          <p:nvPr/>
        </p:nvCxnSpPr>
        <p:spPr>
          <a:xfrm>
            <a:off x="2705517" y="4740289"/>
            <a:ext cx="0" cy="1144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2EC489C-1B5B-4780-8CCB-F27F6CE830C8}"/>
              </a:ext>
            </a:extLst>
          </p:cNvPr>
          <p:cNvCxnSpPr/>
          <p:nvPr/>
        </p:nvCxnSpPr>
        <p:spPr>
          <a:xfrm>
            <a:off x="2247901" y="6034329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FC1F749-3C5D-4182-8B41-7655D59A8BB3}"/>
              </a:ext>
            </a:extLst>
          </p:cNvPr>
          <p:cNvCxnSpPr/>
          <p:nvPr/>
        </p:nvCxnSpPr>
        <p:spPr>
          <a:xfrm>
            <a:off x="2381252" y="6238438"/>
            <a:ext cx="0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3EBCDF0D-0E92-4F9C-9721-230A247A5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296572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8984C7BB-BB3F-411E-8331-5222B8B374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0696" y="1163850"/>
            <a:ext cx="7522608" cy="4142011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962C48-4677-48C7-A169-7257071DA626}"/>
              </a:ext>
            </a:extLst>
          </p:cNvPr>
          <p:cNvSpPr/>
          <p:nvPr/>
        </p:nvSpPr>
        <p:spPr>
          <a:xfrm>
            <a:off x="2916820" y="2957918"/>
            <a:ext cx="1435261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0A685-1890-4F24-B6A1-3CEFA0B61E85}"/>
              </a:ext>
            </a:extLst>
          </p:cNvPr>
          <p:cNvSpPr/>
          <p:nvPr/>
        </p:nvSpPr>
        <p:spPr>
          <a:xfrm>
            <a:off x="2928395" y="3290692"/>
            <a:ext cx="1435261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AE8EFA-8C3F-451D-95CF-316EC6ADBA73}"/>
              </a:ext>
            </a:extLst>
          </p:cNvPr>
          <p:cNvSpPr/>
          <p:nvPr/>
        </p:nvSpPr>
        <p:spPr>
          <a:xfrm>
            <a:off x="2916819" y="3597425"/>
            <a:ext cx="1435261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14445A-29E8-486A-8FDF-11E926EA909D}"/>
              </a:ext>
            </a:extLst>
          </p:cNvPr>
          <p:cNvSpPr/>
          <p:nvPr/>
        </p:nvSpPr>
        <p:spPr>
          <a:xfrm>
            <a:off x="2916818" y="3942002"/>
            <a:ext cx="1435261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59A2E6-328E-46CB-B7D4-3C5BB6844212}"/>
              </a:ext>
            </a:extLst>
          </p:cNvPr>
          <p:cNvSpPr/>
          <p:nvPr/>
        </p:nvSpPr>
        <p:spPr>
          <a:xfrm>
            <a:off x="2916817" y="4254874"/>
            <a:ext cx="1435261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D6D010B-5667-47F1-919A-FC5F6AD1AEFB}"/>
              </a:ext>
            </a:extLst>
          </p:cNvPr>
          <p:cNvSpPr/>
          <p:nvPr/>
        </p:nvSpPr>
        <p:spPr>
          <a:xfrm>
            <a:off x="2916816" y="4813938"/>
            <a:ext cx="1435261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D5FAE6-B2A2-4C1B-85A6-F027932FC93E}"/>
              </a:ext>
            </a:extLst>
          </p:cNvPr>
          <p:cNvSpPr/>
          <p:nvPr/>
        </p:nvSpPr>
        <p:spPr>
          <a:xfrm>
            <a:off x="2928395" y="4539864"/>
            <a:ext cx="1726732" cy="19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E4FA6C-3129-41F7-A1C5-1DCC5E9B5BE3}"/>
              </a:ext>
            </a:extLst>
          </p:cNvPr>
          <p:cNvSpPr/>
          <p:nvPr/>
        </p:nvSpPr>
        <p:spPr>
          <a:xfrm>
            <a:off x="745381" y="5394082"/>
            <a:ext cx="7522608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ts val="18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通过寄存器的宽度，可隐含指出数据传送的字节数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05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ts val="18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movb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movw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movl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指令的汇编表示中显式地指出了数据传送的字节数。</a:t>
            </a:r>
          </a:p>
          <a:p>
            <a:pPr marL="171450" indent="-171450" algn="just">
              <a:lnSpc>
                <a:spcPts val="18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movz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movs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符号扩展和零扩展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05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例如，</a:t>
            </a: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movzwl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指令表示将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位源操作数零扩展后，传送到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位的目的操作数地址处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位是全</a:t>
            </a:r>
            <a:r>
              <a:rPr lang="en-US" altLang="zh-CN" sz="105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05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105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movsbl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指令表示将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位源操作数符号扩展后，传送到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位的目的操作数地址处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</a:t>
            </a:r>
            <a:r>
              <a:rPr lang="en-US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位全是</a:t>
            </a:r>
            <a:r>
              <a:rPr lang="zh-CN" altLang="en-US" sz="105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源操作数的</a:t>
            </a:r>
            <a:r>
              <a:rPr lang="zh-CN" altLang="zh-CN" sz="105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符号位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201EF05-5471-46C2-A462-382898A99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370115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1259904-1FF8-4944-B9B4-427435151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971606"/>
              </p:ext>
            </p:extLst>
          </p:nvPr>
        </p:nvGraphicFramePr>
        <p:xfrm>
          <a:off x="1808153" y="2059010"/>
          <a:ext cx="5631677" cy="363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796699" imgH="4381195" progId="Visio.Drawing.11">
                  <p:embed/>
                </p:oleObj>
              </mc:Choice>
              <mc:Fallback>
                <p:oleObj r:id="rId2" imgW="6796699" imgH="4381195" progId="Visio.Drawing.11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348B4A6-1652-42F9-9241-A4CEF3B500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53" y="2059010"/>
                        <a:ext cx="5631677" cy="36300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EC4A56C-35D8-4D50-A632-7363C5B533CF}"/>
              </a:ext>
            </a:extLst>
          </p:cNvPr>
          <p:cNvSpPr/>
          <p:nvPr/>
        </p:nvSpPr>
        <p:spPr>
          <a:xfrm>
            <a:off x="1974183" y="1673104"/>
            <a:ext cx="2124287" cy="747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</a:t>
            </a: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和</a:t>
            </a:r>
            <a:r>
              <a:rPr lang="en-US" altLang="zh-CN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b</a:t>
            </a: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都是整型数据</a:t>
            </a:r>
            <a:endParaRPr lang="en-US" altLang="zh-CN" sz="15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b=a</a:t>
            </a: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</a:t>
            </a:r>
            <a:endParaRPr lang="zh-CN" altLang="en-US" sz="135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315B97-81F3-447B-9381-79132D6BC302}"/>
              </a:ext>
            </a:extLst>
          </p:cNvPr>
          <p:cNvSpPr/>
          <p:nvPr/>
        </p:nvSpPr>
        <p:spPr>
          <a:xfrm>
            <a:off x="5831241" y="3573957"/>
            <a:ext cx="56938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截断</a:t>
            </a:r>
            <a:endParaRPr lang="zh-CN" altLang="en-US" sz="135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145332-0515-442E-8625-DCCDA251FDA0}"/>
              </a:ext>
            </a:extLst>
          </p:cNvPr>
          <p:cNvSpPr/>
          <p:nvPr/>
        </p:nvSpPr>
        <p:spPr>
          <a:xfrm>
            <a:off x="5802396" y="2912082"/>
            <a:ext cx="182743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符号扩展或零扩展</a:t>
            </a:r>
            <a:endParaRPr lang="zh-CN" altLang="en-US" sz="135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57A7F7-C7CB-4D01-A131-2FC3C40C19A2}"/>
              </a:ext>
            </a:extLst>
          </p:cNvPr>
          <p:cNvSpPr/>
          <p:nvPr/>
        </p:nvSpPr>
        <p:spPr>
          <a:xfrm>
            <a:off x="5802398" y="2291969"/>
            <a:ext cx="15311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机器数上的复制</a:t>
            </a:r>
            <a:endParaRPr lang="zh-CN" altLang="en-US" sz="1350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98F72C8-317C-477B-BDDF-776668F0CA46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id="{97061450-BEB5-407D-86A7-CB1BD4EBB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8784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1C6C9303-8A48-412B-8C4E-10B54A3687E6}"/>
              </a:ext>
            </a:extLst>
          </p:cNvPr>
          <p:cNvPicPr/>
          <p:nvPr/>
        </p:nvPicPr>
        <p:blipFill rotWithShape="1">
          <a:blip r:embed="rId2"/>
          <a:srcRect r="434" b="49696"/>
          <a:stretch/>
        </p:blipFill>
        <p:spPr bwMode="auto">
          <a:xfrm>
            <a:off x="864703" y="1711127"/>
            <a:ext cx="7196773" cy="2742364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23742F-4E5D-4DE7-97A3-2CA3E9FFA8E3}"/>
              </a:ext>
            </a:extLst>
          </p:cNvPr>
          <p:cNvCxnSpPr/>
          <p:nvPr/>
        </p:nvCxnSpPr>
        <p:spPr>
          <a:xfrm>
            <a:off x="3763401" y="3904691"/>
            <a:ext cx="4876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03642EC-4EC1-40DB-A863-91994F184DBC}"/>
              </a:ext>
            </a:extLst>
          </p:cNvPr>
          <p:cNvCxnSpPr/>
          <p:nvPr/>
        </p:nvCxnSpPr>
        <p:spPr>
          <a:xfrm>
            <a:off x="3580521" y="4339031"/>
            <a:ext cx="4876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952CB9-1A1F-485D-AB0E-BD3011198687}"/>
              </a:ext>
            </a:extLst>
          </p:cNvPr>
          <p:cNvCxnSpPr>
            <a:cxnSpLocks/>
          </p:cNvCxnSpPr>
          <p:nvPr/>
        </p:nvCxnSpPr>
        <p:spPr>
          <a:xfrm>
            <a:off x="4914021" y="3577031"/>
            <a:ext cx="6705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CAF1584-B388-4D60-8F24-996C0CBDD0A6}"/>
              </a:ext>
            </a:extLst>
          </p:cNvPr>
          <p:cNvCxnSpPr>
            <a:cxnSpLocks/>
          </p:cNvCxnSpPr>
          <p:nvPr/>
        </p:nvCxnSpPr>
        <p:spPr>
          <a:xfrm>
            <a:off x="5767461" y="3577031"/>
            <a:ext cx="6705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501C4D5-5FC5-4519-B28D-6711DB918467}"/>
              </a:ext>
            </a:extLst>
          </p:cNvPr>
          <p:cNvCxnSpPr>
            <a:cxnSpLocks/>
          </p:cNvCxnSpPr>
          <p:nvPr/>
        </p:nvCxnSpPr>
        <p:spPr>
          <a:xfrm flipH="1">
            <a:off x="2150474" y="2586933"/>
            <a:ext cx="1917728" cy="1142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2100D7-26F7-468E-BD63-49F53A56CACE}"/>
              </a:ext>
            </a:extLst>
          </p:cNvPr>
          <p:cNvCxnSpPr>
            <a:cxnSpLocks/>
          </p:cNvCxnSpPr>
          <p:nvPr/>
        </p:nvCxnSpPr>
        <p:spPr>
          <a:xfrm flipH="1">
            <a:off x="2189410" y="2868873"/>
            <a:ext cx="1901653" cy="1154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>
            <a:extLst>
              <a:ext uri="{FF2B5EF4-FFF2-40B4-BE49-F238E27FC236}">
                <a16:creationId xmlns:a16="http://schemas.microsoft.com/office/drawing/2014/main" id="{B810606C-1F31-44F1-8190-ECD3ED02A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19" y="5396006"/>
            <a:ext cx="2634796" cy="9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f318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-0xc(%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f30c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-0xa(%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f30e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A04EAA-EF17-4391-875F-FBD7F775DBFF}"/>
              </a:ext>
            </a:extLst>
          </p:cNvPr>
          <p:cNvCxnSpPr>
            <a:cxnSpLocks/>
          </p:cNvCxnSpPr>
          <p:nvPr/>
        </p:nvCxnSpPr>
        <p:spPr>
          <a:xfrm flipV="1">
            <a:off x="3282254" y="3645612"/>
            <a:ext cx="2671226" cy="266564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5DDB59A-FA63-42E3-851F-683A4EC64E77}"/>
              </a:ext>
            </a:extLst>
          </p:cNvPr>
          <p:cNvCxnSpPr>
            <a:cxnSpLocks/>
          </p:cNvCxnSpPr>
          <p:nvPr/>
        </p:nvCxnSpPr>
        <p:spPr>
          <a:xfrm flipV="1">
            <a:off x="3261319" y="3645613"/>
            <a:ext cx="1652702" cy="224413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A033A49D-2AC7-4C4F-9CCE-447397B71E2F}"/>
              </a:ext>
            </a:extLst>
          </p:cNvPr>
          <p:cNvSpPr/>
          <p:nvPr/>
        </p:nvSpPr>
        <p:spPr>
          <a:xfrm>
            <a:off x="983064" y="1158571"/>
            <a:ext cx="1662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/>
            <a:r>
              <a:rPr lang="en-US" altLang="zh-CN" sz="16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6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等长数据传送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9DED20-222C-4C8E-9831-F21460D58674}"/>
              </a:ext>
            </a:extLst>
          </p:cNvPr>
          <p:cNvSpPr/>
          <p:nvPr/>
        </p:nvSpPr>
        <p:spPr>
          <a:xfrm>
            <a:off x="864703" y="4882109"/>
            <a:ext cx="24881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查看变量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usi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A5539E9-8D1E-459E-AD50-A4D97CEAA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241" y="5571349"/>
            <a:ext cx="2634796" cy="9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si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0xff9c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i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  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0xff9c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A83CE67-5774-425D-9A2B-F362F23AF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387225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3CFA94E4-4CCD-4DBF-B08B-6968A2E6EB59}"/>
              </a:ext>
            </a:extLst>
          </p:cNvPr>
          <p:cNvPicPr/>
          <p:nvPr/>
        </p:nvPicPr>
        <p:blipFill rotWithShape="1">
          <a:blip r:embed="rId2"/>
          <a:srcRect t="45452" r="110" b="25986"/>
          <a:stretch/>
        </p:blipFill>
        <p:spPr bwMode="auto">
          <a:xfrm>
            <a:off x="587287" y="1767613"/>
            <a:ext cx="7667227" cy="2435617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23742F-4E5D-4DE7-97A3-2CA3E9FFA8E3}"/>
              </a:ext>
            </a:extLst>
          </p:cNvPr>
          <p:cNvCxnSpPr/>
          <p:nvPr/>
        </p:nvCxnSpPr>
        <p:spPr>
          <a:xfrm>
            <a:off x="3669319" y="2655141"/>
            <a:ext cx="4876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03642EC-4EC1-40DB-A863-91994F184DBC}"/>
              </a:ext>
            </a:extLst>
          </p:cNvPr>
          <p:cNvCxnSpPr/>
          <p:nvPr/>
        </p:nvCxnSpPr>
        <p:spPr>
          <a:xfrm>
            <a:off x="3521022" y="3340689"/>
            <a:ext cx="4876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952CB9-1A1F-485D-AB0E-BD3011198687}"/>
              </a:ext>
            </a:extLst>
          </p:cNvPr>
          <p:cNvCxnSpPr>
            <a:cxnSpLocks/>
          </p:cNvCxnSpPr>
          <p:nvPr/>
        </p:nvCxnSpPr>
        <p:spPr>
          <a:xfrm>
            <a:off x="5083841" y="3975410"/>
            <a:ext cx="6705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CAF1584-B388-4D60-8F24-996C0CBDD0A6}"/>
              </a:ext>
            </a:extLst>
          </p:cNvPr>
          <p:cNvCxnSpPr>
            <a:cxnSpLocks/>
          </p:cNvCxnSpPr>
          <p:nvPr/>
        </p:nvCxnSpPr>
        <p:spPr>
          <a:xfrm>
            <a:off x="5937281" y="3975410"/>
            <a:ext cx="6705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501C4D5-5FC5-4519-B28D-6711DB918467}"/>
              </a:ext>
            </a:extLst>
          </p:cNvPr>
          <p:cNvCxnSpPr>
            <a:cxnSpLocks/>
          </p:cNvCxnSpPr>
          <p:nvPr/>
        </p:nvCxnSpPr>
        <p:spPr>
          <a:xfrm flipH="1" flipV="1">
            <a:off x="2059790" y="2149576"/>
            <a:ext cx="2143231" cy="7243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2100D7-26F7-468E-BD63-49F53A56CACE}"/>
              </a:ext>
            </a:extLst>
          </p:cNvPr>
          <p:cNvCxnSpPr>
            <a:cxnSpLocks/>
          </p:cNvCxnSpPr>
          <p:nvPr/>
        </p:nvCxnSpPr>
        <p:spPr>
          <a:xfrm flipH="1" flipV="1">
            <a:off x="2059790" y="2845993"/>
            <a:ext cx="2201094" cy="4212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>
            <a:extLst>
              <a:ext uri="{FF2B5EF4-FFF2-40B4-BE49-F238E27FC236}">
                <a16:creationId xmlns:a16="http://schemas.microsoft.com/office/drawing/2014/main" id="{B810606C-1F31-44F1-8190-ECD3ED02A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523" y="4898915"/>
            <a:ext cx="2634796" cy="9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f318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-0x14(%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f304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-0x10(%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f308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A04EAA-EF17-4391-875F-FBD7F775DBFF}"/>
              </a:ext>
            </a:extLst>
          </p:cNvPr>
          <p:cNvCxnSpPr>
            <a:cxnSpLocks/>
          </p:cNvCxnSpPr>
          <p:nvPr/>
        </p:nvCxnSpPr>
        <p:spPr>
          <a:xfrm flipV="1">
            <a:off x="3611276" y="3962937"/>
            <a:ext cx="2397516" cy="175262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5DDB59A-FA63-42E3-851F-683A4EC64E77}"/>
              </a:ext>
            </a:extLst>
          </p:cNvPr>
          <p:cNvCxnSpPr>
            <a:cxnSpLocks/>
          </p:cNvCxnSpPr>
          <p:nvPr/>
        </p:nvCxnSpPr>
        <p:spPr>
          <a:xfrm flipV="1">
            <a:off x="3611276" y="3975410"/>
            <a:ext cx="1615441" cy="142764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9333BAF-B37A-466E-9C83-2D436A23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3794" y="4854541"/>
            <a:ext cx="2154047" cy="100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usi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: 0xff9c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0x0000 ff9c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0x0000 ff9c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9399D2-B853-437A-8D1D-F91E9CEDAE99}"/>
              </a:ext>
            </a:extLst>
          </p:cNvPr>
          <p:cNvSpPr/>
          <p:nvPr/>
        </p:nvSpPr>
        <p:spPr>
          <a:xfrm>
            <a:off x="762513" y="1090244"/>
            <a:ext cx="1047082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6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零扩展</a:t>
            </a:r>
            <a:endParaRPr lang="en-US" altLang="zh-CN" sz="16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4F876A-1C8A-4F59-BA5E-3DF67E7077C7}"/>
              </a:ext>
            </a:extLst>
          </p:cNvPr>
          <p:cNvSpPr/>
          <p:nvPr/>
        </p:nvSpPr>
        <p:spPr>
          <a:xfrm>
            <a:off x="855191" y="4454786"/>
            <a:ext cx="22862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查看变量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BF4C2B2-ECE1-47A1-B913-BB41FA498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132786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7DA0FF5-3F07-483E-A89E-C3E88EDD32A3}"/>
              </a:ext>
            </a:extLst>
          </p:cNvPr>
          <p:cNvPicPr/>
          <p:nvPr/>
        </p:nvPicPr>
        <p:blipFill rotWithShape="1">
          <a:blip r:embed="rId2"/>
          <a:srcRect t="51949" r="-18" b="15126"/>
          <a:stretch/>
        </p:blipFill>
        <p:spPr bwMode="auto">
          <a:xfrm>
            <a:off x="590526" y="1796291"/>
            <a:ext cx="7540751" cy="2136890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23742F-4E5D-4DE7-97A3-2CA3E9FFA8E3}"/>
              </a:ext>
            </a:extLst>
          </p:cNvPr>
          <p:cNvCxnSpPr/>
          <p:nvPr/>
        </p:nvCxnSpPr>
        <p:spPr>
          <a:xfrm>
            <a:off x="3517796" y="3071812"/>
            <a:ext cx="4876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03642EC-4EC1-40DB-A863-91994F184DBC}"/>
              </a:ext>
            </a:extLst>
          </p:cNvPr>
          <p:cNvCxnSpPr/>
          <p:nvPr/>
        </p:nvCxnSpPr>
        <p:spPr>
          <a:xfrm>
            <a:off x="3517796" y="3586738"/>
            <a:ext cx="4876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952CB9-1A1F-485D-AB0E-BD3011198687}"/>
              </a:ext>
            </a:extLst>
          </p:cNvPr>
          <p:cNvCxnSpPr>
            <a:cxnSpLocks/>
          </p:cNvCxnSpPr>
          <p:nvPr/>
        </p:nvCxnSpPr>
        <p:spPr>
          <a:xfrm>
            <a:off x="5002657" y="3497977"/>
            <a:ext cx="6705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CAF1584-B388-4D60-8F24-996C0CBDD0A6}"/>
              </a:ext>
            </a:extLst>
          </p:cNvPr>
          <p:cNvCxnSpPr>
            <a:cxnSpLocks/>
          </p:cNvCxnSpPr>
          <p:nvPr/>
        </p:nvCxnSpPr>
        <p:spPr>
          <a:xfrm>
            <a:off x="5857269" y="3497977"/>
            <a:ext cx="6705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501C4D5-5FC5-4519-B28D-6711DB918467}"/>
              </a:ext>
            </a:extLst>
          </p:cNvPr>
          <p:cNvCxnSpPr>
            <a:cxnSpLocks/>
          </p:cNvCxnSpPr>
          <p:nvPr/>
        </p:nvCxnSpPr>
        <p:spPr>
          <a:xfrm flipH="1">
            <a:off x="2028847" y="2632895"/>
            <a:ext cx="2080516" cy="514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2100D7-26F7-468E-BD63-49F53A56CACE}"/>
              </a:ext>
            </a:extLst>
          </p:cNvPr>
          <p:cNvCxnSpPr>
            <a:cxnSpLocks/>
          </p:cNvCxnSpPr>
          <p:nvPr/>
        </p:nvCxnSpPr>
        <p:spPr>
          <a:xfrm flipH="1">
            <a:off x="2028847" y="2973197"/>
            <a:ext cx="2080516" cy="197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>
            <a:extLst>
              <a:ext uri="{FF2B5EF4-FFF2-40B4-BE49-F238E27FC236}">
                <a16:creationId xmlns:a16="http://schemas.microsoft.com/office/drawing/2014/main" id="{B810606C-1F31-44F1-8190-ECD3ED02A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000" y="4813368"/>
            <a:ext cx="2634796" cy="9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f318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-0x1c(%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f2fc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-0x18(%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f300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A04EAA-EF17-4391-875F-FBD7F775DBFF}"/>
              </a:ext>
            </a:extLst>
          </p:cNvPr>
          <p:cNvCxnSpPr>
            <a:cxnSpLocks/>
          </p:cNvCxnSpPr>
          <p:nvPr/>
        </p:nvCxnSpPr>
        <p:spPr>
          <a:xfrm flipV="1">
            <a:off x="3459753" y="3564580"/>
            <a:ext cx="2556467" cy="206543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5DDB59A-FA63-42E3-851F-683A4EC64E77}"/>
              </a:ext>
            </a:extLst>
          </p:cNvPr>
          <p:cNvCxnSpPr>
            <a:cxnSpLocks/>
          </p:cNvCxnSpPr>
          <p:nvPr/>
        </p:nvCxnSpPr>
        <p:spPr>
          <a:xfrm flipV="1">
            <a:off x="3459753" y="3586738"/>
            <a:ext cx="1669271" cy="173076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9333BAF-B37A-466E-9C83-2D436A23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646" y="4715572"/>
            <a:ext cx="2159119" cy="1084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defTabSz="685800">
              <a:lnSpc>
                <a:spcPct val="150000"/>
              </a:lnSpc>
            </a:pPr>
            <a:r>
              <a:rPr lang="en-US" altLang="zh-CN" sz="1500" kern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0xff9c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i1: 0xffff ff9c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i1:   0xffff ff9c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A898EF-FFE9-46F5-8A4D-964677E92DC4}"/>
              </a:ext>
            </a:extLst>
          </p:cNvPr>
          <p:cNvSpPr/>
          <p:nvPr/>
        </p:nvSpPr>
        <p:spPr>
          <a:xfrm>
            <a:off x="762513" y="1129382"/>
            <a:ext cx="1669391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符号扩展</a:t>
            </a:r>
            <a:endParaRPr lang="en-US" altLang="zh-CN" sz="16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C08DB2-741C-47C5-AA08-64A3014C35A8}"/>
              </a:ext>
            </a:extLst>
          </p:cNvPr>
          <p:cNvSpPr/>
          <p:nvPr/>
        </p:nvSpPr>
        <p:spPr>
          <a:xfrm>
            <a:off x="781049" y="4282844"/>
            <a:ext cx="25394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查看变量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ui1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0FEC770-AF62-4CE5-B00B-3FAE33BA6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304267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3EE3C883-AD29-4A99-B22C-3556B64D6774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" t="20809" r="173" b="22931"/>
          <a:stretch/>
        </p:blipFill>
        <p:spPr bwMode="auto">
          <a:xfrm>
            <a:off x="855779" y="1785676"/>
            <a:ext cx="7432442" cy="2510136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23742F-4E5D-4DE7-97A3-2CA3E9FFA8E3}"/>
              </a:ext>
            </a:extLst>
          </p:cNvPr>
          <p:cNvCxnSpPr>
            <a:cxnSpLocks/>
          </p:cNvCxnSpPr>
          <p:nvPr/>
        </p:nvCxnSpPr>
        <p:spPr>
          <a:xfrm>
            <a:off x="4064822" y="3536045"/>
            <a:ext cx="56778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03642EC-4EC1-40DB-A863-91994F184DBC}"/>
              </a:ext>
            </a:extLst>
          </p:cNvPr>
          <p:cNvCxnSpPr>
            <a:cxnSpLocks/>
          </p:cNvCxnSpPr>
          <p:nvPr/>
        </p:nvCxnSpPr>
        <p:spPr>
          <a:xfrm>
            <a:off x="3651869" y="3875050"/>
            <a:ext cx="60159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952CB9-1A1F-485D-AB0E-BD3011198687}"/>
              </a:ext>
            </a:extLst>
          </p:cNvPr>
          <p:cNvCxnSpPr>
            <a:cxnSpLocks/>
          </p:cNvCxnSpPr>
          <p:nvPr/>
        </p:nvCxnSpPr>
        <p:spPr>
          <a:xfrm>
            <a:off x="4831271" y="3148112"/>
            <a:ext cx="149535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CAF1584-B388-4D60-8F24-996C0CBDD0A6}"/>
              </a:ext>
            </a:extLst>
          </p:cNvPr>
          <p:cNvCxnSpPr>
            <a:cxnSpLocks/>
          </p:cNvCxnSpPr>
          <p:nvPr/>
        </p:nvCxnSpPr>
        <p:spPr>
          <a:xfrm>
            <a:off x="4804182" y="3255459"/>
            <a:ext cx="152244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501C4D5-5FC5-4519-B28D-6711DB918467}"/>
              </a:ext>
            </a:extLst>
          </p:cNvPr>
          <p:cNvCxnSpPr>
            <a:cxnSpLocks/>
          </p:cNvCxnSpPr>
          <p:nvPr/>
        </p:nvCxnSpPr>
        <p:spPr>
          <a:xfrm flipH="1">
            <a:off x="2257482" y="2335932"/>
            <a:ext cx="1756981" cy="9250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2100D7-26F7-468E-BD63-49F53A56CACE}"/>
              </a:ext>
            </a:extLst>
          </p:cNvPr>
          <p:cNvCxnSpPr>
            <a:cxnSpLocks/>
          </p:cNvCxnSpPr>
          <p:nvPr/>
        </p:nvCxnSpPr>
        <p:spPr>
          <a:xfrm flipH="1">
            <a:off x="2257481" y="2565045"/>
            <a:ext cx="1717207" cy="10156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>
            <a:extLst>
              <a:ext uri="{FF2B5EF4-FFF2-40B4-BE49-F238E27FC236}">
                <a16:creationId xmlns:a16="http://schemas.microsoft.com/office/drawing/2014/main" id="{B810606C-1F31-44F1-8190-ECD3ED02A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569" y="4831796"/>
            <a:ext cx="2634796" cy="151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f318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-0x20(%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f2f8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-0x22(%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f2f6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-0x28(%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f2f0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A04EAA-EF17-4391-875F-FBD7F775DBFF}"/>
              </a:ext>
            </a:extLst>
          </p:cNvPr>
          <p:cNvCxnSpPr>
            <a:cxnSpLocks/>
          </p:cNvCxnSpPr>
          <p:nvPr/>
        </p:nvCxnSpPr>
        <p:spPr>
          <a:xfrm flipV="1">
            <a:off x="3669179" y="3125483"/>
            <a:ext cx="1953712" cy="301883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5DDB59A-FA63-42E3-851F-683A4EC64E77}"/>
              </a:ext>
            </a:extLst>
          </p:cNvPr>
          <p:cNvCxnSpPr>
            <a:cxnSpLocks/>
          </p:cNvCxnSpPr>
          <p:nvPr/>
        </p:nvCxnSpPr>
        <p:spPr>
          <a:xfrm flipV="1">
            <a:off x="3651869" y="3264478"/>
            <a:ext cx="1281764" cy="214002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19333BAF-B37A-466E-9C83-2D436A23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5638" y="5219030"/>
            <a:ext cx="3289986" cy="114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i2:   0x12348765</a:t>
            </a: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si2: 0x8765                      </a:t>
            </a:r>
            <a:r>
              <a:rPr lang="zh-CN" altLang="en-US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位截断</a:t>
            </a:r>
            <a:endParaRPr lang="en-US" altLang="zh-CN" sz="15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685800">
              <a:lnSpc>
                <a:spcPct val="150000"/>
              </a:lnSpc>
            </a:pPr>
            <a:r>
              <a:rPr lang="en-US" altLang="zh-CN" sz="1500" kern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3:   </a:t>
            </a:r>
            <a:r>
              <a:rPr lang="en-US" altLang="zh-CN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0xffff 8765               </a:t>
            </a:r>
            <a:r>
              <a:rPr lang="zh-CN" altLang="en-US" sz="15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</a:t>
            </a:r>
            <a:endParaRPr lang="en-US" altLang="zh-CN" sz="15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90909E6-CD02-44C5-B424-445E719B2F2A}"/>
              </a:ext>
            </a:extLst>
          </p:cNvPr>
          <p:cNvCxnSpPr>
            <a:cxnSpLocks/>
          </p:cNvCxnSpPr>
          <p:nvPr/>
        </p:nvCxnSpPr>
        <p:spPr>
          <a:xfrm>
            <a:off x="7386960" y="3148112"/>
            <a:ext cx="75359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9CEBFA1-46CF-4FB1-B8BF-70E78C7EF275}"/>
              </a:ext>
            </a:extLst>
          </p:cNvPr>
          <p:cNvCxnSpPr>
            <a:cxnSpLocks/>
          </p:cNvCxnSpPr>
          <p:nvPr/>
        </p:nvCxnSpPr>
        <p:spPr>
          <a:xfrm flipH="1">
            <a:off x="2257481" y="2800403"/>
            <a:ext cx="1717207" cy="1141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EA42C43-860D-4E6C-85D8-69D6FF7715F9}"/>
              </a:ext>
            </a:extLst>
          </p:cNvPr>
          <p:cNvCxnSpPr>
            <a:cxnSpLocks/>
          </p:cNvCxnSpPr>
          <p:nvPr/>
        </p:nvCxnSpPr>
        <p:spPr>
          <a:xfrm>
            <a:off x="3713664" y="4217021"/>
            <a:ext cx="60159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2B05D15-1F2E-42E4-A5AD-D70C2553A590}"/>
              </a:ext>
            </a:extLst>
          </p:cNvPr>
          <p:cNvCxnSpPr>
            <a:cxnSpLocks/>
          </p:cNvCxnSpPr>
          <p:nvPr/>
        </p:nvCxnSpPr>
        <p:spPr>
          <a:xfrm flipV="1">
            <a:off x="3601365" y="3162801"/>
            <a:ext cx="3844259" cy="262804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ED774A54-2695-4652-BA9D-A7A571CEF6CA}"/>
              </a:ext>
            </a:extLst>
          </p:cNvPr>
          <p:cNvSpPr/>
          <p:nvPr/>
        </p:nvSpPr>
        <p:spPr>
          <a:xfrm>
            <a:off x="3352885" y="985784"/>
            <a:ext cx="5591306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语句“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si2=i2;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”和“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i3= si2;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执行后，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i3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未必相同，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高级语言程序中的赋值运算符“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”不同于数学中的等号“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06425D-7FD1-4A7D-9A79-025FCE6D5676}"/>
              </a:ext>
            </a:extLst>
          </p:cNvPr>
          <p:cNvSpPr/>
          <p:nvPr/>
        </p:nvSpPr>
        <p:spPr>
          <a:xfrm>
            <a:off x="855779" y="1047816"/>
            <a:ext cx="2073003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位截断、符号扩展</a:t>
            </a:r>
            <a:endParaRPr lang="en-US" altLang="zh-CN" sz="16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30AA3D4-D02C-4E7E-9581-3CA8EFA0A4EA}"/>
              </a:ext>
            </a:extLst>
          </p:cNvPr>
          <p:cNvSpPr/>
          <p:nvPr/>
        </p:nvSpPr>
        <p:spPr>
          <a:xfrm>
            <a:off x="864703" y="4500013"/>
            <a:ext cx="2900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查看变量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i3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的机器数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63690306-71BB-4050-900D-9199415F8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283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99D6F97-CDAF-404A-BB3B-2A743C845E77}"/>
              </a:ext>
            </a:extLst>
          </p:cNvPr>
          <p:cNvPicPr/>
          <p:nvPr/>
        </p:nvPicPr>
        <p:blipFill rotWithShape="1">
          <a:blip r:embed="rId2"/>
          <a:srcRect r="313" b="53396"/>
          <a:stretch/>
        </p:blipFill>
        <p:spPr bwMode="auto">
          <a:xfrm>
            <a:off x="457199" y="1389569"/>
            <a:ext cx="8229601" cy="2793543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3D77244-A9F4-4DC0-A7EC-0E2A286A9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243686"/>
              </p:ext>
            </p:extLst>
          </p:nvPr>
        </p:nvGraphicFramePr>
        <p:xfrm>
          <a:off x="1789472" y="4434671"/>
          <a:ext cx="5147212" cy="21336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40747">
                  <a:extLst>
                    <a:ext uri="{9D8B030D-6E8A-4147-A177-3AD203B41FA5}">
                      <a16:colId xmlns:a16="http://schemas.microsoft.com/office/drawing/2014/main" val="3295723676"/>
                    </a:ext>
                  </a:extLst>
                </a:gridCol>
                <a:gridCol w="1294741">
                  <a:extLst>
                    <a:ext uri="{9D8B030D-6E8A-4147-A177-3AD203B41FA5}">
                      <a16:colId xmlns:a16="http://schemas.microsoft.com/office/drawing/2014/main" val="1351125606"/>
                    </a:ext>
                  </a:extLst>
                </a:gridCol>
                <a:gridCol w="1304290">
                  <a:extLst>
                    <a:ext uri="{9D8B030D-6E8A-4147-A177-3AD203B41FA5}">
                      <a16:colId xmlns:a16="http://schemas.microsoft.com/office/drawing/2014/main" val="2223387962"/>
                    </a:ext>
                  </a:extLst>
                </a:gridCol>
                <a:gridCol w="1507434">
                  <a:extLst>
                    <a:ext uri="{9D8B030D-6E8A-4147-A177-3AD203B41FA5}">
                      <a16:colId xmlns:a16="http://schemas.microsoft.com/office/drawing/2014/main" val="3855159000"/>
                    </a:ext>
                  </a:extLst>
                </a:gridCol>
              </a:tblGrid>
              <a:tr h="1520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4897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xff9c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-100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初始值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096357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usi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0xff9c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65436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等长数据传送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94208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0x0000 ff9c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65436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零扩展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22485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ui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0x0000 ff9c 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65436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零扩展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913408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i1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0xffff ff9c 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-100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836133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ui1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0xffff ff9c  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4294967196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622505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i2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0c1234 8765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305432421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初始值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542797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si2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0c8765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-30875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位截断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18000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i3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0cffff 8765</a:t>
                      </a: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-30875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符号扩展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800946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487CA90-DC07-4BC0-B0D8-122A8E684FE7}"/>
              </a:ext>
            </a:extLst>
          </p:cNvPr>
          <p:cNvCxnSpPr/>
          <p:nvPr/>
        </p:nvCxnSpPr>
        <p:spPr>
          <a:xfrm>
            <a:off x="2245178" y="4757980"/>
            <a:ext cx="0" cy="2612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28E92FD-1346-4FAC-AF4E-EEB3972AD207}"/>
              </a:ext>
            </a:extLst>
          </p:cNvPr>
          <p:cNvCxnSpPr/>
          <p:nvPr/>
        </p:nvCxnSpPr>
        <p:spPr>
          <a:xfrm>
            <a:off x="2356758" y="4951200"/>
            <a:ext cx="0" cy="261257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247D205-2B13-46E4-9562-4C89613D5C62}"/>
              </a:ext>
            </a:extLst>
          </p:cNvPr>
          <p:cNvCxnSpPr>
            <a:cxnSpLocks/>
          </p:cNvCxnSpPr>
          <p:nvPr/>
        </p:nvCxnSpPr>
        <p:spPr>
          <a:xfrm>
            <a:off x="2454728" y="4951200"/>
            <a:ext cx="0" cy="484416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9A5C37-F76E-4534-89F7-EA95A1C42F12}"/>
              </a:ext>
            </a:extLst>
          </p:cNvPr>
          <p:cNvCxnSpPr>
            <a:cxnSpLocks/>
          </p:cNvCxnSpPr>
          <p:nvPr/>
        </p:nvCxnSpPr>
        <p:spPr>
          <a:xfrm>
            <a:off x="2582635" y="4749813"/>
            <a:ext cx="0" cy="906238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5624A64-2236-4C5F-8190-3F31E56B3921}"/>
              </a:ext>
            </a:extLst>
          </p:cNvPr>
          <p:cNvCxnSpPr>
            <a:cxnSpLocks/>
          </p:cNvCxnSpPr>
          <p:nvPr/>
        </p:nvCxnSpPr>
        <p:spPr>
          <a:xfrm>
            <a:off x="2705517" y="4740289"/>
            <a:ext cx="0" cy="1144362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2EC489C-1B5B-4780-8CCB-F27F6CE830C8}"/>
              </a:ext>
            </a:extLst>
          </p:cNvPr>
          <p:cNvCxnSpPr/>
          <p:nvPr/>
        </p:nvCxnSpPr>
        <p:spPr>
          <a:xfrm>
            <a:off x="2247901" y="6034329"/>
            <a:ext cx="0" cy="2612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FC1F749-3C5D-4182-8B41-7655D59A8BB3}"/>
              </a:ext>
            </a:extLst>
          </p:cNvPr>
          <p:cNvCxnSpPr/>
          <p:nvPr/>
        </p:nvCxnSpPr>
        <p:spPr>
          <a:xfrm>
            <a:off x="2381252" y="6238438"/>
            <a:ext cx="0" cy="2612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721C565C-E613-4155-B6C5-DAE8E5115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02" y="260232"/>
            <a:ext cx="6139732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不同整型数据之间的转换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803673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1771613" y="1639437"/>
            <a:ext cx="5200688" cy="329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实验系统的安装和配置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GCC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OBJDUMP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GDB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工具的使用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数据的机器级表示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数据的基本运算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程序的机器级表示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C0EB1B-66F2-4C96-99B2-08E328A802AA}"/>
              </a:ext>
            </a:extLst>
          </p:cNvPr>
          <p:cNvSpPr txBox="1"/>
          <p:nvPr/>
        </p:nvSpPr>
        <p:spPr>
          <a:xfrm>
            <a:off x="4778537" y="3970653"/>
            <a:ext cx="3279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整数的加减、乘运算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A52A288-C465-4508-AEF5-EED6B58E9CE6}"/>
              </a:ext>
            </a:extLst>
          </p:cNvPr>
          <p:cNvCxnSpPr/>
          <p:nvPr/>
        </p:nvCxnSpPr>
        <p:spPr>
          <a:xfrm>
            <a:off x="4245429" y="4180114"/>
            <a:ext cx="4677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3741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145E3A-F16D-4D42-A7E9-38810BC9CEED}"/>
              </a:ext>
            </a:extLst>
          </p:cNvPr>
          <p:cNvSpPr/>
          <p:nvPr/>
        </p:nvSpPr>
        <p:spPr>
          <a:xfrm>
            <a:off x="1265463" y="2070001"/>
            <a:ext cx="507002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 )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   int        a=100,  b=2147483647, c, d;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unsigned int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=100,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=2147483647,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c=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ua+ub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d=a-b; 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ua-ub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("c=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=%d+%d=%d\n", a, b, c);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ua+ub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=%u+%u=%u\n",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 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("d=a-b=%d-%d=%d\n", a, b, d);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ua-ub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=%u-%u=%u\n",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47ECE0-1BDC-4439-81A8-73E3521A183F}"/>
              </a:ext>
            </a:extLst>
          </p:cNvPr>
          <p:cNvSpPr/>
          <p:nvPr/>
        </p:nvSpPr>
        <p:spPr>
          <a:xfrm>
            <a:off x="1514031" y="1060451"/>
            <a:ext cx="6725401" cy="791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整数的加、减运算：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数据（机器数、真值）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标志位：逻辑表达式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zh-CN" altLang="en-US" sz="1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57D57E-F9A1-4271-A811-87B2C9EB7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275123"/>
              </p:ext>
            </p:extLst>
          </p:nvPr>
        </p:nvGraphicFramePr>
        <p:xfrm>
          <a:off x="1514031" y="4632224"/>
          <a:ext cx="5600337" cy="1260000"/>
        </p:xfrm>
        <a:graphic>
          <a:graphicData uri="http://schemas.openxmlformats.org/drawingml/2006/table">
            <a:tbl>
              <a:tblPr firstRow="1" firstCol="1" bandRow="1"/>
              <a:tblGrid>
                <a:gridCol w="751172">
                  <a:extLst>
                    <a:ext uri="{9D8B030D-6E8A-4147-A177-3AD203B41FA5}">
                      <a16:colId xmlns:a16="http://schemas.microsoft.com/office/drawing/2014/main" val="3266239278"/>
                    </a:ext>
                  </a:extLst>
                </a:gridCol>
                <a:gridCol w="735966">
                  <a:extLst>
                    <a:ext uri="{9D8B030D-6E8A-4147-A177-3AD203B41FA5}">
                      <a16:colId xmlns:a16="http://schemas.microsoft.com/office/drawing/2014/main" val="2778953257"/>
                    </a:ext>
                  </a:extLst>
                </a:gridCol>
                <a:gridCol w="1078099">
                  <a:extLst>
                    <a:ext uri="{9D8B030D-6E8A-4147-A177-3AD203B41FA5}">
                      <a16:colId xmlns:a16="http://schemas.microsoft.com/office/drawing/2014/main" val="2113542291"/>
                    </a:ext>
                  </a:extLst>
                </a:gridCol>
                <a:gridCol w="1078099">
                  <a:extLst>
                    <a:ext uri="{9D8B030D-6E8A-4147-A177-3AD203B41FA5}">
                      <a16:colId xmlns:a16="http://schemas.microsoft.com/office/drawing/2014/main" val="175903161"/>
                    </a:ext>
                  </a:extLst>
                </a:gridCol>
                <a:gridCol w="771700">
                  <a:extLst>
                    <a:ext uri="{9D8B030D-6E8A-4147-A177-3AD203B41FA5}">
                      <a16:colId xmlns:a16="http://schemas.microsoft.com/office/drawing/2014/main" val="1540726216"/>
                    </a:ext>
                  </a:extLst>
                </a:gridCol>
                <a:gridCol w="1185301">
                  <a:extLst>
                    <a:ext uri="{9D8B030D-6E8A-4147-A177-3AD203B41FA5}">
                      <a16:colId xmlns:a16="http://schemas.microsoft.com/office/drawing/2014/main" val="31431833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0316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ua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04285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ub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9423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uc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9303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ud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70323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753ACBE-E209-466E-B975-1B9E16F6428C}"/>
              </a:ext>
            </a:extLst>
          </p:cNvPr>
          <p:cNvSpPr/>
          <p:nvPr/>
        </p:nvSpPr>
        <p:spPr>
          <a:xfrm>
            <a:off x="1383402" y="6061013"/>
            <a:ext cx="6272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程序中的数据；电路中的数据；运算得到的数据正确吗？为什么。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903931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4298449-3752-4B35-A852-5088905CF753}"/>
              </a:ext>
            </a:extLst>
          </p:cNvPr>
          <p:cNvPicPr/>
          <p:nvPr/>
        </p:nvPicPr>
        <p:blipFill rotWithShape="1">
          <a:blip r:embed="rId2"/>
          <a:srcRect t="2453" r="434"/>
          <a:stretch/>
        </p:blipFill>
        <p:spPr bwMode="auto">
          <a:xfrm>
            <a:off x="821365" y="2087069"/>
            <a:ext cx="7181397" cy="4220075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90D6737-2B08-42C6-84CB-94B2BB648F49}"/>
              </a:ext>
            </a:extLst>
          </p:cNvPr>
          <p:cNvCxnSpPr/>
          <p:nvPr/>
        </p:nvCxnSpPr>
        <p:spPr>
          <a:xfrm>
            <a:off x="2911424" y="4544519"/>
            <a:ext cx="8817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DF53EAF-D735-47BA-A380-B60B2F6A2149}"/>
              </a:ext>
            </a:extLst>
          </p:cNvPr>
          <p:cNvCxnSpPr/>
          <p:nvPr/>
        </p:nvCxnSpPr>
        <p:spPr>
          <a:xfrm>
            <a:off x="2911424" y="4974505"/>
            <a:ext cx="8817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3D7F6C3-CB36-407E-9B92-C6D49EB7D6F7}"/>
              </a:ext>
            </a:extLst>
          </p:cNvPr>
          <p:cNvCxnSpPr/>
          <p:nvPr/>
        </p:nvCxnSpPr>
        <p:spPr>
          <a:xfrm>
            <a:off x="2911423" y="5390884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9166DF7-11F6-446C-9FF2-7F44060D02D9}"/>
              </a:ext>
            </a:extLst>
          </p:cNvPr>
          <p:cNvCxnSpPr/>
          <p:nvPr/>
        </p:nvCxnSpPr>
        <p:spPr>
          <a:xfrm>
            <a:off x="2911423" y="5706570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4A5C425-1859-4875-9A58-849532B207D8}"/>
              </a:ext>
            </a:extLst>
          </p:cNvPr>
          <p:cNvCxnSpPr/>
          <p:nvPr/>
        </p:nvCxnSpPr>
        <p:spPr>
          <a:xfrm>
            <a:off x="5570260" y="3276333"/>
            <a:ext cx="68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263A07C-7F00-4D51-AB36-F377D593B9CB}"/>
              </a:ext>
            </a:extLst>
          </p:cNvPr>
          <p:cNvCxnSpPr/>
          <p:nvPr/>
        </p:nvCxnSpPr>
        <p:spPr>
          <a:xfrm>
            <a:off x="5787975" y="3608347"/>
            <a:ext cx="57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7BE45284-863F-4864-BC7A-0EC993FA81A4}"/>
              </a:ext>
            </a:extLst>
          </p:cNvPr>
          <p:cNvSpPr/>
          <p:nvPr/>
        </p:nvSpPr>
        <p:spPr>
          <a:xfrm>
            <a:off x="821365" y="1013654"/>
            <a:ext cx="6340197" cy="1025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IA-32+Linux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观察：带符号整数加、减法运算指令；无符号整数加、减法运算指令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程序的输出结果是否正确？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787168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8B25706-297A-428E-98F2-DFC30D39F215}"/>
              </a:ext>
            </a:extLst>
          </p:cNvPr>
          <p:cNvPicPr/>
          <p:nvPr/>
        </p:nvPicPr>
        <p:blipFill rotWithShape="1">
          <a:blip r:embed="rId2"/>
          <a:srcRect t="2694" r="410" b="49353"/>
          <a:stretch/>
        </p:blipFill>
        <p:spPr bwMode="auto">
          <a:xfrm>
            <a:off x="983064" y="1745614"/>
            <a:ext cx="6857999" cy="2406530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4A5C425-1859-4875-9A58-849532B207D8}"/>
              </a:ext>
            </a:extLst>
          </p:cNvPr>
          <p:cNvCxnSpPr>
            <a:cxnSpLocks/>
          </p:cNvCxnSpPr>
          <p:nvPr/>
        </p:nvCxnSpPr>
        <p:spPr>
          <a:xfrm>
            <a:off x="6421884" y="3297157"/>
            <a:ext cx="129267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263A07C-7F00-4D51-AB36-F377D593B9CB}"/>
              </a:ext>
            </a:extLst>
          </p:cNvPr>
          <p:cNvCxnSpPr>
            <a:cxnSpLocks/>
          </p:cNvCxnSpPr>
          <p:nvPr/>
        </p:nvCxnSpPr>
        <p:spPr>
          <a:xfrm>
            <a:off x="4807552" y="3283551"/>
            <a:ext cx="130681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7BE45284-863F-4864-BC7A-0EC993FA81A4}"/>
              </a:ext>
            </a:extLst>
          </p:cNvPr>
          <p:cNvSpPr/>
          <p:nvPr/>
        </p:nvSpPr>
        <p:spPr>
          <a:xfrm>
            <a:off x="1939849" y="6187013"/>
            <a:ext cx="4038285" cy="3812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的机器数相同、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的机器数相同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4063769-757A-48F2-9433-0AA127DDDA33}"/>
              </a:ext>
            </a:extLst>
          </p:cNvPr>
          <p:cNvCxnSpPr/>
          <p:nvPr/>
        </p:nvCxnSpPr>
        <p:spPr>
          <a:xfrm flipH="1">
            <a:off x="1460719" y="2145436"/>
            <a:ext cx="2498272" cy="134455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5DB01F6-9923-4174-9311-7EC66DB4FB67}"/>
              </a:ext>
            </a:extLst>
          </p:cNvPr>
          <p:cNvCxnSpPr>
            <a:cxnSpLocks/>
          </p:cNvCxnSpPr>
          <p:nvPr/>
        </p:nvCxnSpPr>
        <p:spPr>
          <a:xfrm flipH="1">
            <a:off x="3244645" y="2377606"/>
            <a:ext cx="763995" cy="10949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EC1CDB3-A585-4E00-8C32-41A5EC98EA87}"/>
              </a:ext>
            </a:extLst>
          </p:cNvPr>
          <p:cNvSpPr/>
          <p:nvPr/>
        </p:nvSpPr>
        <p:spPr>
          <a:xfrm>
            <a:off x="2954780" y="3472573"/>
            <a:ext cx="1632858" cy="2082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72C68C7-9750-4948-BB3A-2D5F22D5B6BE}"/>
              </a:ext>
            </a:extLst>
          </p:cNvPr>
          <p:cNvCxnSpPr>
            <a:cxnSpLocks/>
          </p:cNvCxnSpPr>
          <p:nvPr/>
        </p:nvCxnSpPr>
        <p:spPr>
          <a:xfrm flipH="1">
            <a:off x="3490452" y="2615381"/>
            <a:ext cx="518188" cy="120332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945D218-0197-4497-98E8-84506BB35C5C}"/>
              </a:ext>
            </a:extLst>
          </p:cNvPr>
          <p:cNvSpPr/>
          <p:nvPr/>
        </p:nvSpPr>
        <p:spPr>
          <a:xfrm>
            <a:off x="2910027" y="3818708"/>
            <a:ext cx="1632858" cy="25358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7596BA86-9115-493F-9813-103C21BAB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414" y="4356316"/>
            <a:ext cx="2634796" cy="1797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f328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-0x18(%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f310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-0x14(%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f314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-0x10(%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f318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-0xc(%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f31c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CBB2800-7935-473D-8BC7-D11645494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992" y="4667509"/>
            <a:ext cx="2634796" cy="143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b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0x7ff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ffff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0x0000 0064</a:t>
            </a: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b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0x7fff 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ffff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0x0000 0064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A4B813-2895-4E0A-A6CB-F31BA51F0CC9}"/>
              </a:ext>
            </a:extLst>
          </p:cNvPr>
          <p:cNvSpPr/>
          <p:nvPr/>
        </p:nvSpPr>
        <p:spPr>
          <a:xfrm>
            <a:off x="983064" y="1172121"/>
            <a:ext cx="3464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查看变量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63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E45284-863F-4864-BC7A-0EC993FA81A4}"/>
              </a:ext>
            </a:extLst>
          </p:cNvPr>
          <p:cNvSpPr/>
          <p:nvPr/>
        </p:nvSpPr>
        <p:spPr>
          <a:xfrm>
            <a:off x="1236533" y="4680074"/>
            <a:ext cx="5831340" cy="10214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指令执行前、后查看：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eflags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寄存器的内容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]+R[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]→R[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eflags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OF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SF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ZF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CF  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· ·</a:t>
            </a:r>
            <a:endParaRPr lang="zh-CN" altLang="en-US" sz="1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4832698-56E7-4DB5-8AF0-6679CA872048}"/>
              </a:ext>
            </a:extLst>
          </p:cNvPr>
          <p:cNvPicPr/>
          <p:nvPr/>
        </p:nvPicPr>
        <p:blipFill rotWithShape="1">
          <a:blip r:embed="rId2"/>
          <a:srcRect t="14785" r="2204" b="28203"/>
          <a:stretch/>
        </p:blipFill>
        <p:spPr bwMode="auto">
          <a:xfrm>
            <a:off x="1955827" y="1094101"/>
            <a:ext cx="6383292" cy="2751870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19CFC2-273D-458D-8112-B959A595DBBB}"/>
              </a:ext>
            </a:extLst>
          </p:cNvPr>
          <p:cNvCxnSpPr>
            <a:cxnSpLocks/>
          </p:cNvCxnSpPr>
          <p:nvPr/>
        </p:nvCxnSpPr>
        <p:spPr>
          <a:xfrm flipH="1">
            <a:off x="2395519" y="1469015"/>
            <a:ext cx="2959701" cy="142114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9501EBB-F057-4AD5-97E7-B47F2DF7C6AA}"/>
              </a:ext>
            </a:extLst>
          </p:cNvPr>
          <p:cNvCxnSpPr>
            <a:cxnSpLocks/>
          </p:cNvCxnSpPr>
          <p:nvPr/>
        </p:nvCxnSpPr>
        <p:spPr>
          <a:xfrm flipH="1">
            <a:off x="4648862" y="2653396"/>
            <a:ext cx="706358" cy="4548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0F142E-4D7E-4E89-9B14-359FBE9C9E4D}"/>
              </a:ext>
            </a:extLst>
          </p:cNvPr>
          <p:cNvCxnSpPr>
            <a:cxnSpLocks/>
          </p:cNvCxnSpPr>
          <p:nvPr/>
        </p:nvCxnSpPr>
        <p:spPr>
          <a:xfrm flipH="1">
            <a:off x="3875369" y="1697585"/>
            <a:ext cx="1479851" cy="11645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8148A61-DAEF-416B-8009-CA33FA029242}"/>
              </a:ext>
            </a:extLst>
          </p:cNvPr>
          <p:cNvCxnSpPr>
            <a:cxnSpLocks/>
          </p:cNvCxnSpPr>
          <p:nvPr/>
        </p:nvCxnSpPr>
        <p:spPr>
          <a:xfrm flipH="1">
            <a:off x="4003883" y="1962082"/>
            <a:ext cx="1351337" cy="10342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8F25C1D-1ED5-4C63-A100-E1C5EB3F48D2}"/>
              </a:ext>
            </a:extLst>
          </p:cNvPr>
          <p:cNvCxnSpPr>
            <a:cxnSpLocks/>
          </p:cNvCxnSpPr>
          <p:nvPr/>
        </p:nvCxnSpPr>
        <p:spPr>
          <a:xfrm flipH="1" flipV="1">
            <a:off x="5002041" y="3282133"/>
            <a:ext cx="353179" cy="442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">
            <a:extLst>
              <a:ext uri="{FF2B5EF4-FFF2-40B4-BE49-F238E27FC236}">
                <a16:creationId xmlns:a16="http://schemas.microsoft.com/office/drawing/2014/main" id="{A84403F4-7A8A-4414-9BE0-824CE4C68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533" y="3948747"/>
            <a:ext cx="2634796" cy="65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f328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-0x1c(%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f30c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C6DC0B1-1F90-4793-A629-F6A25C2D9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16" y="4245361"/>
            <a:ext cx="2634796" cy="312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0x8000 0063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B16B08-8F77-49F7-9C81-6526CE3C1F04}"/>
              </a:ext>
            </a:extLst>
          </p:cNvPr>
          <p:cNvCxnSpPr/>
          <p:nvPr/>
        </p:nvCxnSpPr>
        <p:spPr>
          <a:xfrm>
            <a:off x="4403933" y="3318251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EC4535-23C2-45C8-847E-D81818A97870}"/>
              </a:ext>
            </a:extLst>
          </p:cNvPr>
          <p:cNvCxnSpPr/>
          <p:nvPr/>
        </p:nvCxnSpPr>
        <p:spPr>
          <a:xfrm>
            <a:off x="6074890" y="2319486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EBF6860-7592-4075-BA7A-AC1FB6AA83FB}"/>
              </a:ext>
            </a:extLst>
          </p:cNvPr>
          <p:cNvCxnSpPr/>
          <p:nvPr/>
        </p:nvCxnSpPr>
        <p:spPr>
          <a:xfrm>
            <a:off x="6074890" y="2997122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25B857-E09E-464D-A20D-56BC6FC0B964}"/>
              </a:ext>
            </a:extLst>
          </p:cNvPr>
          <p:cNvCxnSpPr/>
          <p:nvPr/>
        </p:nvCxnSpPr>
        <p:spPr>
          <a:xfrm>
            <a:off x="6074890" y="2564415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2F26194-D3E1-4E96-A2D8-42748F0FB433}"/>
              </a:ext>
            </a:extLst>
          </p:cNvPr>
          <p:cNvCxnSpPr/>
          <p:nvPr/>
        </p:nvCxnSpPr>
        <p:spPr>
          <a:xfrm>
            <a:off x="6074890" y="3272073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1F906589-EC57-451E-8550-777BC6061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241830"/>
              </p:ext>
            </p:extLst>
          </p:nvPr>
        </p:nvGraphicFramePr>
        <p:xfrm>
          <a:off x="1334109" y="5725126"/>
          <a:ext cx="5792296" cy="475615"/>
        </p:xfrm>
        <a:graphic>
          <a:graphicData uri="http://schemas.openxmlformats.org/drawingml/2006/table">
            <a:tbl>
              <a:tblPr/>
              <a:tblGrid>
                <a:gridCol w="704648">
                  <a:extLst>
                    <a:ext uri="{9D8B030D-6E8A-4147-A177-3AD203B41FA5}">
                      <a16:colId xmlns:a16="http://schemas.microsoft.com/office/drawing/2014/main" val="1532494780"/>
                    </a:ext>
                  </a:extLst>
                </a:gridCol>
                <a:gridCol w="704648">
                  <a:extLst>
                    <a:ext uri="{9D8B030D-6E8A-4147-A177-3AD203B41FA5}">
                      <a16:colId xmlns:a16="http://schemas.microsoft.com/office/drawing/2014/main" val="421161313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262805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717604838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168497801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70763310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441099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7058529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183082416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5323154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4256021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058612442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80618357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7539359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31~22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21~12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23694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保留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033111"/>
                  </a:ext>
                </a:extLst>
              </a:tr>
            </a:tbl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3425E2D8-AECC-4BD4-B01E-DBCF141E7698}"/>
              </a:ext>
            </a:extLst>
          </p:cNvPr>
          <p:cNvSpPr/>
          <p:nvPr/>
        </p:nvSpPr>
        <p:spPr>
          <a:xfrm>
            <a:off x="2792695" y="6181062"/>
            <a:ext cx="4368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0     0    1     0     1     0     0     0    0     1     1      0</a:t>
            </a:r>
          </a:p>
          <a:p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0    1     0     1     0     0     1    0     1     1      0</a:t>
            </a:r>
            <a:endParaRPr lang="zh-CN" altLang="en-US" sz="1400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D41ED5DF-C0B4-4B11-889A-225012F41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5542" y="6200741"/>
            <a:ext cx="839801" cy="47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0x286</a:t>
            </a:r>
          </a:p>
          <a:p>
            <a:pPr marL="0" marR="0" lvl="0" indent="0" algn="l" defTabSz="6858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0xa96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C997AB-367A-4BA2-9C3B-6DA0E23D1C86}"/>
              </a:ext>
            </a:extLst>
          </p:cNvPr>
          <p:cNvSpPr/>
          <p:nvPr/>
        </p:nvSpPr>
        <p:spPr>
          <a:xfrm>
            <a:off x="417881" y="1202617"/>
            <a:ext cx="13774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595D10-7C9A-4072-84BC-72C37C00CEDC}"/>
              </a:ext>
            </a:extLst>
          </p:cNvPr>
          <p:cNvSpPr/>
          <p:nvPr/>
        </p:nvSpPr>
        <p:spPr>
          <a:xfrm>
            <a:off x="336733" y="482145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19587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4832698-56E7-4DB5-8AF0-6679CA872048}"/>
              </a:ext>
            </a:extLst>
          </p:cNvPr>
          <p:cNvPicPr/>
          <p:nvPr/>
        </p:nvPicPr>
        <p:blipFill rotWithShape="1">
          <a:blip r:embed="rId2"/>
          <a:srcRect t="14785" r="2204" b="28203"/>
          <a:stretch/>
        </p:blipFill>
        <p:spPr bwMode="auto">
          <a:xfrm>
            <a:off x="1242151" y="1094101"/>
            <a:ext cx="6383292" cy="2751870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19CFC2-273D-458D-8112-B959A595DBBB}"/>
              </a:ext>
            </a:extLst>
          </p:cNvPr>
          <p:cNvCxnSpPr>
            <a:cxnSpLocks/>
          </p:cNvCxnSpPr>
          <p:nvPr/>
        </p:nvCxnSpPr>
        <p:spPr>
          <a:xfrm flipH="1">
            <a:off x="1681843" y="1469015"/>
            <a:ext cx="2959701" cy="142114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9501EBB-F057-4AD5-97E7-B47F2DF7C6AA}"/>
              </a:ext>
            </a:extLst>
          </p:cNvPr>
          <p:cNvCxnSpPr>
            <a:cxnSpLocks/>
          </p:cNvCxnSpPr>
          <p:nvPr/>
        </p:nvCxnSpPr>
        <p:spPr>
          <a:xfrm flipH="1">
            <a:off x="3935186" y="2653396"/>
            <a:ext cx="706358" cy="4548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0F142E-4D7E-4E89-9B14-359FBE9C9E4D}"/>
              </a:ext>
            </a:extLst>
          </p:cNvPr>
          <p:cNvCxnSpPr>
            <a:cxnSpLocks/>
          </p:cNvCxnSpPr>
          <p:nvPr/>
        </p:nvCxnSpPr>
        <p:spPr>
          <a:xfrm flipH="1">
            <a:off x="3161693" y="1697585"/>
            <a:ext cx="1479851" cy="11645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8148A61-DAEF-416B-8009-CA33FA029242}"/>
              </a:ext>
            </a:extLst>
          </p:cNvPr>
          <p:cNvCxnSpPr>
            <a:cxnSpLocks/>
          </p:cNvCxnSpPr>
          <p:nvPr/>
        </p:nvCxnSpPr>
        <p:spPr>
          <a:xfrm flipH="1">
            <a:off x="3290207" y="1962082"/>
            <a:ext cx="1351337" cy="10342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8F25C1D-1ED5-4C63-A100-E1C5EB3F48D2}"/>
              </a:ext>
            </a:extLst>
          </p:cNvPr>
          <p:cNvCxnSpPr>
            <a:cxnSpLocks/>
          </p:cNvCxnSpPr>
          <p:nvPr/>
        </p:nvCxnSpPr>
        <p:spPr>
          <a:xfrm flipH="1" flipV="1">
            <a:off x="4288365" y="3282133"/>
            <a:ext cx="353179" cy="442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B16B08-8F77-49F7-9C81-6526CE3C1F04}"/>
              </a:ext>
            </a:extLst>
          </p:cNvPr>
          <p:cNvCxnSpPr/>
          <p:nvPr/>
        </p:nvCxnSpPr>
        <p:spPr>
          <a:xfrm>
            <a:off x="3690257" y="3318251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EC4535-23C2-45C8-847E-D81818A97870}"/>
              </a:ext>
            </a:extLst>
          </p:cNvPr>
          <p:cNvCxnSpPr/>
          <p:nvPr/>
        </p:nvCxnSpPr>
        <p:spPr>
          <a:xfrm>
            <a:off x="5361214" y="2319486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EBF6860-7592-4075-BA7A-AC1FB6AA83FB}"/>
              </a:ext>
            </a:extLst>
          </p:cNvPr>
          <p:cNvCxnSpPr/>
          <p:nvPr/>
        </p:nvCxnSpPr>
        <p:spPr>
          <a:xfrm>
            <a:off x="5361214" y="2997122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25B857-E09E-464D-A20D-56BC6FC0B964}"/>
              </a:ext>
            </a:extLst>
          </p:cNvPr>
          <p:cNvCxnSpPr/>
          <p:nvPr/>
        </p:nvCxnSpPr>
        <p:spPr>
          <a:xfrm>
            <a:off x="5361214" y="2564415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2F26194-D3E1-4E96-A2D8-42748F0FB433}"/>
              </a:ext>
            </a:extLst>
          </p:cNvPr>
          <p:cNvCxnSpPr/>
          <p:nvPr/>
        </p:nvCxnSpPr>
        <p:spPr>
          <a:xfrm>
            <a:off x="5361214" y="3272073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4388EAF6-FF3C-4741-9E7D-5A731B8FB18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13" y="4288324"/>
            <a:ext cx="4496760" cy="196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F221828-EB9F-427B-B5D3-41D83B963C10}"/>
              </a:ext>
            </a:extLst>
          </p:cNvPr>
          <p:cNvSpPr/>
          <p:nvPr/>
        </p:nvSpPr>
        <p:spPr>
          <a:xfrm>
            <a:off x="5410073" y="4221251"/>
            <a:ext cx="3469820" cy="16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sub=0  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加法运算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3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0x0000 0064     a</a:t>
            </a:r>
          </a:p>
          <a:p>
            <a:pPr lvl="0">
              <a:lnSpc>
                <a:spcPct val="13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+ 0x7fff  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ffff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b</a:t>
            </a:r>
          </a:p>
          <a:p>
            <a:pPr lvl="0" indent="179388">
              <a:lnSpc>
                <a:spcPct val="13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0x8000 0063      c</a:t>
            </a:r>
          </a:p>
          <a:p>
            <a:pPr lvl="0">
              <a:lnSpc>
                <a:spcPct val="13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OF=1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SF=1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ZF=0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CF=0 </a:t>
            </a:r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B97D83-0CC4-447D-81EC-B3A0F3A2E65E}"/>
              </a:ext>
            </a:extLst>
          </p:cNvPr>
          <p:cNvCxnSpPr/>
          <p:nvPr/>
        </p:nvCxnSpPr>
        <p:spPr>
          <a:xfrm>
            <a:off x="6141896" y="5192486"/>
            <a:ext cx="2000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8083547-E97B-4B27-AD60-C94BF39E8753}"/>
              </a:ext>
            </a:extLst>
          </p:cNvPr>
          <p:cNvSpPr/>
          <p:nvPr/>
        </p:nvSpPr>
        <p:spPr>
          <a:xfrm>
            <a:off x="264107" y="490106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08980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4AD0B151-93FB-4C78-9812-DAFBFD01E893}"/>
              </a:ext>
            </a:extLst>
          </p:cNvPr>
          <p:cNvPicPr/>
          <p:nvPr/>
        </p:nvPicPr>
        <p:blipFill rotWithShape="1">
          <a:blip r:embed="rId2"/>
          <a:srcRect t="17681" r="1971" b="28663"/>
          <a:stretch/>
        </p:blipFill>
        <p:spPr bwMode="auto">
          <a:xfrm>
            <a:off x="1968695" y="1073730"/>
            <a:ext cx="6282436" cy="2894658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9501EBB-F057-4AD5-97E7-B47F2DF7C6AA}"/>
              </a:ext>
            </a:extLst>
          </p:cNvPr>
          <p:cNvCxnSpPr>
            <a:cxnSpLocks/>
          </p:cNvCxnSpPr>
          <p:nvPr/>
        </p:nvCxnSpPr>
        <p:spPr>
          <a:xfrm flipH="1">
            <a:off x="4020445" y="2521059"/>
            <a:ext cx="1322821" cy="11912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0F142E-4D7E-4E89-9B14-359FBE9C9E4D}"/>
              </a:ext>
            </a:extLst>
          </p:cNvPr>
          <p:cNvCxnSpPr>
            <a:cxnSpLocks/>
          </p:cNvCxnSpPr>
          <p:nvPr/>
        </p:nvCxnSpPr>
        <p:spPr>
          <a:xfrm flipH="1">
            <a:off x="3919387" y="1521624"/>
            <a:ext cx="1417223" cy="190737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8148A61-DAEF-416B-8009-CA33FA029242}"/>
              </a:ext>
            </a:extLst>
          </p:cNvPr>
          <p:cNvCxnSpPr>
            <a:cxnSpLocks/>
          </p:cNvCxnSpPr>
          <p:nvPr/>
        </p:nvCxnSpPr>
        <p:spPr>
          <a:xfrm flipH="1">
            <a:off x="4013789" y="1743026"/>
            <a:ext cx="1322821" cy="18262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8F25C1D-1ED5-4C63-A100-E1C5EB3F48D2}"/>
              </a:ext>
            </a:extLst>
          </p:cNvPr>
          <p:cNvCxnSpPr>
            <a:cxnSpLocks/>
          </p:cNvCxnSpPr>
          <p:nvPr/>
        </p:nvCxnSpPr>
        <p:spPr>
          <a:xfrm flipH="1">
            <a:off x="4922777" y="3329939"/>
            <a:ext cx="413833" cy="47864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B16B08-8F77-49F7-9C81-6526CE3C1F04}"/>
              </a:ext>
            </a:extLst>
          </p:cNvPr>
          <p:cNvCxnSpPr/>
          <p:nvPr/>
        </p:nvCxnSpPr>
        <p:spPr>
          <a:xfrm>
            <a:off x="4412275" y="3925080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EC4535-23C2-45C8-847E-D81818A97870}"/>
              </a:ext>
            </a:extLst>
          </p:cNvPr>
          <p:cNvCxnSpPr/>
          <p:nvPr/>
        </p:nvCxnSpPr>
        <p:spPr>
          <a:xfrm>
            <a:off x="5995879" y="2224581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EBF6860-7592-4075-BA7A-AC1FB6AA83FB}"/>
              </a:ext>
            </a:extLst>
          </p:cNvPr>
          <p:cNvCxnSpPr/>
          <p:nvPr/>
        </p:nvCxnSpPr>
        <p:spPr>
          <a:xfrm>
            <a:off x="5995879" y="3000189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25B857-E09E-464D-A20D-56BC6FC0B964}"/>
              </a:ext>
            </a:extLst>
          </p:cNvPr>
          <p:cNvCxnSpPr/>
          <p:nvPr/>
        </p:nvCxnSpPr>
        <p:spPr>
          <a:xfrm>
            <a:off x="5995879" y="2471336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2F26194-D3E1-4E96-A2D8-42748F0FB433}"/>
              </a:ext>
            </a:extLst>
          </p:cNvPr>
          <p:cNvCxnSpPr/>
          <p:nvPr/>
        </p:nvCxnSpPr>
        <p:spPr>
          <a:xfrm>
            <a:off x="5995879" y="3258811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4388EAF6-FF3C-4741-9E7D-5A731B8FB18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13" y="4092388"/>
            <a:ext cx="4496760" cy="196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F221828-EB9F-427B-B5D3-41D83B963C10}"/>
              </a:ext>
            </a:extLst>
          </p:cNvPr>
          <p:cNvSpPr/>
          <p:nvPr/>
        </p:nvSpPr>
        <p:spPr>
          <a:xfrm>
            <a:off x="5410073" y="4259488"/>
            <a:ext cx="3469820" cy="16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sub=0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加法运算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0x0000 0064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ua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+ 0x7fff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ffff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ub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179388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0x8000 0063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uc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OF=1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SF=1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ZF=0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CF=0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B97D83-0CC4-447D-81EC-B3A0F3A2E65E}"/>
              </a:ext>
            </a:extLst>
          </p:cNvPr>
          <p:cNvCxnSpPr/>
          <p:nvPr/>
        </p:nvCxnSpPr>
        <p:spPr>
          <a:xfrm>
            <a:off x="6097413" y="5230723"/>
            <a:ext cx="2000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E7964A8-0BCF-4C1B-AB5D-8A0E6420B981}"/>
              </a:ext>
            </a:extLst>
          </p:cNvPr>
          <p:cNvSpPr/>
          <p:nvPr/>
        </p:nvSpPr>
        <p:spPr>
          <a:xfrm>
            <a:off x="1110883" y="6024004"/>
            <a:ext cx="7502175" cy="664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uc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ua+ub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机器数相同，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ua+ub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的指令相同 →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的机器数相同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FC9989-7C40-4B8A-BB1F-8C302148290E}"/>
              </a:ext>
            </a:extLst>
          </p:cNvPr>
          <p:cNvSpPr/>
          <p:nvPr/>
        </p:nvSpPr>
        <p:spPr>
          <a:xfrm>
            <a:off x="320692" y="2384231"/>
            <a:ext cx="14674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架构中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，并不区分带符号整数和无符号整数的加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运算指令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39841B-6914-4E2D-BC08-76131511719D}"/>
              </a:ext>
            </a:extLst>
          </p:cNvPr>
          <p:cNvSpPr/>
          <p:nvPr/>
        </p:nvSpPr>
        <p:spPr>
          <a:xfrm>
            <a:off x="3088751" y="2759724"/>
            <a:ext cx="220923" cy="9753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6048DE-595E-4E10-9FF6-2A059B4FFA0E}"/>
              </a:ext>
            </a:extLst>
          </p:cNvPr>
          <p:cNvSpPr/>
          <p:nvPr/>
        </p:nvSpPr>
        <p:spPr>
          <a:xfrm>
            <a:off x="282344" y="1202617"/>
            <a:ext cx="15441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uc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ua+ub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93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90FA12F3-7130-4258-89E2-5D067D07E3C3}"/>
              </a:ext>
            </a:extLst>
          </p:cNvPr>
          <p:cNvPicPr/>
          <p:nvPr/>
        </p:nvPicPr>
        <p:blipFill rotWithShape="1">
          <a:blip r:embed="rId2"/>
          <a:srcRect t="40391" r="2064" b="10982"/>
          <a:stretch/>
        </p:blipFill>
        <p:spPr bwMode="auto">
          <a:xfrm>
            <a:off x="1795346" y="1131668"/>
            <a:ext cx="7036998" cy="2738283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E45284-863F-4864-BC7A-0EC993FA81A4}"/>
              </a:ext>
            </a:extLst>
          </p:cNvPr>
          <p:cNvSpPr/>
          <p:nvPr/>
        </p:nvSpPr>
        <p:spPr>
          <a:xfrm>
            <a:off x="1236533" y="4680074"/>
            <a:ext cx="5228611" cy="10214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sub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指令执行前、后查看：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eflags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寄存器的内容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R[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eax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]- M[R[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ebp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]-0x10] → R[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eax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eflags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内容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OF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SF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ZF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CF  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· · ·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19CFC2-273D-458D-8112-B959A595DBBB}"/>
              </a:ext>
            </a:extLst>
          </p:cNvPr>
          <p:cNvCxnSpPr>
            <a:cxnSpLocks/>
          </p:cNvCxnSpPr>
          <p:nvPr/>
        </p:nvCxnSpPr>
        <p:spPr>
          <a:xfrm flipH="1">
            <a:off x="2317626" y="1591678"/>
            <a:ext cx="3225700" cy="139859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9501EBB-F057-4AD5-97E7-B47F2DF7C6AA}"/>
              </a:ext>
            </a:extLst>
          </p:cNvPr>
          <p:cNvCxnSpPr>
            <a:cxnSpLocks/>
          </p:cNvCxnSpPr>
          <p:nvPr/>
        </p:nvCxnSpPr>
        <p:spPr>
          <a:xfrm flipH="1">
            <a:off x="4773110" y="3219293"/>
            <a:ext cx="757763" cy="4642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0F142E-4D7E-4E89-9B14-359FBE9C9E4D}"/>
              </a:ext>
            </a:extLst>
          </p:cNvPr>
          <p:cNvCxnSpPr>
            <a:cxnSpLocks/>
          </p:cNvCxnSpPr>
          <p:nvPr/>
        </p:nvCxnSpPr>
        <p:spPr>
          <a:xfrm flipH="1">
            <a:off x="4063474" y="1820248"/>
            <a:ext cx="1479851" cy="11645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8148A61-DAEF-416B-8009-CA33FA029242}"/>
              </a:ext>
            </a:extLst>
          </p:cNvPr>
          <p:cNvCxnSpPr>
            <a:cxnSpLocks/>
          </p:cNvCxnSpPr>
          <p:nvPr/>
        </p:nvCxnSpPr>
        <p:spPr>
          <a:xfrm flipH="1">
            <a:off x="4063473" y="2544363"/>
            <a:ext cx="1481353" cy="6107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">
            <a:extLst>
              <a:ext uri="{FF2B5EF4-FFF2-40B4-BE49-F238E27FC236}">
                <a16:creationId xmlns:a16="http://schemas.microsoft.com/office/drawing/2014/main" id="{A84403F4-7A8A-4414-9BE0-824CE4C68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533" y="3948747"/>
            <a:ext cx="2634796" cy="65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f328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-0x24(%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f304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C6DC0B1-1F90-4793-A629-F6A25C2D9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308" y="4289059"/>
            <a:ext cx="2634796" cy="312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0x8000 0065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B16B08-8F77-49F7-9C81-6526CE3C1F04}"/>
              </a:ext>
            </a:extLst>
          </p:cNvPr>
          <p:cNvCxnSpPr/>
          <p:nvPr/>
        </p:nvCxnSpPr>
        <p:spPr>
          <a:xfrm>
            <a:off x="4549597" y="3370020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EC4535-23C2-45C8-847E-D81818A97870}"/>
              </a:ext>
            </a:extLst>
          </p:cNvPr>
          <p:cNvCxnSpPr/>
          <p:nvPr/>
        </p:nvCxnSpPr>
        <p:spPr>
          <a:xfrm>
            <a:off x="6321987" y="2442149"/>
            <a:ext cx="32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EBF6860-7592-4075-BA7A-AC1FB6AA83FB}"/>
              </a:ext>
            </a:extLst>
          </p:cNvPr>
          <p:cNvCxnSpPr/>
          <p:nvPr/>
        </p:nvCxnSpPr>
        <p:spPr>
          <a:xfrm>
            <a:off x="6343171" y="2984748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25B857-E09E-464D-A20D-56BC6FC0B964}"/>
              </a:ext>
            </a:extLst>
          </p:cNvPr>
          <p:cNvCxnSpPr/>
          <p:nvPr/>
        </p:nvCxnSpPr>
        <p:spPr>
          <a:xfrm>
            <a:off x="6343171" y="3155137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2F26194-D3E1-4E96-A2D8-42748F0FB433}"/>
              </a:ext>
            </a:extLst>
          </p:cNvPr>
          <p:cNvCxnSpPr/>
          <p:nvPr/>
        </p:nvCxnSpPr>
        <p:spPr>
          <a:xfrm>
            <a:off x="6388297" y="3670039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1F906589-EC57-451E-8550-777BC6061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42396"/>
              </p:ext>
            </p:extLst>
          </p:nvPr>
        </p:nvGraphicFramePr>
        <p:xfrm>
          <a:off x="1334109" y="5725126"/>
          <a:ext cx="5792296" cy="475615"/>
        </p:xfrm>
        <a:graphic>
          <a:graphicData uri="http://schemas.openxmlformats.org/drawingml/2006/table">
            <a:tbl>
              <a:tblPr/>
              <a:tblGrid>
                <a:gridCol w="704648">
                  <a:extLst>
                    <a:ext uri="{9D8B030D-6E8A-4147-A177-3AD203B41FA5}">
                      <a16:colId xmlns:a16="http://schemas.microsoft.com/office/drawing/2014/main" val="1532494780"/>
                    </a:ext>
                  </a:extLst>
                </a:gridCol>
                <a:gridCol w="704648">
                  <a:extLst>
                    <a:ext uri="{9D8B030D-6E8A-4147-A177-3AD203B41FA5}">
                      <a16:colId xmlns:a16="http://schemas.microsoft.com/office/drawing/2014/main" val="421161313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262805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717604838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168497801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70763310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441099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7058529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183082416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5323154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4256021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058612442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80618357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7539359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31~22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21~12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23694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保留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033111"/>
                  </a:ext>
                </a:extLst>
              </a:tr>
            </a:tbl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3425E2D8-AECC-4BD4-B01E-DBCF141E7698}"/>
              </a:ext>
            </a:extLst>
          </p:cNvPr>
          <p:cNvSpPr/>
          <p:nvPr/>
        </p:nvSpPr>
        <p:spPr>
          <a:xfrm>
            <a:off x="2792695" y="6181062"/>
            <a:ext cx="43396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0    1     0     1     0     0     1    0     1     1      0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0    1     0     1     0     0     1    0     1     1      </a:t>
            </a: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D41ED5DF-C0B4-4B11-889A-225012F41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5542" y="6200741"/>
            <a:ext cx="839801" cy="47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0xa96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0x297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715BAA-A220-46CE-80FC-29A360DF9C23}"/>
              </a:ext>
            </a:extLst>
          </p:cNvPr>
          <p:cNvSpPr/>
          <p:nvPr/>
        </p:nvSpPr>
        <p:spPr>
          <a:xfrm>
            <a:off x="417881" y="1202617"/>
            <a:ext cx="13774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d=a-b;”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B03ADE-3D86-4085-9502-F9B93D320482}"/>
              </a:ext>
            </a:extLst>
          </p:cNvPr>
          <p:cNvSpPr/>
          <p:nvPr/>
        </p:nvSpPr>
        <p:spPr>
          <a:xfrm>
            <a:off x="336733" y="482145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2255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90FA12F3-7130-4258-89E2-5D067D07E3C3}"/>
              </a:ext>
            </a:extLst>
          </p:cNvPr>
          <p:cNvPicPr/>
          <p:nvPr/>
        </p:nvPicPr>
        <p:blipFill rotWithShape="1">
          <a:blip r:embed="rId2"/>
          <a:srcRect t="40391" r="2064" b="10982"/>
          <a:stretch/>
        </p:blipFill>
        <p:spPr bwMode="auto">
          <a:xfrm>
            <a:off x="1774512" y="1097026"/>
            <a:ext cx="7036998" cy="2738283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19CFC2-273D-458D-8112-B959A595DBBB}"/>
              </a:ext>
            </a:extLst>
          </p:cNvPr>
          <p:cNvCxnSpPr>
            <a:cxnSpLocks/>
          </p:cNvCxnSpPr>
          <p:nvPr/>
        </p:nvCxnSpPr>
        <p:spPr>
          <a:xfrm flipH="1">
            <a:off x="2296792" y="1557036"/>
            <a:ext cx="3225700" cy="139859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9501EBB-F057-4AD5-97E7-B47F2DF7C6AA}"/>
              </a:ext>
            </a:extLst>
          </p:cNvPr>
          <p:cNvCxnSpPr>
            <a:cxnSpLocks/>
          </p:cNvCxnSpPr>
          <p:nvPr/>
        </p:nvCxnSpPr>
        <p:spPr>
          <a:xfrm flipH="1">
            <a:off x="4042639" y="3184651"/>
            <a:ext cx="1467401" cy="6935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0F142E-4D7E-4E89-9B14-359FBE9C9E4D}"/>
              </a:ext>
            </a:extLst>
          </p:cNvPr>
          <p:cNvCxnSpPr>
            <a:cxnSpLocks/>
          </p:cNvCxnSpPr>
          <p:nvPr/>
        </p:nvCxnSpPr>
        <p:spPr>
          <a:xfrm flipH="1">
            <a:off x="4042640" y="1785606"/>
            <a:ext cx="1479851" cy="11645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8148A61-DAEF-416B-8009-CA33FA029242}"/>
              </a:ext>
            </a:extLst>
          </p:cNvPr>
          <p:cNvCxnSpPr>
            <a:cxnSpLocks/>
          </p:cNvCxnSpPr>
          <p:nvPr/>
        </p:nvCxnSpPr>
        <p:spPr>
          <a:xfrm flipH="1">
            <a:off x="4042639" y="2509721"/>
            <a:ext cx="1481353" cy="6107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B16B08-8F77-49F7-9C81-6526CE3C1F04}"/>
              </a:ext>
            </a:extLst>
          </p:cNvPr>
          <p:cNvCxnSpPr/>
          <p:nvPr/>
        </p:nvCxnSpPr>
        <p:spPr>
          <a:xfrm>
            <a:off x="4528763" y="3335378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EC4535-23C2-45C8-847E-D81818A97870}"/>
              </a:ext>
            </a:extLst>
          </p:cNvPr>
          <p:cNvCxnSpPr/>
          <p:nvPr/>
        </p:nvCxnSpPr>
        <p:spPr>
          <a:xfrm>
            <a:off x="6301153" y="2407507"/>
            <a:ext cx="32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EBF6860-7592-4075-BA7A-AC1FB6AA83FB}"/>
              </a:ext>
            </a:extLst>
          </p:cNvPr>
          <p:cNvCxnSpPr/>
          <p:nvPr/>
        </p:nvCxnSpPr>
        <p:spPr>
          <a:xfrm>
            <a:off x="6322337" y="2950106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25B857-E09E-464D-A20D-56BC6FC0B964}"/>
              </a:ext>
            </a:extLst>
          </p:cNvPr>
          <p:cNvCxnSpPr/>
          <p:nvPr/>
        </p:nvCxnSpPr>
        <p:spPr>
          <a:xfrm>
            <a:off x="6322337" y="3120495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2F26194-D3E1-4E96-A2D8-42748F0FB433}"/>
              </a:ext>
            </a:extLst>
          </p:cNvPr>
          <p:cNvCxnSpPr/>
          <p:nvPr/>
        </p:nvCxnSpPr>
        <p:spPr>
          <a:xfrm>
            <a:off x="6367463" y="363539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180DCA0-2E79-4E3A-A179-21AF719CB96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007" y="4140998"/>
            <a:ext cx="4002570" cy="187313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5A3E614-0EA3-409E-A80A-7167DCD14E0A}"/>
              </a:ext>
            </a:extLst>
          </p:cNvPr>
          <p:cNvSpPr/>
          <p:nvPr/>
        </p:nvSpPr>
        <p:spPr>
          <a:xfrm>
            <a:off x="5127427" y="4150299"/>
            <a:ext cx="3469820" cy="198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sub=1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减法运算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0x0000 0064    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+ 0x8000 0000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1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[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b]</a:t>
            </a:r>
            <a:r>
              <a:rPr lang="zh-CN" altLang="en-US" sz="1600" b="1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endParaRPr kumimoji="0" lang="en-US" altLang="zh-CN" sz="16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179388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0x8000 0065       d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OF=0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SF=1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ZF=0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CF=1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703EA68-BC9A-444D-9619-CC1813E88D15}"/>
              </a:ext>
            </a:extLst>
          </p:cNvPr>
          <p:cNvCxnSpPr/>
          <p:nvPr/>
        </p:nvCxnSpPr>
        <p:spPr>
          <a:xfrm>
            <a:off x="5756528" y="5476322"/>
            <a:ext cx="241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C2790C7-1BFE-42CD-832D-FE6C682C60A2}"/>
              </a:ext>
            </a:extLst>
          </p:cNvPr>
          <p:cNvSpPr/>
          <p:nvPr/>
        </p:nvSpPr>
        <p:spPr>
          <a:xfrm>
            <a:off x="336733" y="482145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29568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70A3823E-15FB-49EF-B6FF-088577F757BA}"/>
              </a:ext>
            </a:extLst>
          </p:cNvPr>
          <p:cNvPicPr/>
          <p:nvPr/>
        </p:nvPicPr>
        <p:blipFill rotWithShape="1">
          <a:blip r:embed="rId2"/>
          <a:srcRect t="44201" r="2244" b="11281"/>
          <a:stretch/>
        </p:blipFill>
        <p:spPr bwMode="auto">
          <a:xfrm>
            <a:off x="2133016" y="1099755"/>
            <a:ext cx="6672990" cy="2518148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0440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19CFC2-273D-458D-8112-B959A595DBBB}"/>
              </a:ext>
            </a:extLst>
          </p:cNvPr>
          <p:cNvCxnSpPr>
            <a:cxnSpLocks/>
          </p:cNvCxnSpPr>
          <p:nvPr/>
        </p:nvCxnSpPr>
        <p:spPr>
          <a:xfrm flipH="1">
            <a:off x="4135683" y="1538489"/>
            <a:ext cx="1585214" cy="16465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9501EBB-F057-4AD5-97E7-B47F2DF7C6AA}"/>
              </a:ext>
            </a:extLst>
          </p:cNvPr>
          <p:cNvCxnSpPr>
            <a:cxnSpLocks/>
          </p:cNvCxnSpPr>
          <p:nvPr/>
        </p:nvCxnSpPr>
        <p:spPr>
          <a:xfrm flipH="1">
            <a:off x="4239541" y="2876220"/>
            <a:ext cx="1488333" cy="6095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0F142E-4D7E-4E89-9B14-359FBE9C9E4D}"/>
              </a:ext>
            </a:extLst>
          </p:cNvPr>
          <p:cNvCxnSpPr>
            <a:cxnSpLocks/>
          </p:cNvCxnSpPr>
          <p:nvPr/>
        </p:nvCxnSpPr>
        <p:spPr>
          <a:xfrm flipH="1">
            <a:off x="4239542" y="2216656"/>
            <a:ext cx="1467402" cy="11169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B16B08-8F77-49F7-9C81-6526CE3C1F04}"/>
              </a:ext>
            </a:extLst>
          </p:cNvPr>
          <p:cNvCxnSpPr/>
          <p:nvPr/>
        </p:nvCxnSpPr>
        <p:spPr>
          <a:xfrm>
            <a:off x="4718508" y="3545493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EC4535-23C2-45C8-847E-D81818A97870}"/>
              </a:ext>
            </a:extLst>
          </p:cNvPr>
          <p:cNvCxnSpPr/>
          <p:nvPr/>
        </p:nvCxnSpPr>
        <p:spPr>
          <a:xfrm>
            <a:off x="6402367" y="2113194"/>
            <a:ext cx="32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EBF6860-7592-4075-BA7A-AC1FB6AA83FB}"/>
              </a:ext>
            </a:extLst>
          </p:cNvPr>
          <p:cNvCxnSpPr/>
          <p:nvPr/>
        </p:nvCxnSpPr>
        <p:spPr>
          <a:xfrm>
            <a:off x="6437766" y="2665626"/>
            <a:ext cx="54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25B857-E09E-464D-A20D-56BC6FC0B964}"/>
              </a:ext>
            </a:extLst>
          </p:cNvPr>
          <p:cNvCxnSpPr/>
          <p:nvPr/>
        </p:nvCxnSpPr>
        <p:spPr>
          <a:xfrm>
            <a:off x="6438367" y="2806518"/>
            <a:ext cx="2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2F26194-D3E1-4E96-A2D8-42748F0FB433}"/>
              </a:ext>
            </a:extLst>
          </p:cNvPr>
          <p:cNvCxnSpPr/>
          <p:nvPr/>
        </p:nvCxnSpPr>
        <p:spPr>
          <a:xfrm>
            <a:off x="6490509" y="3341353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C9F9725F-A103-4A21-A60A-AA2837C6A54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06" y="3852240"/>
            <a:ext cx="4145770" cy="186461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C25B9FE-0E4E-4CC5-B88D-AE53107481AE}"/>
              </a:ext>
            </a:extLst>
          </p:cNvPr>
          <p:cNvSpPr/>
          <p:nvPr/>
        </p:nvSpPr>
        <p:spPr>
          <a:xfrm>
            <a:off x="5115105" y="3800382"/>
            <a:ext cx="3469820" cy="198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sub=1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减法运算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0x0000 0064     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+ 0x8000 0000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1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[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b]</a:t>
            </a:r>
            <a:r>
              <a:rPr lang="zh-CN" altLang="en-US" sz="1600" b="1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endParaRPr kumimoji="0" lang="en-US" altLang="zh-CN" sz="16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179388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0x8000 0065 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OF=0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SF=1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ZF=0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CF=1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5E9B96A-2E5A-4C99-81CA-B5E4C4A715D8}"/>
              </a:ext>
            </a:extLst>
          </p:cNvPr>
          <p:cNvCxnSpPr/>
          <p:nvPr/>
        </p:nvCxnSpPr>
        <p:spPr>
          <a:xfrm>
            <a:off x="5744206" y="5126405"/>
            <a:ext cx="241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6505F9F0-6390-4275-A3CA-61BA28E62F8B}"/>
              </a:ext>
            </a:extLst>
          </p:cNvPr>
          <p:cNvSpPr/>
          <p:nvPr/>
        </p:nvSpPr>
        <p:spPr>
          <a:xfrm>
            <a:off x="1082750" y="5839651"/>
            <a:ext cx="7502175" cy="664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d=a-b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ua-ub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机器数相同，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ua-ub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的指令相同 →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的机器数相同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B10F7C-0749-4E51-9F7E-79EBC62974EA}"/>
              </a:ext>
            </a:extLst>
          </p:cNvPr>
          <p:cNvSpPr/>
          <p:nvPr/>
        </p:nvSpPr>
        <p:spPr>
          <a:xfrm>
            <a:off x="304117" y="2216656"/>
            <a:ext cx="15611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架构中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，并不区分带符号整数和无符号整数的减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运算指令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24D87EF-C54A-4459-8633-64E28A446D57}"/>
              </a:ext>
            </a:extLst>
          </p:cNvPr>
          <p:cNvSpPr/>
          <p:nvPr/>
        </p:nvSpPr>
        <p:spPr>
          <a:xfrm>
            <a:off x="351098" y="1192126"/>
            <a:ext cx="15611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语句“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ua-ub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959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整数的加减运算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145E3A-F16D-4D42-A7E9-38810BC9CEED}"/>
              </a:ext>
            </a:extLst>
          </p:cNvPr>
          <p:cNvSpPr/>
          <p:nvPr/>
        </p:nvSpPr>
        <p:spPr>
          <a:xfrm>
            <a:off x="1265463" y="2070001"/>
            <a:ext cx="507002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 )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   int        a=100,  b=2147483647, c, d;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unsigned int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=100,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=2147483647,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c=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ua+ub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d=a-b;   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ua-ub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("c=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=%d+%d=%d\n", a, b, c);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ua+ub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=%u+%u=%u\n",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 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("d=a-b=%d-%d=%d\n", a, b, d);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ua-ub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=%u-%u=%u\n",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ua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2667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zh-CN" altLang="zh-CN" sz="1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47ECE0-1BDC-4439-81A8-73E3521A183F}"/>
              </a:ext>
            </a:extLst>
          </p:cNvPr>
          <p:cNvSpPr/>
          <p:nvPr/>
        </p:nvSpPr>
        <p:spPr>
          <a:xfrm>
            <a:off x="1514031" y="1060451"/>
            <a:ext cx="6725401" cy="791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整数的加、减运算：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数据（机器数、真值）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标志位：逻辑表达式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57D57E-F9A1-4271-A811-87B2C9EB7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827961"/>
              </p:ext>
            </p:extLst>
          </p:nvPr>
        </p:nvGraphicFramePr>
        <p:xfrm>
          <a:off x="723123" y="4793882"/>
          <a:ext cx="7181396" cy="1260000"/>
        </p:xfrm>
        <a:graphic>
          <a:graphicData uri="http://schemas.openxmlformats.org/drawingml/2006/table">
            <a:tbl>
              <a:tblPr firstRow="1" firstCol="1" bandRow="1"/>
              <a:tblGrid>
                <a:gridCol w="531724">
                  <a:extLst>
                    <a:ext uri="{9D8B030D-6E8A-4147-A177-3AD203B41FA5}">
                      <a16:colId xmlns:a16="http://schemas.microsoft.com/office/drawing/2014/main" val="3266239278"/>
                    </a:ext>
                  </a:extLst>
                </a:gridCol>
                <a:gridCol w="1347019">
                  <a:extLst>
                    <a:ext uri="{9D8B030D-6E8A-4147-A177-3AD203B41FA5}">
                      <a16:colId xmlns:a16="http://schemas.microsoft.com/office/drawing/2014/main" val="2778953257"/>
                    </a:ext>
                  </a:extLst>
                </a:gridCol>
                <a:gridCol w="1454302">
                  <a:extLst>
                    <a:ext uri="{9D8B030D-6E8A-4147-A177-3AD203B41FA5}">
                      <a16:colId xmlns:a16="http://schemas.microsoft.com/office/drawing/2014/main" val="2113542291"/>
                    </a:ext>
                  </a:extLst>
                </a:gridCol>
                <a:gridCol w="940859">
                  <a:extLst>
                    <a:ext uri="{9D8B030D-6E8A-4147-A177-3AD203B41FA5}">
                      <a16:colId xmlns:a16="http://schemas.microsoft.com/office/drawing/2014/main" val="175903161"/>
                    </a:ext>
                  </a:extLst>
                </a:gridCol>
                <a:gridCol w="1387563">
                  <a:extLst>
                    <a:ext uri="{9D8B030D-6E8A-4147-A177-3AD203B41FA5}">
                      <a16:colId xmlns:a16="http://schemas.microsoft.com/office/drawing/2014/main" val="1540726216"/>
                    </a:ext>
                  </a:extLst>
                </a:gridCol>
                <a:gridCol w="1519929">
                  <a:extLst>
                    <a:ext uri="{9D8B030D-6E8A-4147-A177-3AD203B41FA5}">
                      <a16:colId xmlns:a16="http://schemas.microsoft.com/office/drawing/2014/main" val="31431833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机器数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输出值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0316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0</a:t>
                      </a: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x0000 0064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100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ua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0x0000 0064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04285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0x7fff </a:t>
                      </a:r>
                      <a:r>
                        <a:rPr lang="en-US" sz="14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ffff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2147483647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ub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0x7fff </a:t>
                      </a:r>
                      <a:r>
                        <a:rPr lang="en-US" altLang="zh-CN" sz="14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ffff</a:t>
                      </a: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2147483647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9423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0x8000 0063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-2147483549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uc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0x8000 0063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2147483747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9303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0x8000 0065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-2147483547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ud</a:t>
                      </a:r>
                      <a:endParaRPr lang="zh-CN" sz="14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0x8000 0065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2147483749</a:t>
                      </a:r>
                      <a:r>
                        <a:rPr lang="en-US" sz="14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70323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753ACBE-E209-466E-B975-1B9E16F6428C}"/>
              </a:ext>
            </a:extLst>
          </p:cNvPr>
          <p:cNvSpPr/>
          <p:nvPr/>
        </p:nvSpPr>
        <p:spPr>
          <a:xfrm>
            <a:off x="983063" y="6199075"/>
            <a:ext cx="692145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程序中的数据；电路中的数据；运算得到的数据正确吗？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标志位的应用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5537E1-F5D2-4E50-82D4-7553A6897637}"/>
              </a:ext>
            </a:extLst>
          </p:cNvPr>
          <p:cNvPicPr/>
          <p:nvPr/>
        </p:nvPicPr>
        <p:blipFill rotWithShape="1">
          <a:blip r:embed="rId2"/>
          <a:srcRect t="2453" r="434"/>
          <a:stretch/>
        </p:blipFill>
        <p:spPr bwMode="auto">
          <a:xfrm>
            <a:off x="723123" y="458433"/>
            <a:ext cx="7181397" cy="4220075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629968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整数加减运算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4298449-3752-4B35-A852-5088905CF753}"/>
              </a:ext>
            </a:extLst>
          </p:cNvPr>
          <p:cNvPicPr/>
          <p:nvPr/>
        </p:nvPicPr>
        <p:blipFill rotWithShape="1">
          <a:blip r:embed="rId2"/>
          <a:srcRect t="2453" r="434"/>
          <a:stretch/>
        </p:blipFill>
        <p:spPr bwMode="auto">
          <a:xfrm>
            <a:off x="1512741" y="1105165"/>
            <a:ext cx="7181397" cy="4220075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90D6737-2B08-42C6-84CB-94B2BB648F49}"/>
              </a:ext>
            </a:extLst>
          </p:cNvPr>
          <p:cNvCxnSpPr/>
          <p:nvPr/>
        </p:nvCxnSpPr>
        <p:spPr>
          <a:xfrm>
            <a:off x="3630519" y="3569140"/>
            <a:ext cx="8817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DF53EAF-D735-47BA-A380-B60B2F6A2149}"/>
              </a:ext>
            </a:extLst>
          </p:cNvPr>
          <p:cNvCxnSpPr/>
          <p:nvPr/>
        </p:nvCxnSpPr>
        <p:spPr>
          <a:xfrm>
            <a:off x="3630519" y="3999126"/>
            <a:ext cx="8817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3D7F6C3-CB36-407E-9B92-C6D49EB7D6F7}"/>
              </a:ext>
            </a:extLst>
          </p:cNvPr>
          <p:cNvCxnSpPr/>
          <p:nvPr/>
        </p:nvCxnSpPr>
        <p:spPr>
          <a:xfrm>
            <a:off x="3630518" y="4415505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9166DF7-11F6-446C-9FF2-7F44060D02D9}"/>
              </a:ext>
            </a:extLst>
          </p:cNvPr>
          <p:cNvCxnSpPr/>
          <p:nvPr/>
        </p:nvCxnSpPr>
        <p:spPr>
          <a:xfrm>
            <a:off x="3630518" y="4731191"/>
            <a:ext cx="12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4A5C425-1859-4875-9A58-849532B207D8}"/>
              </a:ext>
            </a:extLst>
          </p:cNvPr>
          <p:cNvCxnSpPr/>
          <p:nvPr/>
        </p:nvCxnSpPr>
        <p:spPr>
          <a:xfrm>
            <a:off x="6289355" y="2300954"/>
            <a:ext cx="68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263A07C-7F00-4D51-AB36-F377D593B9CB}"/>
              </a:ext>
            </a:extLst>
          </p:cNvPr>
          <p:cNvCxnSpPr/>
          <p:nvPr/>
        </p:nvCxnSpPr>
        <p:spPr>
          <a:xfrm>
            <a:off x="6507070" y="2632968"/>
            <a:ext cx="57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278B66A-1BB6-49BC-A96E-0D11DCC55E11}"/>
              </a:ext>
            </a:extLst>
          </p:cNvPr>
          <p:cNvSpPr/>
          <p:nvPr/>
        </p:nvSpPr>
        <p:spPr>
          <a:xfrm>
            <a:off x="849084" y="5464628"/>
            <a:ext cx="7537832" cy="1231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带符号整数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位判断加减运算后的结果是否</a:t>
            </a:r>
            <a:r>
              <a:rPr lang="zh-CN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溢出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，当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OF=1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时结果溢出；</a:t>
            </a:r>
            <a:endParaRPr lang="en-US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</a:t>
            </a:r>
            <a:r>
              <a:rPr lang="zh-CN" altLang="zh-CN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运算用</a:t>
            </a:r>
            <a:r>
              <a:rPr lang="en-US" altLang="zh-CN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SF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减数和被减数</a:t>
            </a:r>
            <a:r>
              <a:rPr lang="zh-CN" altLang="zh-CN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关系，两者同号时为“大于”关系。</a:t>
            </a:r>
            <a:endParaRPr lang="en-US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71563" indent="-1071563" algn="just">
              <a:lnSpc>
                <a:spcPts val="1800"/>
              </a:lnSpc>
              <a:spcAft>
                <a:spcPts val="0"/>
              </a:spcAft>
            </a:pP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无符号整数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位判断加减运算后的结果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是否</a:t>
            </a:r>
            <a:r>
              <a:rPr lang="zh-CN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溢出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zh-CN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71563" algn="just">
              <a:lnSpc>
                <a:spcPts val="1800"/>
              </a:lnSpc>
              <a:spcAft>
                <a:spcPts val="0"/>
              </a:spcAft>
            </a:pP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加运算且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CF=1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溢出；</a:t>
            </a:r>
            <a:endParaRPr lang="en-US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71563" algn="just">
              <a:lnSpc>
                <a:spcPts val="1800"/>
              </a:lnSpc>
              <a:spcAft>
                <a:spcPts val="0"/>
              </a:spcAft>
            </a:pP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减运算且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CF=1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时表示“小于”关系，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结果不正确</a:t>
            </a: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31B8ED-0FBD-4F85-97F4-BAC9A02F1096}"/>
              </a:ext>
            </a:extLst>
          </p:cNvPr>
          <p:cNvSpPr/>
          <p:nvPr/>
        </p:nvSpPr>
        <p:spPr>
          <a:xfrm>
            <a:off x="5803289" y="4415505"/>
            <a:ext cx="3007555" cy="3853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OF=0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SF=1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ZF=0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CF=1 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86BAF9-B1F3-4916-8FE7-D099577842B2}"/>
              </a:ext>
            </a:extLst>
          </p:cNvPr>
          <p:cNvSpPr/>
          <p:nvPr/>
        </p:nvSpPr>
        <p:spPr>
          <a:xfrm>
            <a:off x="5803288" y="3613764"/>
            <a:ext cx="3007555" cy="3853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OF=1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SF=1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ZF=0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CF=0 </a:t>
            </a:r>
            <a:endParaRPr lang="zh-CN" altLang="en-US" dirty="0">
              <a:solidFill>
                <a:prstClr val="black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463E76-5326-4C3F-A91E-3F6F4A31A634}"/>
              </a:ext>
            </a:extLst>
          </p:cNvPr>
          <p:cNvCxnSpPr>
            <a:cxnSpLocks/>
          </p:cNvCxnSpPr>
          <p:nvPr/>
        </p:nvCxnSpPr>
        <p:spPr>
          <a:xfrm flipV="1">
            <a:off x="6064920" y="2246697"/>
            <a:ext cx="251487" cy="1427883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731E265-BBBF-4644-8659-0111A18635DC}"/>
              </a:ext>
            </a:extLst>
          </p:cNvPr>
          <p:cNvCxnSpPr>
            <a:cxnSpLocks/>
          </p:cNvCxnSpPr>
          <p:nvPr/>
        </p:nvCxnSpPr>
        <p:spPr>
          <a:xfrm flipH="1" flipV="1">
            <a:off x="6969883" y="2357451"/>
            <a:ext cx="1404214" cy="1323669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D46B0CF-F767-4C35-9A6F-71245F5E5E0B}"/>
              </a:ext>
            </a:extLst>
          </p:cNvPr>
          <p:cNvCxnSpPr>
            <a:cxnSpLocks/>
          </p:cNvCxnSpPr>
          <p:nvPr/>
        </p:nvCxnSpPr>
        <p:spPr>
          <a:xfrm flipV="1">
            <a:off x="6198627" y="2501173"/>
            <a:ext cx="235560" cy="1981688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BFF1296-7124-4032-8437-41D81E7F912A}"/>
              </a:ext>
            </a:extLst>
          </p:cNvPr>
          <p:cNvCxnSpPr>
            <a:cxnSpLocks/>
          </p:cNvCxnSpPr>
          <p:nvPr/>
        </p:nvCxnSpPr>
        <p:spPr>
          <a:xfrm flipH="1" flipV="1">
            <a:off x="6829525" y="2632968"/>
            <a:ext cx="1544573" cy="1849892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695DFEB3-8405-49DF-9D9B-76DF0F4515B5}"/>
              </a:ext>
            </a:extLst>
          </p:cNvPr>
          <p:cNvSpPr/>
          <p:nvPr/>
        </p:nvSpPr>
        <p:spPr>
          <a:xfrm>
            <a:off x="7336495" y="2224588"/>
            <a:ext cx="2440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√</a:t>
            </a:r>
            <a:endParaRPr lang="zh-CN" altLang="en-US" sz="14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ED82C0-DE61-45E6-B3BD-BBCC831A2276}"/>
              </a:ext>
            </a:extLst>
          </p:cNvPr>
          <p:cNvSpPr/>
          <p:nvPr/>
        </p:nvSpPr>
        <p:spPr>
          <a:xfrm>
            <a:off x="7113713" y="2092808"/>
            <a:ext cx="2391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F15E89-53AB-4A3D-B763-D3372E6C3F38}"/>
              </a:ext>
            </a:extLst>
          </p:cNvPr>
          <p:cNvSpPr/>
          <p:nvPr/>
        </p:nvSpPr>
        <p:spPr>
          <a:xfrm>
            <a:off x="7097330" y="2418739"/>
            <a:ext cx="2391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D5CC44-AEC7-482F-9EB0-8D6577D1FB0E}"/>
              </a:ext>
            </a:extLst>
          </p:cNvPr>
          <p:cNvSpPr/>
          <p:nvPr/>
        </p:nvSpPr>
        <p:spPr>
          <a:xfrm>
            <a:off x="7341399" y="2357451"/>
            <a:ext cx="2985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√</a:t>
            </a:r>
            <a:endParaRPr lang="zh-CN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539766-7485-4712-9ADF-7599F54EFA4D}"/>
              </a:ext>
            </a:extLst>
          </p:cNvPr>
          <p:cNvSpPr/>
          <p:nvPr/>
        </p:nvSpPr>
        <p:spPr>
          <a:xfrm>
            <a:off x="287507" y="1261811"/>
            <a:ext cx="12252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判断加减运算结果是否正确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55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9" grpId="0"/>
      <p:bldP spid="30" grpId="0"/>
      <p:bldP spid="31" grpId="0"/>
      <p:bldP spid="3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运算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F2C0DE-D8EF-4CF5-97AC-39B03E05CD39}"/>
              </a:ext>
            </a:extLst>
          </p:cNvPr>
          <p:cNvSpPr/>
          <p:nvPr/>
        </p:nvSpPr>
        <p:spPr>
          <a:xfrm>
            <a:off x="1514031" y="1984813"/>
            <a:ext cx="72465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#include "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void main()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 int x1=3, y1=4, z1, z2, z3;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short x=-30000, y=4, z;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unsigned short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ux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=30000,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uy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=4,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uz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z1=x1*y1;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z2=x1*3;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z3=x1*4;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z=x*y;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uz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ux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uy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("z1=%d, z2=%d, z3=%d, z=%d,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uz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=%u\n", z1, z2, z3, z, </a:t>
            </a:r>
            <a:r>
              <a:rPr lang="en-US" altLang="zh-CN" sz="1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uz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614227-8DC3-4D3D-B0D3-CCC1E41ACEBC}"/>
              </a:ext>
            </a:extLst>
          </p:cNvPr>
          <p:cNvSpPr/>
          <p:nvPr/>
        </p:nvSpPr>
        <p:spPr>
          <a:xfrm>
            <a:off x="1514031" y="1060451"/>
            <a:ext cx="6725401" cy="791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整数的乘法运算：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数据（机器数、真值）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溢出判断：硬件、编译器、程序员</a:t>
            </a:r>
            <a:endParaRPr lang="zh-CN" altLang="en-US" sz="16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4D7A712-C3EC-4AA0-9932-5FDB4C555850}"/>
              </a:ext>
            </a:extLst>
          </p:cNvPr>
          <p:cNvPicPr/>
          <p:nvPr/>
        </p:nvPicPr>
        <p:blipFill rotWithShape="1">
          <a:blip r:embed="rId2"/>
          <a:srcRect t="2693" r="685" b="64043"/>
          <a:stretch/>
        </p:blipFill>
        <p:spPr bwMode="auto">
          <a:xfrm>
            <a:off x="1514031" y="4752936"/>
            <a:ext cx="6585754" cy="1893669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1B92437-81EE-4C89-9B80-BA2EBE0C38F7}"/>
              </a:ext>
            </a:extLst>
          </p:cNvPr>
          <p:cNvCxnSpPr/>
          <p:nvPr/>
        </p:nvCxnSpPr>
        <p:spPr>
          <a:xfrm>
            <a:off x="5357223" y="5838455"/>
            <a:ext cx="3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A9991EF-837C-4509-8873-93D82DFBB32D}"/>
              </a:ext>
            </a:extLst>
          </p:cNvPr>
          <p:cNvCxnSpPr/>
          <p:nvPr/>
        </p:nvCxnSpPr>
        <p:spPr>
          <a:xfrm>
            <a:off x="5794103" y="5838455"/>
            <a:ext cx="3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6009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运算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63D6509-188D-4AB2-92B2-CF0379911FD2}"/>
              </a:ext>
            </a:extLst>
          </p:cNvPr>
          <p:cNvPicPr/>
          <p:nvPr/>
        </p:nvPicPr>
        <p:blipFill rotWithShape="1">
          <a:blip r:embed="rId2"/>
          <a:srcRect t="2424" r="861"/>
          <a:stretch/>
        </p:blipFill>
        <p:spPr bwMode="auto">
          <a:xfrm>
            <a:off x="983064" y="1119822"/>
            <a:ext cx="6858000" cy="4285281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4E519E4-3EED-48C4-8D74-D7E8B7EB4A62}"/>
              </a:ext>
            </a:extLst>
          </p:cNvPr>
          <p:cNvCxnSpPr/>
          <p:nvPr/>
        </p:nvCxnSpPr>
        <p:spPr>
          <a:xfrm>
            <a:off x="3000102" y="2881895"/>
            <a:ext cx="11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23DB8A3-AA30-45CE-8411-F192107510A6}"/>
              </a:ext>
            </a:extLst>
          </p:cNvPr>
          <p:cNvCxnSpPr/>
          <p:nvPr/>
        </p:nvCxnSpPr>
        <p:spPr>
          <a:xfrm>
            <a:off x="3000102" y="3958855"/>
            <a:ext cx="86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91721ED-CC40-4961-9B08-30895A4EED88}"/>
              </a:ext>
            </a:extLst>
          </p:cNvPr>
          <p:cNvCxnSpPr/>
          <p:nvPr/>
        </p:nvCxnSpPr>
        <p:spPr>
          <a:xfrm>
            <a:off x="3000102" y="4477015"/>
            <a:ext cx="86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56DD292-09A2-4D8B-9F95-96302E872DDD}"/>
              </a:ext>
            </a:extLst>
          </p:cNvPr>
          <p:cNvCxnSpPr/>
          <p:nvPr/>
        </p:nvCxnSpPr>
        <p:spPr>
          <a:xfrm>
            <a:off x="3000102" y="4903735"/>
            <a:ext cx="1188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334206A2-2095-45A5-B6DC-EF4C9DCECB8B}"/>
              </a:ext>
            </a:extLst>
          </p:cNvPr>
          <p:cNvSpPr/>
          <p:nvPr/>
        </p:nvSpPr>
        <p:spPr>
          <a:xfrm>
            <a:off x="3000102" y="3329940"/>
            <a:ext cx="864000" cy="2021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6FED0A-8674-4058-B03F-53240801B940}"/>
              </a:ext>
            </a:extLst>
          </p:cNvPr>
          <p:cNvSpPr/>
          <p:nvPr/>
        </p:nvSpPr>
        <p:spPr>
          <a:xfrm>
            <a:off x="891118" y="5553920"/>
            <a:ext cx="27029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imul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：带符号整数乘法指令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无符号整数乘法指令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ED01EF-335A-4C07-879E-2E854EBE0529}"/>
              </a:ext>
            </a:extLst>
          </p:cNvPr>
          <p:cNvSpPr/>
          <p:nvPr/>
        </p:nvSpPr>
        <p:spPr>
          <a:xfrm>
            <a:off x="3779204" y="5672918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带符号整数乘运算电路与无符号整数乘运算电路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5C4841-61B0-485C-9AC7-EBBFD745BA26}"/>
              </a:ext>
            </a:extLst>
          </p:cNvPr>
          <p:cNvSpPr/>
          <p:nvPr/>
        </p:nvSpPr>
        <p:spPr>
          <a:xfrm>
            <a:off x="1146102" y="615441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使用不同的指令实现乘法运算；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无符号整数乘法运算为什么用带符号整数乘法指令？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92666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FE1BAD2-4B08-4EE8-A927-364CBA8272D9}"/>
              </a:ext>
            </a:extLst>
          </p:cNvPr>
          <p:cNvPicPr/>
          <p:nvPr/>
        </p:nvPicPr>
        <p:blipFill rotWithShape="1">
          <a:blip r:embed="rId2"/>
          <a:srcRect l="-1" t="12928" r="181" b="33611"/>
          <a:stretch/>
        </p:blipFill>
        <p:spPr bwMode="auto">
          <a:xfrm>
            <a:off x="983064" y="1549030"/>
            <a:ext cx="7321641" cy="2825809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4E519E4-3EED-48C4-8D74-D7E8B7EB4A62}"/>
              </a:ext>
            </a:extLst>
          </p:cNvPr>
          <p:cNvCxnSpPr/>
          <p:nvPr/>
        </p:nvCxnSpPr>
        <p:spPr>
          <a:xfrm>
            <a:off x="3750216" y="3429550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C0CBA9-39FA-42C9-BED7-3E52168BE743}"/>
              </a:ext>
            </a:extLst>
          </p:cNvPr>
          <p:cNvCxnSpPr/>
          <p:nvPr/>
        </p:nvCxnSpPr>
        <p:spPr>
          <a:xfrm>
            <a:off x="3732216" y="3551470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5596D0-1CFB-4178-8DF7-CE5A71D1C8FB}"/>
              </a:ext>
            </a:extLst>
          </p:cNvPr>
          <p:cNvCxnSpPr/>
          <p:nvPr/>
        </p:nvCxnSpPr>
        <p:spPr>
          <a:xfrm>
            <a:off x="3915096" y="3803935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D3A5B8-CFCE-4629-8A54-436FDC8B9B80}"/>
              </a:ext>
            </a:extLst>
          </p:cNvPr>
          <p:cNvCxnSpPr/>
          <p:nvPr/>
        </p:nvCxnSpPr>
        <p:spPr>
          <a:xfrm>
            <a:off x="3750216" y="3927390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AE7926E-C0DB-4386-B9F9-0ED0B6701B44}"/>
              </a:ext>
            </a:extLst>
          </p:cNvPr>
          <p:cNvCxnSpPr/>
          <p:nvPr/>
        </p:nvCxnSpPr>
        <p:spPr>
          <a:xfrm>
            <a:off x="3915096" y="4181390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663D366-5F0A-426F-9DA8-8918DBEC1B37}"/>
              </a:ext>
            </a:extLst>
          </p:cNvPr>
          <p:cNvCxnSpPr/>
          <p:nvPr/>
        </p:nvCxnSpPr>
        <p:spPr>
          <a:xfrm>
            <a:off x="3732216" y="4340405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908B0FE-D325-4799-8FFC-8B004A93693E}"/>
              </a:ext>
            </a:extLst>
          </p:cNvPr>
          <p:cNvCxnSpPr/>
          <p:nvPr/>
        </p:nvCxnSpPr>
        <p:spPr>
          <a:xfrm>
            <a:off x="4928776" y="2911390"/>
            <a:ext cx="72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D686CC9-EA38-4115-9BFB-AE514616534A}"/>
              </a:ext>
            </a:extLst>
          </p:cNvPr>
          <p:cNvCxnSpPr/>
          <p:nvPr/>
        </p:nvCxnSpPr>
        <p:spPr>
          <a:xfrm>
            <a:off x="5782216" y="2911390"/>
            <a:ext cx="72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D503EF2-DC99-4BEA-B7D8-3FE74A57C76A}"/>
              </a:ext>
            </a:extLst>
          </p:cNvPr>
          <p:cNvCxnSpPr/>
          <p:nvPr/>
        </p:nvCxnSpPr>
        <p:spPr>
          <a:xfrm>
            <a:off x="6605176" y="2911390"/>
            <a:ext cx="72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E9E0CC0-C6CE-4165-B630-24C4033A4E7D}"/>
              </a:ext>
            </a:extLst>
          </p:cNvPr>
          <p:cNvCxnSpPr/>
          <p:nvPr/>
        </p:nvCxnSpPr>
        <p:spPr>
          <a:xfrm>
            <a:off x="7468776" y="2911390"/>
            <a:ext cx="72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9DE3E2A-C762-4449-8A8D-F1347CA8259F}"/>
              </a:ext>
            </a:extLst>
          </p:cNvPr>
          <p:cNvCxnSpPr/>
          <p:nvPr/>
        </p:nvCxnSpPr>
        <p:spPr>
          <a:xfrm>
            <a:off x="6605176" y="3043470"/>
            <a:ext cx="158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74CA150-F240-4BEA-BE9A-5693859DEB93}"/>
              </a:ext>
            </a:extLst>
          </p:cNvPr>
          <p:cNvCxnSpPr/>
          <p:nvPr/>
        </p:nvCxnSpPr>
        <p:spPr>
          <a:xfrm>
            <a:off x="4918216" y="3043470"/>
            <a:ext cx="158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4B8B556-CB40-44F7-8951-CFB412298B8F}"/>
              </a:ext>
            </a:extLst>
          </p:cNvPr>
          <p:cNvCxnSpPr>
            <a:cxnSpLocks/>
          </p:cNvCxnSpPr>
          <p:nvPr/>
        </p:nvCxnSpPr>
        <p:spPr>
          <a:xfrm flipH="1">
            <a:off x="2131052" y="1950856"/>
            <a:ext cx="1914004" cy="160855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6F2D49F-CDC2-48AC-94AC-201150E6EFB1}"/>
              </a:ext>
            </a:extLst>
          </p:cNvPr>
          <p:cNvCxnSpPr>
            <a:cxnSpLocks/>
          </p:cNvCxnSpPr>
          <p:nvPr/>
        </p:nvCxnSpPr>
        <p:spPr>
          <a:xfrm flipH="1">
            <a:off x="2231099" y="2204855"/>
            <a:ext cx="1865437" cy="170542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extLst>
              <a:ext uri="{FF2B5EF4-FFF2-40B4-BE49-F238E27FC236}">
                <a16:creationId xmlns:a16="http://schemas.microsoft.com/office/drawing/2014/main" id="{1867FDFE-5F3F-40CB-9022-351BC4852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300" y="4374839"/>
            <a:ext cx="2634796" cy="2432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f338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-0x18(%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f320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-0x16(%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f322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-0x14(%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f324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-0x12(%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f326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-0x10(%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f328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-0xc(%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f32c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102E98D7-B19F-4E13-8E34-9856E4C48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096" y="4684706"/>
            <a:ext cx="2634796" cy="212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uy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0x0004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ux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0x7530</a:t>
            </a: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y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0x0004</a:t>
            </a: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x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0x8ad0</a:t>
            </a: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y1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0x0000 0004</a:t>
            </a: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0x0000 0003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FF9F4E-E0F9-4563-8C03-3A451BD8ABD8}"/>
              </a:ext>
            </a:extLst>
          </p:cNvPr>
          <p:cNvSpPr/>
          <p:nvPr/>
        </p:nvSpPr>
        <p:spPr>
          <a:xfrm>
            <a:off x="983064" y="1115113"/>
            <a:ext cx="43348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查看变量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ux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uy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86508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21CC17E1-69ED-46A3-94CE-875987649F41}"/>
              </a:ext>
            </a:extLst>
          </p:cNvPr>
          <p:cNvPicPr/>
          <p:nvPr/>
        </p:nvPicPr>
        <p:blipFill rotWithShape="1">
          <a:blip r:embed="rId2"/>
          <a:srcRect t="21554" r="2339" b="41014"/>
          <a:stretch/>
        </p:blipFill>
        <p:spPr bwMode="auto">
          <a:xfrm>
            <a:off x="564648" y="2585250"/>
            <a:ext cx="7701875" cy="2491104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C0CBA9-39FA-42C9-BED7-3E52168BE743}"/>
              </a:ext>
            </a:extLst>
          </p:cNvPr>
          <p:cNvCxnSpPr/>
          <p:nvPr/>
        </p:nvCxnSpPr>
        <p:spPr>
          <a:xfrm>
            <a:off x="5485995" y="4630990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5596D0-1CFB-4178-8DF7-CE5A71D1C8FB}"/>
              </a:ext>
            </a:extLst>
          </p:cNvPr>
          <p:cNvCxnSpPr/>
          <p:nvPr/>
        </p:nvCxnSpPr>
        <p:spPr>
          <a:xfrm>
            <a:off x="6402371" y="4630990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D3A5B8-CFCE-4629-8A54-436FDC8B9B80}"/>
              </a:ext>
            </a:extLst>
          </p:cNvPr>
          <p:cNvCxnSpPr/>
          <p:nvPr/>
        </p:nvCxnSpPr>
        <p:spPr>
          <a:xfrm>
            <a:off x="3567652" y="334437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AE7926E-C0DB-4386-B9F9-0ED0B6701B44}"/>
              </a:ext>
            </a:extLst>
          </p:cNvPr>
          <p:cNvCxnSpPr/>
          <p:nvPr/>
        </p:nvCxnSpPr>
        <p:spPr>
          <a:xfrm>
            <a:off x="3545879" y="495076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663D366-5F0A-426F-9DA8-8918DBEC1B37}"/>
              </a:ext>
            </a:extLst>
          </p:cNvPr>
          <p:cNvCxnSpPr/>
          <p:nvPr/>
        </p:nvCxnSpPr>
        <p:spPr>
          <a:xfrm>
            <a:off x="3567652" y="4304423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908B0FE-D325-4799-8FFC-8B004A93693E}"/>
              </a:ext>
            </a:extLst>
          </p:cNvPr>
          <p:cNvCxnSpPr/>
          <p:nvPr/>
        </p:nvCxnSpPr>
        <p:spPr>
          <a:xfrm>
            <a:off x="7331365" y="4630990"/>
            <a:ext cx="72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4B8B556-CB40-44F7-8951-CFB412298B8F}"/>
              </a:ext>
            </a:extLst>
          </p:cNvPr>
          <p:cNvCxnSpPr>
            <a:cxnSpLocks/>
          </p:cNvCxnSpPr>
          <p:nvPr/>
        </p:nvCxnSpPr>
        <p:spPr>
          <a:xfrm flipH="1" flipV="1">
            <a:off x="1155543" y="2950050"/>
            <a:ext cx="3422166" cy="1839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6F2D49F-CDC2-48AC-94AC-201150E6EFB1}"/>
              </a:ext>
            </a:extLst>
          </p:cNvPr>
          <p:cNvCxnSpPr>
            <a:cxnSpLocks/>
          </p:cNvCxnSpPr>
          <p:nvPr/>
        </p:nvCxnSpPr>
        <p:spPr>
          <a:xfrm flipH="1" flipV="1">
            <a:off x="4257470" y="3251777"/>
            <a:ext cx="295957" cy="23456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extLst>
              <a:ext uri="{FF2B5EF4-FFF2-40B4-BE49-F238E27FC236}">
                <a16:creationId xmlns:a16="http://schemas.microsoft.com/office/drawing/2014/main" id="{1867FDFE-5F3F-40CB-9022-351BC4852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149" y="1110302"/>
            <a:ext cx="2634796" cy="129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f338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-0x24(%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f314</a:t>
            </a: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-0x20(%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f318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-0x1c(%</a:t>
            </a:r>
            <a:r>
              <a:rPr lang="en-US" altLang="zh-CN" sz="15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)=0xbfff f31c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102E98D7-B19F-4E13-8E34-9856E4C48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1727" y="1421496"/>
            <a:ext cx="2634796" cy="9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z3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0x0000 000c</a:t>
            </a:r>
            <a:endParaRPr lang="en-US" altLang="zh-CN" sz="15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z2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0x0000 0009</a:t>
            </a:r>
          </a:p>
          <a:p>
            <a:pPr lvl="0" algn="l" defTabSz="685800">
              <a:lnSpc>
                <a:spcPct val="150000"/>
              </a:lnSpc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z1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0x0000 000c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FA0F75-6483-4770-A2E3-815F73410555}"/>
              </a:ext>
            </a:extLst>
          </p:cNvPr>
          <p:cNvSpPr/>
          <p:nvPr/>
        </p:nvSpPr>
        <p:spPr>
          <a:xfrm>
            <a:off x="2766451" y="3486342"/>
            <a:ext cx="1466256" cy="8568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24884A-16FF-4091-B9A6-FF93FEEE9053}"/>
              </a:ext>
            </a:extLst>
          </p:cNvPr>
          <p:cNvSpPr/>
          <p:nvPr/>
        </p:nvSpPr>
        <p:spPr>
          <a:xfrm>
            <a:off x="2766451" y="2825772"/>
            <a:ext cx="1466256" cy="5597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BE44ABD-00A1-42A7-860D-03BA123E4605}"/>
              </a:ext>
            </a:extLst>
          </p:cNvPr>
          <p:cNvCxnSpPr>
            <a:cxnSpLocks/>
          </p:cNvCxnSpPr>
          <p:nvPr/>
        </p:nvCxnSpPr>
        <p:spPr>
          <a:xfrm flipH="1" flipV="1">
            <a:off x="4257470" y="3676760"/>
            <a:ext cx="345483" cy="1376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13C6429C-DA85-4CE4-A22D-CA9914695E8D}"/>
              </a:ext>
            </a:extLst>
          </p:cNvPr>
          <p:cNvSpPr/>
          <p:nvPr/>
        </p:nvSpPr>
        <p:spPr>
          <a:xfrm>
            <a:off x="2759459" y="4436277"/>
            <a:ext cx="1466256" cy="5597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0AA9B30-942D-4387-BA8E-283403DF2DF7}"/>
              </a:ext>
            </a:extLst>
          </p:cNvPr>
          <p:cNvCxnSpPr>
            <a:cxnSpLocks/>
          </p:cNvCxnSpPr>
          <p:nvPr/>
        </p:nvCxnSpPr>
        <p:spPr>
          <a:xfrm flipH="1">
            <a:off x="4257470" y="4126270"/>
            <a:ext cx="320239" cy="31000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013DEE1-34DB-45DC-9105-F78457A3B10F}"/>
              </a:ext>
            </a:extLst>
          </p:cNvPr>
          <p:cNvCxnSpPr/>
          <p:nvPr/>
        </p:nvCxnSpPr>
        <p:spPr>
          <a:xfrm>
            <a:off x="2848896" y="3153554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DE52517-382C-45C7-B895-9AFE2CEF5E33}"/>
              </a:ext>
            </a:extLst>
          </p:cNvPr>
          <p:cNvCxnSpPr/>
          <p:nvPr/>
        </p:nvCxnSpPr>
        <p:spPr>
          <a:xfrm>
            <a:off x="2848896" y="3965711"/>
            <a:ext cx="97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19BE997-442B-4E4A-9CEC-F903178339F3}"/>
              </a:ext>
            </a:extLst>
          </p:cNvPr>
          <p:cNvCxnSpPr/>
          <p:nvPr/>
        </p:nvCxnSpPr>
        <p:spPr>
          <a:xfrm>
            <a:off x="2848896" y="4778832"/>
            <a:ext cx="93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EB6CF9E-70DB-43CC-BD00-0358267201C0}"/>
              </a:ext>
            </a:extLst>
          </p:cNvPr>
          <p:cNvSpPr/>
          <p:nvPr/>
        </p:nvSpPr>
        <p:spPr>
          <a:xfrm>
            <a:off x="453475" y="5241956"/>
            <a:ext cx="8110694" cy="1563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编译器：两个变量的乘运算用乘法指令实现；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变量与常量的乘运算用加法指令、减法指令、移位指令实现。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原因：  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乘法器的实现电路比加减运算器和移位电路更复杂，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整数乘运算的执行时间比整数加减运算和移位运算的执行时间更长。</a:t>
            </a:r>
            <a:endParaRPr lang="zh-CN" altLang="en-US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59668FF-5E98-4C7E-B622-0F2DE8A59EF4}"/>
              </a:ext>
            </a:extLst>
          </p:cNvPr>
          <p:cNvCxnSpPr/>
          <p:nvPr/>
        </p:nvCxnSpPr>
        <p:spPr>
          <a:xfrm>
            <a:off x="2830896" y="4126270"/>
            <a:ext cx="97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F82191F-D3F8-490C-A2DA-FD23D310ECF8}"/>
              </a:ext>
            </a:extLst>
          </p:cNvPr>
          <p:cNvSpPr/>
          <p:nvPr/>
        </p:nvSpPr>
        <p:spPr>
          <a:xfrm>
            <a:off x="886860" y="1142170"/>
            <a:ext cx="16444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“z1=x1*y1;”</a:t>
            </a: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“z2=x1*3;”</a:t>
            </a: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“z3=x1*4;”</a:t>
            </a: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87493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384E86D2-513A-4645-9D58-347EB892BBD2}"/>
              </a:ext>
            </a:extLst>
          </p:cNvPr>
          <p:cNvPicPr/>
          <p:nvPr/>
        </p:nvPicPr>
        <p:blipFill rotWithShape="1">
          <a:blip r:embed="rId2"/>
          <a:srcRect t="25749" r="3525" b="19049"/>
          <a:stretch/>
        </p:blipFill>
        <p:spPr bwMode="auto">
          <a:xfrm>
            <a:off x="868101" y="1911780"/>
            <a:ext cx="6972963" cy="3143234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C0CBA9-39FA-42C9-BED7-3E52168BE743}"/>
              </a:ext>
            </a:extLst>
          </p:cNvPr>
          <p:cNvCxnSpPr>
            <a:cxnSpLocks/>
          </p:cNvCxnSpPr>
          <p:nvPr/>
        </p:nvCxnSpPr>
        <p:spPr>
          <a:xfrm>
            <a:off x="5225542" y="4019153"/>
            <a:ext cx="40681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D3A5B8-CFCE-4629-8A54-436FDC8B9B80}"/>
              </a:ext>
            </a:extLst>
          </p:cNvPr>
          <p:cNvCxnSpPr/>
          <p:nvPr/>
        </p:nvCxnSpPr>
        <p:spPr>
          <a:xfrm>
            <a:off x="5280058" y="4878689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AE7926E-C0DB-4386-B9F9-0ED0B6701B44}"/>
              </a:ext>
            </a:extLst>
          </p:cNvPr>
          <p:cNvCxnSpPr>
            <a:cxnSpLocks/>
          </p:cNvCxnSpPr>
          <p:nvPr/>
        </p:nvCxnSpPr>
        <p:spPr>
          <a:xfrm>
            <a:off x="5225542" y="3353874"/>
            <a:ext cx="30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908B0FE-D325-4799-8FFC-8B004A93693E}"/>
              </a:ext>
            </a:extLst>
          </p:cNvPr>
          <p:cNvCxnSpPr>
            <a:cxnSpLocks/>
          </p:cNvCxnSpPr>
          <p:nvPr/>
        </p:nvCxnSpPr>
        <p:spPr>
          <a:xfrm>
            <a:off x="5225542" y="4320095"/>
            <a:ext cx="40681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4B8B556-CB40-44F7-8951-CFB412298B8F}"/>
              </a:ext>
            </a:extLst>
          </p:cNvPr>
          <p:cNvCxnSpPr>
            <a:cxnSpLocks/>
          </p:cNvCxnSpPr>
          <p:nvPr/>
        </p:nvCxnSpPr>
        <p:spPr>
          <a:xfrm flipH="1">
            <a:off x="1349725" y="2334946"/>
            <a:ext cx="3050412" cy="152957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6F2D49F-CDC2-48AC-94AC-201150E6EFB1}"/>
              </a:ext>
            </a:extLst>
          </p:cNvPr>
          <p:cNvCxnSpPr>
            <a:cxnSpLocks/>
          </p:cNvCxnSpPr>
          <p:nvPr/>
        </p:nvCxnSpPr>
        <p:spPr>
          <a:xfrm flipH="1">
            <a:off x="3313784" y="2866721"/>
            <a:ext cx="1086354" cy="111289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extLst>
              <a:ext uri="{FF2B5EF4-FFF2-40B4-BE49-F238E27FC236}">
                <a16:creationId xmlns:a16="http://schemas.microsoft.com/office/drawing/2014/main" id="{1867FDFE-5F3F-40CB-9022-351BC4852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684" y="1083945"/>
            <a:ext cx="2634796" cy="74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f338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-0x26(%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f312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102E98D7-B19F-4E13-8E34-9856E4C48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262" y="1020436"/>
            <a:ext cx="2634796" cy="80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0x8ad0</a:t>
            </a:r>
          </a:p>
          <a:p>
            <a:pPr marL="0" marR="0" lvl="0" indent="0" algn="l" defTabSz="6858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0x0004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marR="0" lvl="0" indent="0" algn="l" defTabSz="6858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z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0x2</a:t>
            </a:r>
            <a:r>
              <a:rPr lang="en-US" altLang="zh-CN" sz="15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b40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BE44ABD-00A1-42A7-860D-03BA123E4605}"/>
              </a:ext>
            </a:extLst>
          </p:cNvPr>
          <p:cNvCxnSpPr>
            <a:cxnSpLocks/>
          </p:cNvCxnSpPr>
          <p:nvPr/>
        </p:nvCxnSpPr>
        <p:spPr>
          <a:xfrm flipH="1">
            <a:off x="3163370" y="2635636"/>
            <a:ext cx="1236768" cy="11831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0AA9B30-942D-4387-BA8E-283403DF2DF7}"/>
              </a:ext>
            </a:extLst>
          </p:cNvPr>
          <p:cNvCxnSpPr>
            <a:cxnSpLocks/>
          </p:cNvCxnSpPr>
          <p:nvPr/>
        </p:nvCxnSpPr>
        <p:spPr>
          <a:xfrm flipH="1">
            <a:off x="3908144" y="3611871"/>
            <a:ext cx="491993" cy="5254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013DEE1-34DB-45DC-9105-F78457A3B10F}"/>
              </a:ext>
            </a:extLst>
          </p:cNvPr>
          <p:cNvCxnSpPr>
            <a:cxnSpLocks/>
          </p:cNvCxnSpPr>
          <p:nvPr/>
        </p:nvCxnSpPr>
        <p:spPr>
          <a:xfrm>
            <a:off x="5225542" y="3514433"/>
            <a:ext cx="30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19BE997-442B-4E4A-9CEC-F903178339F3}"/>
              </a:ext>
            </a:extLst>
          </p:cNvPr>
          <p:cNvCxnSpPr/>
          <p:nvPr/>
        </p:nvCxnSpPr>
        <p:spPr>
          <a:xfrm>
            <a:off x="2943018" y="4227762"/>
            <a:ext cx="93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B3D28B4-CC30-46B1-81F8-80E50F5BF313}"/>
              </a:ext>
            </a:extLst>
          </p:cNvPr>
          <p:cNvCxnSpPr>
            <a:cxnSpLocks/>
          </p:cNvCxnSpPr>
          <p:nvPr/>
        </p:nvCxnSpPr>
        <p:spPr>
          <a:xfrm>
            <a:off x="5225542" y="4191618"/>
            <a:ext cx="40681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C88E9195-8454-49DD-924E-05B206D73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856390"/>
              </p:ext>
            </p:extLst>
          </p:nvPr>
        </p:nvGraphicFramePr>
        <p:xfrm>
          <a:off x="1340186" y="5952775"/>
          <a:ext cx="5792296" cy="475615"/>
        </p:xfrm>
        <a:graphic>
          <a:graphicData uri="http://schemas.openxmlformats.org/drawingml/2006/table">
            <a:tbl>
              <a:tblPr/>
              <a:tblGrid>
                <a:gridCol w="704648">
                  <a:extLst>
                    <a:ext uri="{9D8B030D-6E8A-4147-A177-3AD203B41FA5}">
                      <a16:colId xmlns:a16="http://schemas.microsoft.com/office/drawing/2014/main" val="1532494780"/>
                    </a:ext>
                  </a:extLst>
                </a:gridCol>
                <a:gridCol w="704648">
                  <a:extLst>
                    <a:ext uri="{9D8B030D-6E8A-4147-A177-3AD203B41FA5}">
                      <a16:colId xmlns:a16="http://schemas.microsoft.com/office/drawing/2014/main" val="421161313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262805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717604838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168497801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70763310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441099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7058529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183082416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5323154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4256021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058612442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80618357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7539359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31~22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21~12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23694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保留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033111"/>
                  </a:ext>
                </a:extLst>
              </a:tr>
            </a:tbl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C49B37EC-ECB2-4A7B-B4F2-D2AAC983D52F}"/>
              </a:ext>
            </a:extLst>
          </p:cNvPr>
          <p:cNvSpPr/>
          <p:nvPr/>
        </p:nvSpPr>
        <p:spPr>
          <a:xfrm>
            <a:off x="2798772" y="6408711"/>
            <a:ext cx="4339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0    1     0     0     0     0     0    0     0     1      </a:t>
            </a: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28E67AC-FE94-410D-9AAD-61572C605A0C}"/>
              </a:ext>
            </a:extLst>
          </p:cNvPr>
          <p:cNvCxnSpPr>
            <a:cxnSpLocks/>
          </p:cNvCxnSpPr>
          <p:nvPr/>
        </p:nvCxnSpPr>
        <p:spPr>
          <a:xfrm flipH="1" flipV="1">
            <a:off x="4127649" y="4320095"/>
            <a:ext cx="295639" cy="463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96D7BB1-D883-418D-AC54-B599E9D011E3}"/>
              </a:ext>
            </a:extLst>
          </p:cNvPr>
          <p:cNvSpPr/>
          <p:nvPr/>
        </p:nvSpPr>
        <p:spPr>
          <a:xfrm>
            <a:off x="493422" y="5057788"/>
            <a:ext cx="8441735" cy="7875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movzwl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R[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eax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]=0x0000 8ad0    0x0000 8ad0* 0x0000 0004 →0x0002 2b40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movswl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R[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eax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]=0xffff 8ad0          0xffff 8ad0* 0x0000 0004 →0xfffe 2b40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8669149-F31A-4118-A335-A117A0CA45C5}"/>
              </a:ext>
            </a:extLst>
          </p:cNvPr>
          <p:cNvCxnSpPr/>
          <p:nvPr/>
        </p:nvCxnSpPr>
        <p:spPr>
          <a:xfrm>
            <a:off x="8160935" y="5453477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6562C3BC-EB1D-44E8-9E60-173E1E55FD7A}"/>
              </a:ext>
            </a:extLst>
          </p:cNvPr>
          <p:cNvCxnSpPr/>
          <p:nvPr/>
        </p:nvCxnSpPr>
        <p:spPr>
          <a:xfrm>
            <a:off x="8090603" y="5808051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8180AE81-5E2A-49C7-ADCF-129BAAD1F84F}"/>
              </a:ext>
            </a:extLst>
          </p:cNvPr>
          <p:cNvSpPr/>
          <p:nvPr/>
        </p:nvSpPr>
        <p:spPr>
          <a:xfrm>
            <a:off x="7293301" y="64109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没有溢出</a:t>
            </a:r>
            <a:endParaRPr lang="zh-CN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E8EE398-BEE3-406B-8264-3F5B8AA71729}"/>
              </a:ext>
            </a:extLst>
          </p:cNvPr>
          <p:cNvSpPr/>
          <p:nvPr/>
        </p:nvSpPr>
        <p:spPr>
          <a:xfrm>
            <a:off x="6669176" y="1494099"/>
            <a:ext cx="22659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有溢出，结果不正确</a:t>
            </a:r>
            <a:endParaRPr lang="zh-CN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BFA5CA-966E-496D-BBB3-DF6D051E83E6}"/>
              </a:ext>
            </a:extLst>
          </p:cNvPr>
          <p:cNvSpPr/>
          <p:nvPr/>
        </p:nvSpPr>
        <p:spPr>
          <a:xfrm>
            <a:off x="6544949" y="1991055"/>
            <a:ext cx="2498651" cy="3003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乘积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只取低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位，乘数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位（即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寄存器中高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位内容）不会影响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的结果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乘积有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位，如果结果只取乘积的低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位，则可能发生溢出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FCF9DD-1FF4-4AFA-A3E0-91DCC7E18C9A}"/>
              </a:ext>
            </a:extLst>
          </p:cNvPr>
          <p:cNvSpPr/>
          <p:nvPr/>
        </p:nvSpPr>
        <p:spPr>
          <a:xfrm>
            <a:off x="966493" y="1073241"/>
            <a:ext cx="1241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“z=x*y;”</a:t>
            </a: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04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A7E3E1B5-4265-4CE3-A195-B308881DAE25}"/>
              </a:ext>
            </a:extLst>
          </p:cNvPr>
          <p:cNvPicPr/>
          <p:nvPr/>
        </p:nvPicPr>
        <p:blipFill rotWithShape="1">
          <a:blip r:embed="rId2"/>
          <a:srcRect t="37129" r="3340" b="19474"/>
          <a:stretch/>
        </p:blipFill>
        <p:spPr bwMode="auto">
          <a:xfrm>
            <a:off x="818497" y="2162392"/>
            <a:ext cx="7209436" cy="2970809"/>
          </a:xfrm>
          <a:prstGeom prst="rect">
            <a:avLst/>
          </a:prstGeom>
          <a:ln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C0CBA9-39FA-42C9-BED7-3E52168BE743}"/>
              </a:ext>
            </a:extLst>
          </p:cNvPr>
          <p:cNvCxnSpPr>
            <a:cxnSpLocks/>
          </p:cNvCxnSpPr>
          <p:nvPr/>
        </p:nvCxnSpPr>
        <p:spPr>
          <a:xfrm>
            <a:off x="5332818" y="4084288"/>
            <a:ext cx="40681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D3A5B8-CFCE-4629-8A54-436FDC8B9B80}"/>
              </a:ext>
            </a:extLst>
          </p:cNvPr>
          <p:cNvCxnSpPr/>
          <p:nvPr/>
        </p:nvCxnSpPr>
        <p:spPr>
          <a:xfrm>
            <a:off x="5399894" y="5124578"/>
            <a:ext cx="61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AE7926E-C0DB-4386-B9F9-0ED0B6701B44}"/>
              </a:ext>
            </a:extLst>
          </p:cNvPr>
          <p:cNvCxnSpPr>
            <a:cxnSpLocks/>
          </p:cNvCxnSpPr>
          <p:nvPr/>
        </p:nvCxnSpPr>
        <p:spPr>
          <a:xfrm>
            <a:off x="5332818" y="3238256"/>
            <a:ext cx="30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4B8B556-CB40-44F7-8951-CFB412298B8F}"/>
              </a:ext>
            </a:extLst>
          </p:cNvPr>
          <p:cNvCxnSpPr>
            <a:cxnSpLocks/>
          </p:cNvCxnSpPr>
          <p:nvPr/>
        </p:nvCxnSpPr>
        <p:spPr>
          <a:xfrm flipH="1">
            <a:off x="3062854" y="2675145"/>
            <a:ext cx="1480271" cy="182317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extLst>
              <a:ext uri="{FF2B5EF4-FFF2-40B4-BE49-F238E27FC236}">
                <a16:creationId xmlns:a16="http://schemas.microsoft.com/office/drawing/2014/main" id="{1867FDFE-5F3F-40CB-9022-351BC4852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955" y="1244789"/>
            <a:ext cx="2634796" cy="74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R[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]=0xbfff f338</a:t>
            </a:r>
          </a:p>
          <a:p>
            <a:pPr marL="0" marR="0" lvl="0" indent="0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-0x28(%</a:t>
            </a: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ebp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)=0xbfff f310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102E98D7-B19F-4E13-8E34-9856E4C48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642" y="1186005"/>
            <a:ext cx="2634796" cy="80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ux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0x7530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uy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0x0004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uz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0xd4c0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BE44ABD-00A1-42A7-860D-03BA123E4605}"/>
              </a:ext>
            </a:extLst>
          </p:cNvPr>
          <p:cNvCxnSpPr>
            <a:cxnSpLocks/>
          </p:cNvCxnSpPr>
          <p:nvPr/>
        </p:nvCxnSpPr>
        <p:spPr>
          <a:xfrm flipH="1">
            <a:off x="3172591" y="3315147"/>
            <a:ext cx="1347709" cy="140373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0AA9B30-942D-4387-BA8E-283403DF2DF7}"/>
              </a:ext>
            </a:extLst>
          </p:cNvPr>
          <p:cNvCxnSpPr>
            <a:cxnSpLocks/>
          </p:cNvCxnSpPr>
          <p:nvPr/>
        </p:nvCxnSpPr>
        <p:spPr>
          <a:xfrm flipH="1">
            <a:off x="4247485" y="4175447"/>
            <a:ext cx="293682" cy="72146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013DEE1-34DB-45DC-9105-F78457A3B10F}"/>
              </a:ext>
            </a:extLst>
          </p:cNvPr>
          <p:cNvCxnSpPr>
            <a:cxnSpLocks/>
          </p:cNvCxnSpPr>
          <p:nvPr/>
        </p:nvCxnSpPr>
        <p:spPr>
          <a:xfrm>
            <a:off x="5345378" y="3909178"/>
            <a:ext cx="30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19BE997-442B-4E4A-9CEC-F903178339F3}"/>
              </a:ext>
            </a:extLst>
          </p:cNvPr>
          <p:cNvCxnSpPr/>
          <p:nvPr/>
        </p:nvCxnSpPr>
        <p:spPr>
          <a:xfrm>
            <a:off x="5284194" y="4896916"/>
            <a:ext cx="936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C88E9195-8454-49DD-924E-05B206D73DFA}"/>
              </a:ext>
            </a:extLst>
          </p:cNvPr>
          <p:cNvGraphicFramePr>
            <a:graphicFrameLocks noGrp="1"/>
          </p:cNvGraphicFramePr>
          <p:nvPr/>
        </p:nvGraphicFramePr>
        <p:xfrm>
          <a:off x="1340186" y="5952775"/>
          <a:ext cx="5792296" cy="475615"/>
        </p:xfrm>
        <a:graphic>
          <a:graphicData uri="http://schemas.openxmlformats.org/drawingml/2006/table">
            <a:tbl>
              <a:tblPr/>
              <a:tblGrid>
                <a:gridCol w="704648">
                  <a:extLst>
                    <a:ext uri="{9D8B030D-6E8A-4147-A177-3AD203B41FA5}">
                      <a16:colId xmlns:a16="http://schemas.microsoft.com/office/drawing/2014/main" val="1532494780"/>
                    </a:ext>
                  </a:extLst>
                </a:gridCol>
                <a:gridCol w="704648">
                  <a:extLst>
                    <a:ext uri="{9D8B030D-6E8A-4147-A177-3AD203B41FA5}">
                      <a16:colId xmlns:a16="http://schemas.microsoft.com/office/drawing/2014/main" val="421161313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262805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717604838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168497801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70763310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441099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470585295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1183082416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53231543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2425602113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4058612442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806183579"/>
                    </a:ext>
                  </a:extLst>
                </a:gridCol>
                <a:gridCol w="365250">
                  <a:extLst>
                    <a:ext uri="{9D8B030D-6E8A-4147-A177-3AD203B41FA5}">
                      <a16:colId xmlns:a16="http://schemas.microsoft.com/office/drawing/2014/main" val="37539359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31~22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21~12</a:t>
                      </a:r>
                      <a:endParaRPr 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23694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保留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2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033111"/>
                  </a:ext>
                </a:extLst>
              </a:tr>
            </a:tbl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C49B37EC-ECB2-4A7B-B4F2-D2AAC983D52F}"/>
              </a:ext>
            </a:extLst>
          </p:cNvPr>
          <p:cNvSpPr/>
          <p:nvPr/>
        </p:nvSpPr>
        <p:spPr>
          <a:xfrm>
            <a:off x="2798772" y="6408711"/>
            <a:ext cx="4339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0    1     0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0     0     0    0     1     1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6D7BB1-D883-418D-AC54-B599E9D011E3}"/>
              </a:ext>
            </a:extLst>
          </p:cNvPr>
          <p:cNvSpPr/>
          <p:nvPr/>
        </p:nvSpPr>
        <p:spPr>
          <a:xfrm>
            <a:off x="466549" y="5322416"/>
            <a:ext cx="8210902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imul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-0x18(%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 %ax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带符号整数乘运算指令，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R[ax]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M[R[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]-0x18]×R[ax]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80AE81-5E2A-49C7-ADCF-129BAAD1F84F}"/>
              </a:ext>
            </a:extLst>
          </p:cNvPr>
          <p:cNvSpPr/>
          <p:nvPr/>
        </p:nvSpPr>
        <p:spPr>
          <a:xfrm>
            <a:off x="7293301" y="641090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有溢出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E8EE398-BEE3-406B-8264-3F5B8AA71729}"/>
              </a:ext>
            </a:extLst>
          </p:cNvPr>
          <p:cNvSpPr/>
          <p:nvPr/>
        </p:nvSpPr>
        <p:spPr>
          <a:xfrm>
            <a:off x="6482556" y="1615029"/>
            <a:ext cx="2343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有溢出，结果不正确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BFA5CA-966E-496D-BBB3-DF6D051E83E6}"/>
              </a:ext>
            </a:extLst>
          </p:cNvPr>
          <p:cNvSpPr/>
          <p:nvPr/>
        </p:nvSpPr>
        <p:spPr>
          <a:xfrm>
            <a:off x="6508213" y="2282392"/>
            <a:ext cx="2498651" cy="26341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乘积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只取低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带符号整数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乘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和无符号整数乘的结果一样，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不会影响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的结果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乘积有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位，如果结果只取乘积的低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位，则可能发生溢出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4B6F3B-5F1A-4EB0-8C21-254E168B2EFB}"/>
              </a:ext>
            </a:extLst>
          </p:cNvPr>
          <p:cNvSpPr/>
          <p:nvPr/>
        </p:nvSpPr>
        <p:spPr>
          <a:xfrm>
            <a:off x="749196" y="1136374"/>
            <a:ext cx="15388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uz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ux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uy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</a:p>
          <a:p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06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B5111F-0AC1-44FF-B65A-9C806F8E740B}"/>
              </a:ext>
            </a:extLst>
          </p:cNvPr>
          <p:cNvSpPr/>
          <p:nvPr/>
        </p:nvSpPr>
        <p:spPr>
          <a:xfrm>
            <a:off x="1143001" y="1649017"/>
            <a:ext cx="6560344" cy="3285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28700" lvl="2" indent="-342900" defTabSz="6858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乘法：  两个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位的机器数，得到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位的乘积</a:t>
            </a:r>
            <a:endParaRPr lang="en-US" altLang="zh-CN" sz="15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5255B5-E2CD-48DE-9D79-6F53C075ECC3}"/>
              </a:ext>
            </a:extLst>
          </p:cNvPr>
          <p:cNvSpPr txBox="1"/>
          <p:nvPr/>
        </p:nvSpPr>
        <p:spPr>
          <a:xfrm>
            <a:off x="1832374" y="4931570"/>
            <a:ext cx="5887640" cy="1015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ts val="90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其中，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 </a:t>
            </a:r>
            <a:endParaRPr lang="en-US" altLang="zh-CN" sz="15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eaLnBrk="0" fontAlgn="base" hangingPunct="0">
              <a:spcBef>
                <a:spcPts val="90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编译采用</a:t>
            </a:r>
            <a:r>
              <a:rPr lang="en-US" altLang="zh-CN" sz="1500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imul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指令，还是</a:t>
            </a:r>
            <a:r>
              <a:rPr lang="en-US" altLang="zh-CN" sz="1500" b="1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指令实现，对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的结果是一样的。</a:t>
            </a:r>
            <a:endParaRPr lang="en-US" altLang="zh-CN" sz="15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eaLnBrk="0" fontAlgn="base" hangingPunct="0">
              <a:spcBef>
                <a:spcPts val="90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Z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的结果会存在溢出问题</a:t>
            </a:r>
          </a:p>
        </p:txBody>
      </p:sp>
      <p:grpSp>
        <p:nvGrpSpPr>
          <p:cNvPr id="28" name="组合 43">
            <a:extLst>
              <a:ext uri="{FF2B5EF4-FFF2-40B4-BE49-F238E27FC236}">
                <a16:creationId xmlns:a16="http://schemas.microsoft.com/office/drawing/2014/main" id="{37D5A1DF-A4D2-4370-9C8E-FA6CDA2DFCFC}"/>
              </a:ext>
            </a:extLst>
          </p:cNvPr>
          <p:cNvGrpSpPr>
            <a:grpSpLocks/>
          </p:cNvGrpSpPr>
          <p:nvPr/>
        </p:nvGrpSpPr>
        <p:grpSpPr bwMode="auto">
          <a:xfrm>
            <a:off x="2206230" y="2320413"/>
            <a:ext cx="4568196" cy="2357553"/>
            <a:chOff x="1417156" y="3060318"/>
            <a:chExt cx="5089788" cy="2133824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CF5ECF5-DDBB-49C3-AFEA-7925DAE14ABD}"/>
                </a:ext>
              </a:extLst>
            </p:cNvPr>
            <p:cNvSpPr/>
            <p:nvPr/>
          </p:nvSpPr>
          <p:spPr>
            <a:xfrm>
              <a:off x="2477661" y="3061905"/>
              <a:ext cx="1170047" cy="27625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位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84E7E4E-6050-41F6-A3B9-DE05F11BA7E1}"/>
                </a:ext>
              </a:extLst>
            </p:cNvPr>
            <p:cNvSpPr/>
            <p:nvPr/>
          </p:nvSpPr>
          <p:spPr>
            <a:xfrm>
              <a:off x="4076355" y="3060318"/>
              <a:ext cx="1170048" cy="27625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位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25E9FA39-3A88-4E30-AB8F-278C4E278115}"/>
                </a:ext>
              </a:extLst>
            </p:cNvPr>
            <p:cNvSpPr/>
            <p:nvPr/>
          </p:nvSpPr>
          <p:spPr>
            <a:xfrm>
              <a:off x="1604491" y="3793820"/>
              <a:ext cx="1935262" cy="628716"/>
            </a:xfrm>
            <a:prstGeom prst="ellipse">
              <a:avLst/>
            </a:prstGeom>
            <a:solidFill>
              <a:srgbClr val="BBE0E3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带符号整数乘法电路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339F18F-24E1-4CCB-9624-CC9BD34E146A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2587203" y="3338159"/>
              <a:ext cx="476275" cy="406443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D92B927-8C21-4703-8937-D0800067B662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>
              <a:off x="2739611" y="3336572"/>
              <a:ext cx="1922562" cy="408030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B6FA9BD-BF05-4070-80BE-EC3541AFCA0F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4662174" y="3336572"/>
              <a:ext cx="674722" cy="408030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70504F34-486A-4F29-8A66-E162B8FB2675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>
              <a:off x="3063478" y="3338159"/>
              <a:ext cx="2182926" cy="420732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93E0EDD-4545-48D4-B565-C6BB03CDFFEB}"/>
                </a:ext>
              </a:extLst>
            </p:cNvPr>
            <p:cNvSpPr/>
            <p:nvPr/>
          </p:nvSpPr>
          <p:spPr>
            <a:xfrm>
              <a:off x="1417156" y="4917888"/>
              <a:ext cx="1170047" cy="27625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高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位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4BE4B13-2C29-4458-BD7A-699C998E260F}"/>
                </a:ext>
              </a:extLst>
            </p:cNvPr>
            <p:cNvSpPr/>
            <p:nvPr/>
          </p:nvSpPr>
          <p:spPr>
            <a:xfrm>
              <a:off x="2591967" y="4917888"/>
              <a:ext cx="1170047" cy="27625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低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位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F0B36E30-9557-4E88-A126-37ED3A1D59DA}"/>
                </a:ext>
              </a:extLst>
            </p:cNvPr>
            <p:cNvSpPr/>
            <p:nvPr/>
          </p:nvSpPr>
          <p:spPr>
            <a:xfrm>
              <a:off x="4162085" y="4914713"/>
              <a:ext cx="1170048" cy="27625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高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位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94CB190-324E-4CD3-AEF7-65FD85A94996}"/>
                </a:ext>
              </a:extLst>
            </p:cNvPr>
            <p:cNvSpPr/>
            <p:nvPr/>
          </p:nvSpPr>
          <p:spPr>
            <a:xfrm>
              <a:off x="5336896" y="4914713"/>
              <a:ext cx="1170048" cy="27625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低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位</a:t>
              </a: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3D1C90F-F1B8-438E-803E-7475BC515013}"/>
                </a:ext>
              </a:extLst>
            </p:cNvPr>
            <p:cNvCxnSpPr>
              <a:cxnSpLocks/>
            </p:cNvCxnSpPr>
            <p:nvPr/>
          </p:nvCxnSpPr>
          <p:spPr>
            <a:xfrm>
              <a:off x="2574503" y="4457465"/>
              <a:ext cx="0" cy="415969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0A1FC381-BB3A-44A3-B612-F4B48591D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6896" y="4460640"/>
              <a:ext cx="0" cy="412793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C6A7FDC-BDE6-495A-9D0E-9862F0C09BEF}"/>
                </a:ext>
              </a:extLst>
            </p:cNvPr>
            <p:cNvSpPr/>
            <p:nvPr/>
          </p:nvSpPr>
          <p:spPr>
            <a:xfrm>
              <a:off x="4370059" y="3789056"/>
              <a:ext cx="1919386" cy="630304"/>
            </a:xfrm>
            <a:prstGeom prst="ellipse">
              <a:avLst/>
            </a:prstGeom>
            <a:solidFill>
              <a:srgbClr val="BBE0E3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无符号整数乘法电路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8892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49B37EC-ECB2-4A7B-B4F2-D2AAC983D52F}"/>
              </a:ext>
            </a:extLst>
          </p:cNvPr>
          <p:cNvSpPr/>
          <p:nvPr/>
        </p:nvSpPr>
        <p:spPr>
          <a:xfrm>
            <a:off x="2798772" y="6408711"/>
            <a:ext cx="4339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0    1     0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0     0     0    0     1     1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5F0A87-3083-4B67-99B5-3AFC8318284A}"/>
              </a:ext>
            </a:extLst>
          </p:cNvPr>
          <p:cNvSpPr/>
          <p:nvPr/>
        </p:nvSpPr>
        <p:spPr>
          <a:xfrm>
            <a:off x="1063256" y="1126717"/>
            <a:ext cx="6777807" cy="3372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250440" algn="l"/>
              </a:tabLst>
            </a:pP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语言程序中，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</a:t>
            </a:r>
            <a:r>
              <a:rPr lang="en-US" altLang="zh-CN" sz="1600" b="1" i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位整数相乘，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结果只保留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b="1" i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位乘积中的低</a:t>
            </a:r>
            <a:r>
              <a:rPr lang="en-US" altLang="zh-CN" sz="1600" b="1" i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，结果可能会发生溢出。</a:t>
            </a:r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  <a:tabLst>
                <a:tab pos="2250440" algn="l"/>
              </a:tabLst>
            </a:pP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short </a:t>
            </a:r>
            <a:r>
              <a:rPr lang="en-US" altLang="zh-CN" sz="16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x,y,z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  <a:tabLst>
                <a:tab pos="2250440" algn="l"/>
              </a:tabLst>
            </a:pP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z=x*y;     //z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可能会溢出</a:t>
            </a:r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250440" algn="l"/>
              </a:tabLst>
            </a:pP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IA-32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架构中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imul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mul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指令会生成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CF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标志位，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但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依据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该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标志位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不一定能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准确判断溢出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250440" algn="l"/>
              </a:tabLst>
            </a:pP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编译器通常不会判断结果是否溢出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250440" algn="l"/>
              </a:tabLst>
            </a:pP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为了使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语言程序能够得到可靠的乘运算结果，程序员必须在</a:t>
            </a:r>
            <a:r>
              <a: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语言源程序中增加乘运算结果是否溢出的判断语句。</a:t>
            </a:r>
          </a:p>
        </p:txBody>
      </p:sp>
    </p:spTree>
    <p:extLst>
      <p:ext uri="{BB962C8B-B14F-4D97-AF65-F5344CB8AC3E}">
        <p14:creationId xmlns:p14="http://schemas.microsoft.com/office/powerpoint/2010/main" val="1295932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F3D28B-076D-494D-ACEC-0F42D5AF73AE}"/>
              </a:ext>
            </a:extLst>
          </p:cNvPr>
          <p:cNvCxnSpPr>
            <a:cxnSpLocks/>
          </p:cNvCxnSpPr>
          <p:nvPr/>
        </p:nvCxnSpPr>
        <p:spPr>
          <a:xfrm>
            <a:off x="983064" y="965776"/>
            <a:ext cx="685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">
            <a:extLst>
              <a:ext uri="{FF2B5EF4-FFF2-40B4-BE49-F238E27FC236}">
                <a16:creationId xmlns:a16="http://schemas.microsoft.com/office/drawing/2014/main" id="{0609F493-9584-4495-966C-AE808E25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1846" y="289729"/>
            <a:ext cx="5439089" cy="608693"/>
          </a:xfrm>
          <a:prstGeom prst="rect">
            <a:avLst/>
          </a:prstGeom>
          <a:noFill/>
          <a:ln>
            <a:noFill/>
          </a:ln>
        </p:spPr>
        <p:txBody>
          <a:bodyPr wrap="square" lIns="47625" tIns="19050" rIns="47625" bIns="1905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数据的基本运算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整数乘法运算</a:t>
            </a:r>
          </a:p>
        </p:txBody>
      </p:sp>
      <p:sp>
        <p:nvSpPr>
          <p:cNvPr id="6" name="文本框 71">
            <a:extLst>
              <a:ext uri="{FF2B5EF4-FFF2-40B4-BE49-F238E27FC236}">
                <a16:creationId xmlns:a16="http://schemas.microsoft.com/office/drawing/2014/main" id="{DA324A8D-6E71-4B26-A385-5810B81D4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294" y="2386568"/>
            <a:ext cx="50958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None/>
              <a:defRPr/>
            </a:pP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1.   11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∙∙∙∙∙11  1x∙∙∙∙xx    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负数，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&gt;=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-0x8000 0000 </a:t>
            </a:r>
            <a:endParaRPr lang="en-US" altLang="zh-CN" sz="1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None/>
              <a:defRPr/>
            </a:pP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 00∙∙∙∙∙00  0x∙∙∙∙xx    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正数，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 0x7FFF FFFF </a:t>
            </a:r>
          </a:p>
          <a:p>
            <a:pPr defTabSz="685800" eaLnBrk="0" fontAlgn="base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None/>
              <a:defRPr/>
            </a:pP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 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xx∙∙∙∙∙xx  x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x∙∙∙∙∙xx    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位中同时有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BD9591-66C7-4A5D-A1D3-672FF68A46C9}"/>
              </a:ext>
            </a:extLst>
          </p:cNvPr>
          <p:cNvSpPr/>
          <p:nvPr/>
        </p:nvSpPr>
        <p:spPr>
          <a:xfrm>
            <a:off x="2026444" y="1974612"/>
            <a:ext cx="877491" cy="208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5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4EE9D6-C75C-4927-B514-0C2637917C71}"/>
              </a:ext>
            </a:extLst>
          </p:cNvPr>
          <p:cNvSpPr/>
          <p:nvPr/>
        </p:nvSpPr>
        <p:spPr>
          <a:xfrm>
            <a:off x="2907506" y="1974612"/>
            <a:ext cx="877491" cy="208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5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3">
            <a:extLst>
              <a:ext uri="{FF2B5EF4-FFF2-40B4-BE49-F238E27FC236}">
                <a16:creationId xmlns:a16="http://schemas.microsoft.com/office/drawing/2014/main" id="{E97C7259-7D52-4535-931C-5D430DA97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2657" y="1698386"/>
            <a:ext cx="57259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350" b="0">
              <a:solidFill>
                <a:srgbClr val="000000"/>
              </a:solidFill>
            </a:endParaRPr>
          </a:p>
        </p:txBody>
      </p:sp>
      <p:sp>
        <p:nvSpPr>
          <p:cNvPr id="10" name="矩形 23">
            <a:extLst>
              <a:ext uri="{FF2B5EF4-FFF2-40B4-BE49-F238E27FC236}">
                <a16:creationId xmlns:a16="http://schemas.microsoft.com/office/drawing/2014/main" id="{05886A32-9E8F-499C-870B-CFA82BB89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614" y="1698386"/>
            <a:ext cx="57259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350" b="0">
              <a:solidFill>
                <a:srgbClr val="0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BA7213-3A34-4894-8E21-772F180592A9}"/>
              </a:ext>
            </a:extLst>
          </p:cNvPr>
          <p:cNvSpPr/>
          <p:nvPr/>
        </p:nvSpPr>
        <p:spPr>
          <a:xfrm>
            <a:off x="4132660" y="1974612"/>
            <a:ext cx="298489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位带符号整数、补码表示</a:t>
            </a:r>
            <a:endParaRPr lang="zh-CN" altLang="en-US" sz="15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7DC8EA-02C5-4E48-ABC8-811861369D8E}"/>
              </a:ext>
            </a:extLst>
          </p:cNvPr>
          <p:cNvSpPr/>
          <p:nvPr/>
        </p:nvSpPr>
        <p:spPr>
          <a:xfrm>
            <a:off x="6679406" y="2453243"/>
            <a:ext cx="1248966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位补码表示范围内</a:t>
            </a:r>
            <a:endParaRPr lang="zh-CN" altLang="en-US" sz="15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5692795-0DCB-487E-A7A5-07AC1C7F5D62}"/>
              </a:ext>
            </a:extLst>
          </p:cNvPr>
          <p:cNvSpPr/>
          <p:nvPr/>
        </p:nvSpPr>
        <p:spPr>
          <a:xfrm>
            <a:off x="5956849" y="3175954"/>
            <a:ext cx="338138" cy="678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/>
              <a:ea typeface="宋体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18E280-6573-4694-B635-40F852DAB05B}"/>
              </a:ext>
            </a:extLst>
          </p:cNvPr>
          <p:cNvSpPr/>
          <p:nvPr/>
        </p:nvSpPr>
        <p:spPr>
          <a:xfrm>
            <a:off x="6423422" y="3074749"/>
            <a:ext cx="150495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超出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位补码表示范围 </a:t>
            </a:r>
            <a:endParaRPr lang="zh-CN" altLang="en-US" sz="135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A8698A-0A30-4723-A567-C65D0C3E71F9}"/>
              </a:ext>
            </a:extLst>
          </p:cNvPr>
          <p:cNvSpPr txBox="1"/>
          <p:nvPr/>
        </p:nvSpPr>
        <p:spPr>
          <a:xfrm>
            <a:off x="1583531" y="4649946"/>
            <a:ext cx="5095875" cy="66941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ts val="90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1.   00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∙∙∙∙∙00  xx∙∙∙∙xx    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&lt;= 0xFFFF FFFF </a:t>
            </a:r>
            <a:endParaRPr lang="en-US" altLang="zh-CN" sz="15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eaLnBrk="0" fontAlgn="base" hangingPunct="0">
              <a:spcBef>
                <a:spcPts val="900"/>
              </a:spcBef>
              <a:spcAft>
                <a:spcPct val="0"/>
              </a:spcAft>
              <a:defRPr/>
            </a:pPr>
            <a:r>
              <a:rPr lang="en-US" altLang="zh-CN" sz="15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 </a:t>
            </a:r>
            <a:r>
              <a:rPr lang="en-US" altLang="zh-CN" sz="15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en-US" altLang="zh-CN" sz="15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∙∙∙∙∙xx  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xx∙∙∙∙∙xx    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高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32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位中有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endParaRPr lang="zh-CN" altLang="en-US" sz="15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1A6977-82A1-4F45-A631-B3FAF1637087}"/>
              </a:ext>
            </a:extLst>
          </p:cNvPr>
          <p:cNvSpPr/>
          <p:nvPr/>
        </p:nvSpPr>
        <p:spPr>
          <a:xfrm>
            <a:off x="2021681" y="4239181"/>
            <a:ext cx="877491" cy="207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5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C7AD7C-CC0F-4215-B750-D5111B0C5BAC}"/>
              </a:ext>
            </a:extLst>
          </p:cNvPr>
          <p:cNvSpPr/>
          <p:nvPr/>
        </p:nvSpPr>
        <p:spPr>
          <a:xfrm>
            <a:off x="2902744" y="4239181"/>
            <a:ext cx="877491" cy="207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5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30">
            <a:extLst>
              <a:ext uri="{FF2B5EF4-FFF2-40B4-BE49-F238E27FC236}">
                <a16:creationId xmlns:a16="http://schemas.microsoft.com/office/drawing/2014/main" id="{88BA9748-D09D-4B30-883B-7DED5B69B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894" y="3961765"/>
            <a:ext cx="57259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350" b="0">
              <a:solidFill>
                <a:srgbClr val="000000"/>
              </a:solidFill>
            </a:endParaRPr>
          </a:p>
        </p:txBody>
      </p:sp>
      <p:sp>
        <p:nvSpPr>
          <p:cNvPr id="20" name="矩形 31">
            <a:extLst>
              <a:ext uri="{FF2B5EF4-FFF2-40B4-BE49-F238E27FC236}">
                <a16:creationId xmlns:a16="http://schemas.microsoft.com/office/drawing/2014/main" id="{696D7486-6633-4D6B-BABA-0B86C30E1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1" y="3961765"/>
            <a:ext cx="57259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350" b="0">
              <a:solidFill>
                <a:srgbClr val="0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0D0098-8854-4E5D-8A7A-9BD3741E5F79}"/>
              </a:ext>
            </a:extLst>
          </p:cNvPr>
          <p:cNvSpPr/>
          <p:nvPr/>
        </p:nvSpPr>
        <p:spPr>
          <a:xfrm>
            <a:off x="4127899" y="4237990"/>
            <a:ext cx="1915715" cy="3231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位无符号整数 </a:t>
            </a:r>
            <a:endParaRPr lang="zh-CN" altLang="en-US" sz="15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873014-19B7-43A2-B7D6-BAD44D3F8C55}"/>
              </a:ext>
            </a:extLst>
          </p:cNvPr>
          <p:cNvSpPr/>
          <p:nvPr/>
        </p:nvSpPr>
        <p:spPr>
          <a:xfrm>
            <a:off x="6119812" y="4655899"/>
            <a:ext cx="1881188" cy="3231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位二进制可表示</a:t>
            </a:r>
            <a:endParaRPr lang="zh-CN" altLang="en-US" sz="15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BCDA6E-A9ED-447F-BACE-503ECFB5D7CD}"/>
              </a:ext>
            </a:extLst>
          </p:cNvPr>
          <p:cNvSpPr/>
          <p:nvPr/>
        </p:nvSpPr>
        <p:spPr>
          <a:xfrm>
            <a:off x="6119813" y="4972347"/>
            <a:ext cx="233765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超出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位二进制表示范围 </a:t>
            </a:r>
            <a:endParaRPr lang="zh-CN" altLang="en-US" sz="135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022B6937-8EC7-4F73-94BE-45B3046443C9}"/>
              </a:ext>
            </a:extLst>
          </p:cNvPr>
          <p:cNvSpPr/>
          <p:nvPr/>
        </p:nvSpPr>
        <p:spPr>
          <a:xfrm>
            <a:off x="5782866" y="4771390"/>
            <a:ext cx="260747" cy="66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/>
              <a:ea typeface="宋体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49FAD4-F692-4313-866F-358BFE24D283}"/>
              </a:ext>
            </a:extLst>
          </p:cNvPr>
          <p:cNvSpPr/>
          <p:nvPr/>
        </p:nvSpPr>
        <p:spPr>
          <a:xfrm>
            <a:off x="1790700" y="3523615"/>
            <a:ext cx="442460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r>
              <a:rPr lang="en-US" altLang="zh-CN" sz="15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位和</a:t>
            </a:r>
            <a:r>
              <a:rPr lang="en-US" altLang="zh-CN" sz="15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的最高位是否全为</a:t>
            </a:r>
            <a:r>
              <a:rPr lang="en-US" altLang="zh-CN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或全为</a:t>
            </a:r>
            <a:r>
              <a:rPr lang="en-US" altLang="zh-CN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35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B12408-5732-43F3-B8A2-1FFD0C609255}"/>
              </a:ext>
            </a:extLst>
          </p:cNvPr>
          <p:cNvSpPr/>
          <p:nvPr/>
        </p:nvSpPr>
        <p:spPr>
          <a:xfrm>
            <a:off x="1790701" y="5441712"/>
            <a:ext cx="181011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r>
              <a:rPr lang="en-US" altLang="zh-CN" sz="15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edx</a:t>
            </a:r>
            <a:r>
              <a:rPr lang="zh-CN" altLang="en-US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是否全为</a:t>
            </a:r>
            <a:r>
              <a:rPr lang="en-US" altLang="zh-CN" sz="15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35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CCD3BAAD-8A3D-4B31-B55A-B422FB388387}"/>
              </a:ext>
            </a:extLst>
          </p:cNvPr>
          <p:cNvSpPr/>
          <p:nvPr/>
        </p:nvSpPr>
        <p:spPr>
          <a:xfrm>
            <a:off x="5782866" y="5114291"/>
            <a:ext cx="260747" cy="66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/>
              <a:ea typeface="宋体"/>
            </a:endParaRP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77ACCEC3-CC84-40E2-84E9-B4CE72674B5F}"/>
              </a:ext>
            </a:extLst>
          </p:cNvPr>
          <p:cNvSpPr/>
          <p:nvPr/>
        </p:nvSpPr>
        <p:spPr>
          <a:xfrm>
            <a:off x="6423422" y="2556387"/>
            <a:ext cx="144526" cy="291846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237084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A6FEA8-D284-4616-B3BF-6F4EA875D1C1}"/>
              </a:ext>
            </a:extLst>
          </p:cNvPr>
          <p:cNvSpPr txBox="1"/>
          <p:nvPr/>
        </p:nvSpPr>
        <p:spPr>
          <a:xfrm>
            <a:off x="1663457" y="1039670"/>
            <a:ext cx="6013849" cy="27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实验系统的安装和配置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GCC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OBJDUMP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GDB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工具的使用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数据的机器级表示</a:t>
            </a:r>
          </a:p>
          <a:p>
            <a:pPr marL="385763" marR="0" lvl="0" indent="-385763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数据的基本运算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545ADF-4DB2-437F-814B-850E1F96CA29}"/>
              </a:ext>
            </a:extLst>
          </p:cNvPr>
          <p:cNvSpPr/>
          <p:nvPr/>
        </p:nvSpPr>
        <p:spPr>
          <a:xfrm>
            <a:off x="1582173" y="4778166"/>
            <a:ext cx="5314275" cy="9280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验证型实验让书本内容在实践环境中看得见！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既帮助理解书本内容，又提升实践能力！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03101752"/>
      </p:ext>
    </p:extLst>
  </p:cSld>
  <p:clrMapOvr>
    <a:masterClrMapping/>
  </p:clrMapOvr>
</p:sld>
</file>

<file path=ppt/theme/theme1.xml><?xml version="1.0" encoding="utf-8"?>
<a:theme xmlns:a="http://schemas.openxmlformats.org/drawingml/2006/main" name="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9404</TotalTime>
  <Words>8393</Words>
  <Application>Microsoft Office PowerPoint</Application>
  <PresentationFormat>全屏显示(4:3)</PresentationFormat>
  <Paragraphs>1387</Paragraphs>
  <Slides>80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80</vt:i4>
      </vt:variant>
    </vt:vector>
  </HeadingPairs>
  <TitlesOfParts>
    <vt:vector size="96" baseType="lpstr">
      <vt:lpstr>Microsoft YaHei UI</vt:lpstr>
      <vt:lpstr>等线</vt:lpstr>
      <vt:lpstr>华文楷体</vt:lpstr>
      <vt:lpstr>宋体</vt:lpstr>
      <vt:lpstr>微软雅黑</vt:lpstr>
      <vt:lpstr>Arial</vt:lpstr>
      <vt:lpstr>Arial Black</vt:lpstr>
      <vt:lpstr>Arial Narrow</vt:lpstr>
      <vt:lpstr>Calibri</vt:lpstr>
      <vt:lpstr>Calibri Light</vt:lpstr>
      <vt:lpstr>Times New Roman</vt:lpstr>
      <vt:lpstr>Wingdings</vt:lpstr>
      <vt:lpstr>5_默认设计模板</vt:lpstr>
      <vt:lpstr>Office 主题​​</vt:lpstr>
      <vt:lpstr>Visio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可执行文件的存储器映像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peiming bao</dc:creator>
  <cp:lastModifiedBy>Elysia Utopia</cp:lastModifiedBy>
  <cp:revision>549</cp:revision>
  <dcterms:created xsi:type="dcterms:W3CDTF">2019-07-25T01:46:20Z</dcterms:created>
  <dcterms:modified xsi:type="dcterms:W3CDTF">2024-09-25T11:55:36Z</dcterms:modified>
</cp:coreProperties>
</file>